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Presentar la **Casos de Uso y Especificación de Casos de Uso** como un tema fundamental del curso de Ingeniería de Software. - Esta unidad estudia casos de uso y su importancia en el desarrollo de software de calidad. </a:t>
            </a:r>
          </a:p>
          <a:p/>
          <a:p>
            <a:r>
              <a:t>Ejemplos: **Global Exchange (conductor):** para el sistema de cambio de divisas, casos de uso son esenciales para definir qué debe hacer el sistema. **Segundo contexto industrial:** en un sistema de turnos hospitalarios, casos de uso ayudan a organizar las necesidades de los usuarios. </a:t>
            </a:r>
          </a:p>
          <a:p/>
          <a:p>
            <a:r>
              <a:t>Reflexión docente: Comprender casos de uso es el primer paso para construir software que responda a las necesidades reales. </a:t>
            </a:r>
          </a:p>
          <a:p/>
          <a:p>
            <a:r>
              <a:t>Pregunta desafío: ¿por qué son importantes los casos de uso en un proyecto de software? </a:t>
            </a:r>
          </a:p>
          <a:p/>
          <a:p>
            <a:r>
              <a:t>Respuestas posibles:</a:t>
            </a:r>
          </a:p>
          <a:p/>
          <a:p>
            <a:r>
              <a:t>• Porque definen qué debe hacer el sistema. </a:t>
            </a:r>
          </a:p>
          <a:p>
            <a:r>
              <a:t>• Porque ayudan a evitar malentendidos entre clientes y desarrolladores. </a:t>
            </a:r>
          </a:p>
          <a:p>
            <a:r>
              <a:t>• Porque son la base para la verificación y validación del producto. </a:t>
            </a:r>
          </a:p>
          <a:p/>
          <a:p>
            <a:r>
              <a:t>Advertencia: esta apertura contextualiza la unidad; aún no definimos conceptos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Los objetivos guían el estudio de casos de uso: comprender, clasificar y aplicar técnicas de obtención y especificación. </a:t>
            </a:r>
          </a:p>
          <a:p/>
          <a:p>
            <a:r>
              <a:t>Ejemplos: **Global Exchange (conductor):** los objetivos nos ayudan a definir qué debe hacer el sistema de cambio de divisas. **Segundo contexto industrial:** en logística, los objetivos permiten establecer qué funcionalidades son prioritarias. </a:t>
            </a:r>
          </a:p>
          <a:p/>
          <a:p>
            <a:r>
              <a:t>Reflexión docente: Los objetivos son evaluable; dominarlos es clave para el parcial. </a:t>
            </a:r>
          </a:p>
          <a:p/>
          <a:p>
            <a:r>
              <a:t>Pregunta desafío: ¿cómo demostrarían que pueden aplicar los casos de uso a un caso real? </a:t>
            </a:r>
          </a:p>
          <a:p/>
          <a:p>
            <a:r>
              <a:t>Respuestas posibles:</a:t>
            </a:r>
          </a:p>
          <a:p/>
          <a:p>
            <a:r>
              <a:t>• Definiendo requerimientos claros y verificables. </a:t>
            </a:r>
          </a:p>
          <a:p>
            <a:r>
              <a:t>• Clasificando funcionalidades en requerimientos funcionales y no funcionales. </a:t>
            </a:r>
          </a:p>
          <a:p>
            <a:r>
              <a:t>• Usando técnicas de obtención como entrevistas y observación. </a:t>
            </a:r>
          </a:p>
          <a:p/>
          <a:p>
            <a:r>
              <a:t>Advertencia: distingan conocer una definición de aplicarla a un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CONTENIDO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contenido para definir los casos de uso del sistema de cambio de divisas. **Segundo contexto industrial:** en un sistema de turnos, contenido ayuda a organizar las necesidades del hospital. </a:t>
            </a:r>
          </a:p>
          <a:p/>
          <a:p>
            <a:r>
              <a:t>Reflexión docente: CONTENIDO es fundamental para la calidad del software. </a:t>
            </a:r>
          </a:p>
          <a:p/>
          <a:p>
            <a:r>
              <a:t>Pregunta desafío: ¿por qué es importante contenido?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¿Qué es un Caso de Uso?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¿qué es un caso de uso? para definir los casos de uso del sistema de cambio de divisas. **Segundo contexto industrial:** en un sistema de turnos, ¿qué es un caso de uso? ayuda a organizar las necesidades del hospital. </a:t>
            </a:r>
          </a:p>
          <a:p/>
          <a:p>
            <a:r>
              <a:t>Reflexión docente: ¿Qué es un Caso de Uso? es fundamental para la calidad del software. </a:t>
            </a:r>
          </a:p>
          <a:p/>
          <a:p>
            <a:r>
              <a:t>Pregunta desafío: ¿por qué es importante ¿qué es un caso de uso??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cómo preparar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proceso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Diagrama de Casos de Uso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diagrama de casos de uso para definir los casos de uso del sistema de cambio de divisas. **Segundo contexto industrial:** en un sistema de turnos, diagrama de casos de uso ayuda a organizar las necesidades del hospital. </a:t>
            </a:r>
          </a:p>
          <a:p/>
          <a:p>
            <a:r>
              <a:t>Reflexión docente: Diagrama de Casos de Uso es fundamental para la calidad del software. </a:t>
            </a:r>
          </a:p>
          <a:p/>
          <a:p>
            <a:r>
              <a:t>Pregunta desafío: ¿por qué es importante diagrama de casos de uso?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diagrama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– relación include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– relación extend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mal uso de las relaciones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cu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cu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Caso de Estudio – Diagrama de CU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caso de estudio – diagrama de cu para definir los casos de uso del sistema de cambio de divisas. **Segundo contexto industrial:** en un sistema de turnos, caso de estudio – diagrama de cu ayuda a organizar las necesidades del hospital. </a:t>
            </a:r>
          </a:p>
          <a:p/>
          <a:p>
            <a:r>
              <a:t>Reflexión docente: Caso de Estudio – Diagrama de CU es fundamental para la calidad del software. </a:t>
            </a:r>
          </a:p>
          <a:p/>
          <a:p>
            <a:r>
              <a:t>Pregunta desafío: ¿por qué es importante caso de estudio – diagrama de cu?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Caso de Estudio – Diagrama de CU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caso de estudio – diagrama de cu para definir los casos de uso del sistema de cambio de divisas. **Segundo contexto industrial:** en un sistema de turnos, caso de estudio – diagrama de cu ayuda a organizar las necesidades del hospital. </a:t>
            </a:r>
          </a:p>
          <a:p/>
          <a:p>
            <a:r>
              <a:t>Reflexión docente: Caso de Estudio – Diagrama de CU es fundamental para la calidad del software. </a:t>
            </a:r>
          </a:p>
          <a:p/>
          <a:p>
            <a:r>
              <a:t>Pregunta desafío: ¿por qué es importante caso de estudio – diagrama de cu?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Referencias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referencias para definir los casos de uso del sistema de cambio de divisas. **Segundo contexto industrial:** en un sistema de turnos, referencias ayuda a organizar las necesidades del hospital. </a:t>
            </a:r>
          </a:p>
          <a:p/>
          <a:p>
            <a:r>
              <a:t>Reflexión docente: Referencias es fundamental para la calidad del software. </a:t>
            </a:r>
          </a:p>
          <a:p/>
          <a:p>
            <a:r>
              <a:t>Pregunta desafío: ¿por qué es importante referencias?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Muchas gracias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muchas gracias para definir los casos de uso del sistema de cambio de divisas. **Segundo contexto industrial:** en un sistema de turnos, muchas gracias ayuda a organizar las necesidades del hospital. </a:t>
            </a:r>
          </a:p>
          <a:p/>
          <a:p>
            <a:r>
              <a:t>Reflexión docente: Muchas gracias es fundamental para la calidad del software. </a:t>
            </a:r>
          </a:p>
          <a:p/>
          <a:p>
            <a:r>
              <a:t>Pregunta desafío: ¿por qué es importante muchas gracias?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01 · APERTURA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INGENIERÍA DE SOFTWARE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INGENIERÍA DE SOFTWARE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4A8A"/>
                </a:solidFill>
                <a:latin typeface="Calibri"/>
              </a:rPr>
              <a:t>UNIDAD IV – CASOS DE USO Y ESPECIFICACIÓN DE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6382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Prof. Lic. Guillermo Jacobo González Rodas Mst. PMP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02 ·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139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Comprender qué son los casos de uso y por qué son importantes.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724912"/>
            <a:ext cx="3139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Familiarizarse con los diagramas de caso de uso y relaciones.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280" y="2724912"/>
            <a:ext cx="3139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Conocer una plantilla estándar para especificación de casos de 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03 · RECORRIDO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01  Casos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02  Diagrama de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03  Actores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04  Relaciones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22191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05  Especificación de Casos de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06  Plantilla Estándar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04 · 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¿Qué es un Caso de Uso?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Un caso de uso es una técnica utilizada en el diseño de sistemas de software para describir cómo un usuario interactúa con un sistema para lograr una tarea o función específica.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71216"/>
            <a:ext cx="541782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Conjunto de escenarios que tienen una meta de usuario en común.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871216"/>
            <a:ext cx="541782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98094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310128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Descripción de un proceso de inicio a fin, relativamente largo, que incluye varias etapas o transacciones.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97096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0682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8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Presenta un uso particular del sistema.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4197096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430682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636008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Describe una funcionalidad del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94376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AYUDA a definir los límites del sistema, y las relaciones entre el sistema y su entorno.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05 · FORMAS DE DESCRIBIR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Formas de describir: Diagramas de Casos de Uso y Especificación de Casos de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34747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0779" y="2633472"/>
            <a:ext cx="5417820" cy="34747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06 · PREPARACIÓN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Cómo preparar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06 / 22</a:t>
            </a:r>
          </a:p>
        </p:txBody>
      </p:sp>
      <p:pic>
        <p:nvPicPr>
          <p:cNvPr id="9" name="Picture 8" descr="cómo-preparar-casos-de-uso-41793d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07 ·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07 / 22</a:t>
            </a:r>
          </a:p>
        </p:txBody>
      </p:sp>
      <p:pic>
        <p:nvPicPr>
          <p:cNvPr id="9" name="Picture 8" descr="proceso-de-casos-de-uso-99642e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08 · ELEMENTOS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Diagrama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Límites del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80944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El recuadro que encierra los casos de 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286000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724912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Actores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2980944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Usuarios o sistemas externos que interactúan.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67912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0682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Casos de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62856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Funcionalidades que el sistema ofrece.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79" y="3867912"/>
            <a:ext cx="5417820" cy="135331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59" y="39776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59" y="430682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Relaciones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59" y="4562856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Asociación, generalización/especialización, inclusión y extensión.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09 · NOTACIÓN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Diagrama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09 / 22</a:t>
            </a:r>
          </a:p>
        </p:txBody>
      </p:sp>
      <p:pic>
        <p:nvPicPr>
          <p:cNvPr id="9" name="Picture 8" descr="diagrama-cu-no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10 · EJEMPLO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10 / 22</a:t>
            </a:r>
          </a:p>
        </p:txBody>
      </p:sp>
      <p:pic>
        <p:nvPicPr>
          <p:cNvPr id="9" name="Picture 8" descr="casos-de-uso--crear-mensaje-en-52e4da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11 · RELACIÓN INCLUDE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– Relación 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11 / 22</a:t>
            </a:r>
          </a:p>
        </p:txBody>
      </p:sp>
      <p:pic>
        <p:nvPicPr>
          <p:cNvPr id="9" name="Picture 8" descr="casos-de-uso---relación-includ-497e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12 · RELACIÓN EXTEND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– Relación Extend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12 / 22</a:t>
            </a:r>
          </a:p>
        </p:txBody>
      </p:sp>
      <p:pic>
        <p:nvPicPr>
          <p:cNvPr id="9" name="Picture 8" descr="casos-de-uso---relación-extend-dca384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13 · MAL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Mal uso de las relaciones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13 / 22</a:t>
            </a:r>
          </a:p>
        </p:txBody>
      </p:sp>
      <p:pic>
        <p:nvPicPr>
          <p:cNvPr id="9" name="Picture 8" descr="mal-uso-de-las-relaciones-b8d678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14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14 / 22</a:t>
            </a:r>
          </a:p>
        </p:txBody>
      </p:sp>
      <p:pic>
        <p:nvPicPr>
          <p:cNvPr id="9" name="Picture 8" descr="especificación-de-casos-de-uso-0282e4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15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15 / 22</a:t>
            </a:r>
          </a:p>
        </p:txBody>
      </p:sp>
      <p:pic>
        <p:nvPicPr>
          <p:cNvPr id="9" name="Picture 8" descr="especificación-de-casos-de-uso-c9a075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16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16 / 22</a:t>
            </a:r>
          </a:p>
        </p:txBody>
      </p:sp>
      <p:pic>
        <p:nvPicPr>
          <p:cNvPr id="9" name="Picture 8" descr="especificación-de-casos-de-uso-8dd970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17 · ESPECIFICACIÓN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CU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17 / 22</a:t>
            </a:r>
          </a:p>
        </p:txBody>
      </p:sp>
      <p:pic>
        <p:nvPicPr>
          <p:cNvPr id="9" name="Picture 8" descr="especificación-de-cu--crear-me-e338dd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18 · ESPECIFICACIÓN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CU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18 / 22</a:t>
            </a:r>
          </a:p>
        </p:txBody>
      </p:sp>
      <p:pic>
        <p:nvPicPr>
          <p:cNvPr id="9" name="Picture 8" descr="especificación-de-cu--crear-me-d4d33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19 ·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Preparar diagramas de los casos de usos respectivos para la interacción de un estudiante con el sistema de correos electrónico.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20 ·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  <a:latin typeface="Calibri"/>
              </a:rPr>
              <a:t>Estudiante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Consultar correos.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633472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74320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017520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Enviar correo.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94176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039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78224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Redactar Correo.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3694176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38039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078224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Borrar correos.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54879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64607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7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Recibir correos.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0779" y="4754879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3659" y="4864607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3659" y="5138927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Reenviar Correo «&lt;&lt;Include&gt;&gt;» de Enviar correo.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15583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92531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99631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Adjuntar archivos «&lt;&lt;Extend&gt;&gt;» de Enviar correo.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21 · REFERENCIAS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Referencias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http://agilismoatwork.blogspot.com/2012/12/actividad-tablero-kanban-concepto-de.html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http://agilismoatwork.blogspot.com/2011/11/implantando-roles-agiles-parte-i-los.html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http://agilismoatwork.blogspot.com/2014/05/backlog-todo-el-trabajo-pendiente-del.html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https://proyectosagiles.org/que-es-scrum/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22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Muchas 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MUCHAS GRACIAS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4A8A"/>
                </a:solidFill>
                <a:latin typeface="Calibri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