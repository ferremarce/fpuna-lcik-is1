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Apertura de la Unidad III: se presenta la materia y se sitúa el tema de los requerimientos dentro de la Ingeniería de Software. El docente se presenta e invita a pensar en qué necesita realmente un sistema antes de construirlo. </a:t>
            </a:r>
          </a:p>
          <a:p/>
          <a:p>
            <a:r>
              <a:t>Ejemplos: Global Exchange (conductor): antes de diseñar el sistema de cambio de divisas definimos qué debe hacer: registrar operaciones, calcular tasas y emitir comprobantes. Segundo contexto industrial: un sistema de turnos necesita saber quién se atiende, en qué orden y con qué servicio. </a:t>
            </a:r>
          </a:p>
          <a:p/>
          <a:p>
            <a:r>
              <a:t>Reflexión docente: los requerimientos son la base de todo el proyecto: un error aquí se multiplica en las fases posteriores. </a:t>
            </a:r>
          </a:p>
          <a:p/>
          <a:p>
            <a:r>
              <a:t>Pregunta desafío: ¿qué pasa si construimos un sistema sin definir bien sus requerimientos? </a:t>
            </a:r>
          </a:p>
          <a:p/>
          <a:p>
            <a:r>
              <a:t>Respuestas posibles: 1. Se construye algo que el cliente no pidió. 2. Se descubren errores tarde y el retrabajo es costoso. 3. Se superan plazos y presupuesto. </a:t>
            </a:r>
          </a:p>
          <a:p/>
          <a:p>
            <a:r>
              <a:t>Advertencia: no confundir requerimientos con diseño; los requerimientos describen el QUÉ, no el CÓMO.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objetivos de la unidad: comprender qué son los requerimientos, distinguir sus tipos y aprender técnicas y herramientas para obtenerlos, analizarlos y gestionarlos. </a:t>
            </a:r>
          </a:p>
          <a:p/>
          <a:p>
            <a:r>
              <a:t>Ejemplos: Global Exchange (conductor): al finalizar la unidad sabremos definir los requerimientos funcionales (registrar cambio de divisas) y no funcionales (tiempo de respuesta, seguridad). Segundo contexto industrial: en un hospital, distinguir entre lo que el sistema debe hacer y las restricciones de privacidad. </a:t>
            </a:r>
          </a:p>
          <a:p/>
          <a:p>
            <a:r>
              <a:t>Reflexión docente: estos objetivos estructuran el recorrido de la unidad y dan criterio para evaluar el avance. </a:t>
            </a:r>
          </a:p>
          <a:p/>
          <a:p>
            <a:r>
              <a:t>Pregunta desafío: ¿cuál de los tres objetivos les parece más difícil de lograr y por qué? </a:t>
            </a:r>
          </a:p>
          <a:p/>
          <a:p>
            <a:r>
              <a:t>Respuestas posibles: 1. La obtención, porque los usuarios no siempre saben qué quieren. 2. El análisis, por la cantidad de fuentes y prioridades. 3. La gestión, porque los cambios son constantes. </a:t>
            </a:r>
          </a:p>
          <a:p/>
          <a:p>
            <a:r>
              <a:t>Advertencia: los objetivos son de aprendizaje; no describen aún contenido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 el mapa de la unidad: los cinco bloques que se recorrerán, desde la definición de requerimiento hasta la gestión de cambios. El paso 04 (Proceso de Requerimientos) agrupa las cinco actividades que lo componen: obtención, análisis, especificación, verificación y validación. </a:t>
            </a:r>
          </a:p>
          <a:p/>
          <a:p>
            <a:r>
              <a:t>Ejemplos: Global Exchange (conductor): el recorrido nos lleva desde "qué es un requerimiento" hasta "cómo gestionar que el cliente pida más monedas o nuevas tasas". Segundo contexto industrial: en un sistema de inventario, el mismo camino: definir, obtener, analizar, especificar, verificar, validar y gestionar. </a:t>
            </a:r>
          </a:p>
          <a:p/>
          <a:p>
            <a:r>
              <a:t>Reflexión docente: el proceso no es lineal estricto; las actividades se solapan y retroalimentan. </a:t>
            </a:r>
          </a:p>
          <a:p/>
          <a:p>
            <a:r>
              <a:t>Pregunta desafío: ¿por qué la verificación y la validación son pasos distintos? </a:t>
            </a:r>
          </a:p>
          <a:p/>
          <a:p>
            <a:r>
              <a:t>Respuestas posibles: 1. Verificar es comprobar que se especificó bien; validar es confirmar que es lo que el cliente necesita. 2. Se verifican contra el documento; se valida contra el usuario. 3. Ambas se complementan en el proceso. </a:t>
            </a:r>
          </a:p>
          <a:p/>
          <a:p>
            <a:r>
              <a:t>Advertencia: la gestión atraviesa todo el proceso; no es una etapa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 qué es un requerimiento desde dos perspectivas: la de Sweebok (propiedad que debe exhibir el software) y la del usuario (condición o capacidad para resolver un problema). Se mencionan los documentos ERS y SRS. </a:t>
            </a:r>
          </a:p>
          <a:p/>
          <a:p>
            <a:r>
              <a:t>Ejemplos: Global Exchange (conductor): un requerimiento es "el sistema debe calcular la tasa de cambio aplicando el margen definido". Segundo contexto industrial: en un sistema de turnos, "el sistema debe asignar el siguiente número según la prioridad del paciente". </a:t>
            </a:r>
          </a:p>
          <a:p/>
          <a:p>
            <a:r>
              <a:t>Reflexión docente: la doble definición muestra que un requerimiento se puede ver desde el sistema y desde el negocio; ambos deben coincidir. </a:t>
            </a:r>
          </a:p>
          <a:p/>
          <a:p>
            <a:r>
              <a:t>Pregunta desafío: ¿un requerimiento describe lo que el sistema hace o lo que el usuario necesita? </a:t>
            </a:r>
          </a:p>
          <a:p/>
          <a:p>
            <a:r>
              <a:t>Respuestas posibles: 1. Ambas cosas, según la perspectiva. 2. Lo que el sistema hace para satisfacer la necesidad. 3. Lo que el usuario necesita, traducido a capacidad del sistema. </a:t>
            </a:r>
          </a:p>
          <a:p/>
          <a:p>
            <a:r>
              <a:t>Advertencia: Sweebok es la guía del cuerpo de conocimiento de la ingeniería de software; es una referencia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características de los requerimientos: surgen de combinar necesidades de distintas personas, deben ser verificables, claros, no ambiguos y cuantificables, y llevan atributos como prioridad e identificador único. </a:t>
            </a:r>
          </a:p>
          <a:p/>
          <a:p>
            <a:r>
              <a:t>Ejemplos: Global Exchange (conductor): "la operación se registra en menos de 2 segundos" es verificable y cuantificable. Segundo contexto industrial: en un ERP, "el sistema debe ser rápido" no es verificable; "responder en menos de 3 segundos" sí. </a:t>
            </a:r>
          </a:p>
          <a:p/>
          <a:p>
            <a:r>
              <a:t>Reflexión docente: la verificabilidad es clave: un requerimiento que no se puede comprobar no se puede aceptar ni probar. </a:t>
            </a:r>
          </a:p>
          <a:p/>
          <a:p>
            <a:r>
              <a:t>Pregunta desafío: ¿cómo harían verificable el requerimiento "el sistema debe ser fácil de usar"? </a:t>
            </a:r>
          </a:p>
          <a:p/>
          <a:p>
            <a:r>
              <a:t>Respuestas posibles: 1. Definiendo métricas (tiempo de aprendizaje, tasa de error). 2. Con pruebas de usabilidad con usuarios. 3. Con criterios de aceptación concretos. </a:t>
            </a:r>
          </a:p>
          <a:p/>
          <a:p>
            <a:r>
              <a:t>Advertencia: la prioridad y el identificador único ayudan a gestionar cambios y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introduce la clasificación principal de los requerimientos: funcionales y no funcionales. </a:t>
            </a:r>
          </a:p>
          <a:p/>
          <a:p>
            <a:r>
              <a:t>Ejemplos: Global Exchange (conductor): funcional "registrar una venta de divisas"; no funcional "el sistema debe operar sin interrupciones en horario de atención". Segundo contexto industrial: en un hospital, funcional "asignar cama" y no funcional "cumplir la ley de protección de datos". </a:t>
            </a:r>
          </a:p>
          <a:p/>
          <a:p>
            <a:r>
              <a:t>Reflexión docente: ambos tipos son necesarios; centrarse solo en los funcionales deja el sistema inusable. </a:t>
            </a:r>
          </a:p>
          <a:p/>
          <a:p>
            <a:r>
              <a:t>Pregunta desafío: ¿cuál de los dos tipos se suele olvidar en proyectos reales? </a:t>
            </a:r>
          </a:p>
          <a:p/>
          <a:p>
            <a:r>
              <a:t>Respuestas posibles: 1. Los no funcionales, por ser menos visibles. 2. Los funcionales, cuando el cliente describe restricciones. 3. Depende de cada proyecto. </a:t>
            </a:r>
          </a:p>
          <a:p/>
          <a:p>
            <a:r>
              <a:t>Advertencia: esta clasificación se profundizará en los slides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definen los requerimientos funcionales: capacidades del sistema, cómo reacciona ante entradas y cómo se comporta en situaciones particulares; también declaran lo que el sistema NO debe hacer. </a:t>
            </a:r>
          </a:p>
          <a:p/>
          <a:p>
            <a:r>
              <a:t>Ejemplos: Global Exchange (conductor): "el sistema permite al operador registrar una transacción con monto, moneda origen y destino". Segundo contexto industrial: en un sistema de préstamos, "el sistema no permite aprobar un préstamo sin verificación de identidad". </a:t>
            </a:r>
          </a:p>
          <a:p/>
          <a:p>
            <a:r>
              <a:t>Reflexión docente: los requerimientos funcionales describen servicios, no la implementación interna. </a:t>
            </a:r>
          </a:p>
          <a:p/>
          <a:p>
            <a:r>
              <a:t>Pregunta desafío: ¿"el sistema usa una base de datos MySQL" es un requerimiento funcional? </a:t>
            </a:r>
          </a:p>
          <a:p/>
          <a:p>
            <a:r>
              <a:t>Respuestas posibles: 1. No, es una decisión de diseño. 2. Podría ser una restricción técnica (no funcional). 3. Solo es funcional si describe un comportamiento observable. </a:t>
            </a:r>
          </a:p>
          <a:p/>
          <a:p>
            <a:r>
              <a:t>Advertencia: no mezclar requerimientos con soluciones tecnológicas.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muestran cuatro ejemplos de requerimientos funcionales (RF1-RF4) para un sistema típico de comercio: control de acceso, país de preselección, departamentos por país y envío de correos por transacción. </a:t>
            </a:r>
          </a:p>
          <a:p/>
          <a:p>
            <a:r>
              <a:t>Ejemplos: Global Exchange (conductor): RF "el sistema valida el usuario y contraseña del operador"; RF "el sistema registra el tipo de cambio aplicado en cada venta". Segundo contexto industrial: en un sistema de facturación, los mismos patrones de RF1-RF4. </a:t>
            </a:r>
          </a:p>
          <a:p/>
          <a:p>
            <a:r>
              <a:t>Reflexión docente: los ejemplos muestran la redacción típica: "el sistema + verbo + condición". </a:t>
            </a:r>
          </a:p>
          <a:p/>
          <a:p>
            <a:r>
              <a:t>Pregunta desafío: ¿qué características comparten todos estos requerimientos? </a:t>
            </a:r>
          </a:p>
          <a:p/>
          <a:p>
            <a:r>
              <a:t>Respuestas posibles: 1. Están redactados en tercera persona. 2. Son verificables y específicos. 3. Describen una acción observable del sistema. </a:t>
            </a:r>
          </a:p>
          <a:p/>
          <a:p>
            <a:r>
              <a:t>Advertencia: no copiar estos ejemplos tal cual; adaptarlos al dominio de cada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definen los requerimientos no funcionales: restricciones y requisitos de calidad (fiabilidad, tiempo de respuesta, capacidad de almacenamiento, restricciones de hardware y representación de datos). </a:t>
            </a:r>
          </a:p>
          <a:p/>
          <a:p>
            <a:r>
              <a:t>Ejemplos: Global Exchange (conductor): "el sistema debe responder una cotización en menos de 2 segundos" o "debe operar en horario continuo sin caídas". Segundo contexto industrial: en un sistema de salud, "los datos de pacientes deben estar cifrados". </a:t>
            </a:r>
          </a:p>
          <a:p/>
          <a:p>
            <a:r>
              <a:t>Reflexión docente: los no funcionales afectan propiedades emergentes del sistema, no funciones puntuales. </a:t>
            </a:r>
          </a:p>
          <a:p/>
          <a:p>
            <a:r>
              <a:t>Pregunta desafío: ¿qué diferencia hay entre una restricción y un requisito de calidad? </a:t>
            </a:r>
          </a:p>
          <a:p/>
          <a:p>
            <a:r>
              <a:t>Respuestas posibles: 1. La restricción limita (hardware, estándares); la calidad define propiedades (rendimiento, fiabilidad). 2. Ambas son no funcionales. 3. Se complementan. </a:t>
            </a:r>
          </a:p>
          <a:p/>
          <a:p>
            <a:r>
              <a:t>Advertencia: los no funcionales son difíciles de cuantificar; conviene hacerlo cuanto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visual: se muestra el diagrama de la clasificación de los requerimientos no funcionales (producto, organizacionales y externos). </a:t>
            </a:r>
          </a:p>
          <a:p/>
          <a:p>
            <a:r>
              <a:t>Ejemplos: Global Exchange (conductor): ubicamos cada ejemplo en el diagrama: tiempos de respuesta (producto), cumplimiento normativo (externo). Segundo contexto industrial: en un banco, privacidad (externo) y disponibilidad (producto). </a:t>
            </a:r>
          </a:p>
          <a:p/>
          <a:p>
            <a:r>
              <a:t>Reflexión docente: la imagen resume la clasificación y sirve de referencia durante toda la unidad. </a:t>
            </a:r>
          </a:p>
          <a:p/>
          <a:p>
            <a:r>
              <a:t>Pregunta desafío: ¿en qué categoría ubicarían "el sistema debe usar estándares de la organización"? </a:t>
            </a:r>
          </a:p>
          <a:p/>
          <a:p>
            <a:r>
              <a:t>Respuestas posibles: 1. Organizacionales. 2. De producto. 3. Externos. </a:t>
            </a:r>
          </a:p>
          <a:p/>
          <a:p>
            <a:r>
              <a:t>Advertencia: la clasificación es orientativa; algunos requisitos pueden pertenecer a más de una categoría.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muestran ejemplos de requerimientos no funcionales organizados en tres grupos: del producto, organizacionales y externos (RNF1-RNF3). </a:t>
            </a:r>
          </a:p>
          <a:p/>
          <a:p>
            <a:r>
              <a:t>Ejemplos: Global Exchange (conductor): RNF "la interfaz del operador será HTML sin applets"; RNF "los entregables cumplirán la norma interna"; RNF "no se registrará información personal innecesaria". Segundo contexto industrial: en un sistema de salud, RNF externo "cumplir la ley de protección de datos (LOPD)". </a:t>
            </a:r>
          </a:p>
          <a:p/>
          <a:p>
            <a:r>
              <a:t>Reflexión docente: los ejemplos muestran cómo la normativa y la organización condicionan el sistema. </a:t>
            </a:r>
          </a:p>
          <a:p/>
          <a:p>
            <a:r>
              <a:t>Pregunta desafío: ¿por qué un requerimiento externo puede ser obligatorio por ley? </a:t>
            </a:r>
          </a:p>
          <a:p/>
          <a:p>
            <a:r>
              <a:t>Respuestas posibles: 1. Porque violarlo implica sanciones. 2. Porque afecta a terceros (clientes, pacientes). 3. Porque limita qué datos se pueden almacenar. </a:t>
            </a:r>
          </a:p>
          <a:p/>
          <a:p>
            <a:r>
              <a:t>Advertencia: la LOPD y METRICA v3 son ejemplos concretos; cada proyecto tendrá su normativa.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visual: se muestra un ejemplo ilustrado de requerimientos, sirviendo de apoyo para fijar el concepto. </a:t>
            </a:r>
          </a:p>
          <a:p/>
          <a:p>
            <a:r>
              <a:t>Ejemplos: Global Exchange (conductor): la imagen ilustra cómo se describe un requerimiento con su contexto. Segundo contexto industrial: aplicable a cualquier dominio de negocio. </a:t>
            </a:r>
          </a:p>
          <a:p/>
          <a:p>
            <a:r>
              <a:t>Reflexión docente: los recursos visuales ayudan a conectar la teoría con casos concretos. </a:t>
            </a:r>
          </a:p>
          <a:p/>
          <a:p>
            <a:r>
              <a:t>Pregunta desafío: ¿qué información necesitaría un desarrollador para implementar el ejemplo de la imagen? </a:t>
            </a:r>
          </a:p>
          <a:p/>
          <a:p>
            <a:r>
              <a:t>Respuestas posibles: 1. El requerimiento funcional preciso. 2. Las restricciones no funcionales. 3. Los criterios de aceptación. </a:t>
            </a:r>
          </a:p>
          <a:p/>
          <a:p>
            <a:r>
              <a:t>Advertencia: la imagen es ilustrativa; el contenido técnico se desarrolla en slides posteriores.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 la Ingeniería de Requisitos como el conjunto de actividades para descubrir, documentar y mantener los requisitos, y para establecer los servicios y restricciones que el cliente requiere. </a:t>
            </a:r>
          </a:p>
          <a:p/>
          <a:p>
            <a:r>
              <a:t>Ejemplos: Global Exchange (conductor): la ingeniería de requisitos nos permite pasar de "queremos cambiar divisas" a un documento claro de servicios y restricciones. Segundo contexto industrial: en un ERP, definir qué módulos y bajo qué restricciones. </a:t>
            </a:r>
          </a:p>
          <a:p/>
          <a:p>
            <a:r>
              <a:t>Reflexión docente: la ingeniería de requisitos es la primera disciplina del proceso; de ella depende el resto. </a:t>
            </a:r>
          </a:p>
          <a:p/>
          <a:p>
            <a:r>
              <a:t>Pregunta desafío: ¿por qué se dice que los requisitos son la etapa más cara de corregir? </a:t>
            </a:r>
          </a:p>
          <a:p/>
          <a:p>
            <a:r>
              <a:t>Respuestas posibles: 1. Porque un error se propaga al diseño y código. 2. Porque corregirlo al final requiere rehacer varias etapas. 3. Porque involucra a muchas personas. </a:t>
            </a:r>
          </a:p>
          <a:p/>
          <a:p>
            <a:r>
              <a:t>Advertencia: mantener requisitos no es solo documentar: incluye actualizarlos y gestionar su evolución.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 el proceso de la ingeniería de requerimientos como un conjunto estructurado de actividades de cuya ejecución se obtiene, valida y mantiene el documento de requisitos (ERS). </a:t>
            </a:r>
          </a:p>
          <a:p/>
          <a:p>
            <a:r>
              <a:t>Ejemplos: Global Exchange (conductor): el proceso comienza con obtener qué necesita el cliente y termina con un ERS validado. Segundo contexto industrial: en un sistema de logística, el mismo flujo. </a:t>
            </a:r>
          </a:p>
          <a:p/>
          <a:p>
            <a:r>
              <a:t>Reflexión docente: el ERS es el artefacto central; todas las actividades convergen en él. </a:t>
            </a:r>
          </a:p>
          <a:p/>
          <a:p>
            <a:r>
              <a:t>Pregunta desafío: ¿qué significa que el ERS se "valida y mantiene"? </a:t>
            </a:r>
          </a:p>
          <a:p/>
          <a:p>
            <a:r>
              <a:t>Respuestas posibles: 1. Se confirma con el cliente y se actualiza ante cambios. 2. Es un documento vivo. 3. Deja de ser válido cuando cambian los requisitos. </a:t>
            </a:r>
          </a:p>
          <a:p/>
          <a:p>
            <a:r>
              <a:t>Advertencia: el proceso es iterativo, no una secuencia rígida.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participantes en el proceso de ingeniería de requerimientos: cliente y usuarios, diseñadores, supervisores del contrato, gerentes del negocio y verificadores, con el rol de cada uno. </a:t>
            </a:r>
          </a:p>
          <a:p/>
          <a:p>
            <a:r>
              <a:t>Ejemplos: Global Exchange (conductor): el cliente define las reglas de cambio; el diseñador las convierte en arquitectura; el supervisor fija hitos; el verificador comprueba el cumplimiento. Segundo contexto industrial: en un hospital, pacientes (usuarios), médicos (gerentes), auditores (verificadores). </a:t>
            </a:r>
          </a:p>
          <a:p/>
          <a:p>
            <a:r>
              <a:t>Reflexión docente: cada participante ve los requisitos desde su rol; la ingeniería de requisitos debe conciliar todas las visiones. </a:t>
            </a:r>
          </a:p>
          <a:p/>
          <a:p>
            <a:r>
              <a:t>Pregunta desafío: ¿qué pasa si un participante no participa del proceso? </a:t>
            </a:r>
          </a:p>
          <a:p/>
          <a:p>
            <a:r>
              <a:t>Respuestas posibles: 1. Se pierden requisitos importantes. 2. Se diseñan soluciones incorrectas. 3. La verificación falla. </a:t>
            </a:r>
          </a:p>
          <a:p/>
          <a:p>
            <a:r>
              <a:t>Advertencia: los verificadores necesitan entender los requisitos para poder comprobar si el sistema los satisface.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visual: se muestra el diagrama del proceso de la ingeniería de requerimientos con sus actividades. </a:t>
            </a:r>
          </a:p>
          <a:p/>
          <a:p>
            <a:r>
              <a:t>Ejemplos: Global Exchange (conductor): localizamos en el diagrama dónde estamos: obtención, análisis, especificación, verificación y validación. Segundo contexto industrial: igual para cualquier dominio. </a:t>
            </a:r>
          </a:p>
          <a:p/>
          <a:p>
            <a:r>
              <a:t>Reflexión docente: la imagen es el mapa del proceso; conviene volver a ella en cada fase. </a:t>
            </a:r>
          </a:p>
          <a:p/>
          <a:p>
            <a:r>
              <a:t>Pregunta desafío: ¿qué actividad del diagrama les parece que se repite más veces? </a:t>
            </a:r>
          </a:p>
          <a:p/>
          <a:p>
            <a:r>
              <a:t>Respuestas posibles: 1. La obtención, porque aparecen nuevos requisitos. 2. La validación, por las revisiones con el cliente. 3. La gestión, por los cambios. </a:t>
            </a:r>
          </a:p>
          <a:p/>
          <a:p>
            <a:r>
              <a:t>Advertencia: el diagrama es una simplificación; en la práctica las actividades se solapan.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 de apoyo: se repite el diagrama del proceso para fijar la secuencia de actividades. </a:t>
            </a:r>
          </a:p>
          <a:p/>
          <a:p>
            <a:r>
              <a:t>Ejemplos: Global Exchange (conductor): se repasa el flujo de actividades con el ejemplo de las divisas. Segundo contexto industrial: aplicación a cualquier proyecto. </a:t>
            </a:r>
          </a:p>
          <a:p/>
          <a:p>
            <a:r>
              <a:t>Reflexión docente: la repetición del diagrama refuerza la memorización del proceso. </a:t>
            </a:r>
          </a:p>
          <a:p/>
          <a:p>
            <a:r>
              <a:t>Pregunta desafío: ¿qué diferencia hay entre este diagrama y el del slide anterior? </a:t>
            </a:r>
          </a:p>
          <a:p/>
          <a:p>
            <a:r>
              <a:t>Respuestas posibles: 1. Ninguna, es el mismo proceso. 2. Cambia el énfasis visual. 3. Se enfoca en otra actividad. </a:t>
            </a:r>
          </a:p>
          <a:p/>
          <a:p>
            <a:r>
              <a:t>Advertencia: son diapositivas de apoyo visual del mismo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fuentes de donde se obtienen los requerimientos: clientes y usuarios, modelos del dominio, la situación actual, la organización y sistemas existentes, la versión anterior y documentos o sistemas análogos. </a:t>
            </a:r>
          </a:p>
          <a:p/>
          <a:p>
            <a:r>
              <a:t>Ejemplos: Global Exchange (conductor): se consulta al cliente (reglas de cambio), al sistema actual (planillas manuales) y a sistemas análogos (casas de cambio existentes). Segundo contexto industrial: en un hospital, revisar el sistema de turnos actual y los registros en papel. </a:t>
            </a:r>
          </a:p>
          <a:p/>
          <a:p>
            <a:r>
              <a:t>Reflexión docente: cuantas más fuentes se consulten, menos requisitos se pierden. </a:t>
            </a:r>
          </a:p>
          <a:p/>
          <a:p>
            <a:r>
              <a:t>Pregunta desafío: ¿qué fuente suele aportar los requisitos más completos? </a:t>
            </a:r>
          </a:p>
          <a:p/>
          <a:p>
            <a:r>
              <a:t>Respuestas posibles: 1. Los usuarios reales. 2. Los sistemas análogos. 3. La documentación existente. </a:t>
            </a:r>
          </a:p>
          <a:p/>
          <a:p>
            <a:r>
              <a:t>Advertencia: no confiar en una única fuente; los usuarios no siempre conocen todos los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técnicas de obtención de requerimientos: reuniones/entrevistas, cuestionarios, observación y brainstorming. </a:t>
            </a:r>
          </a:p>
          <a:p/>
          <a:p>
            <a:r>
              <a:t>Ejemplos: Global Exchange (conductor): entrevistas con el cliente para conocer las reglas de cambio; observación de cómo los operadores registran operaciones hoy; brainstorming para ideas de nuevas funciones. Segundo contexto industrial: en un sistema de logística, encuestas a repartidores y observación de rutas. </a:t>
            </a:r>
          </a:p>
          <a:p/>
          <a:p>
            <a:r>
              <a:t>Reflexión docente: cada técnica tiene ventajas; suelen combinarse. </a:t>
            </a:r>
          </a:p>
          <a:p/>
          <a:p>
            <a:r>
              <a:t>Pregunta desafío: ¿qué técnica conviene cuando los usuarios están dispersos geográficamente? </a:t>
            </a:r>
          </a:p>
          <a:p/>
          <a:p>
            <a:r>
              <a:t>Respuestas posibles: 1. Cuestionarios. 2. Entrevistas virtuales. 3. Observación remota. </a:t>
            </a:r>
          </a:p>
          <a:p/>
          <a:p>
            <a:r>
              <a:t>Advertencia: la observación directa revela lo que los usuarios hacen, no solo lo que dicen que hacen.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problemas comunes en la obtención de requerimientos: usuarios que no saben qué quieren o no conocen el costo, requisitos implícitos, distintas fuentes con requisitos distintos, factores políticos, prioridades que cambian y nuevos requisitos que aparecen. </a:t>
            </a:r>
          </a:p>
          <a:p/>
          <a:p>
            <a:r>
              <a:t>Ejemplos: Global Exchange (conductor): el cliente pide "cambiar divisas" sin saber cuántas monedas ni qué márgenes; luego pide más monedas. Segundo contexto industrial: en un sistema de turnos, distintas áreas piden prioridades distintas. </a:t>
            </a:r>
          </a:p>
          <a:p/>
          <a:p>
            <a:r>
              <a:t>Reflexión docente: estos problemas son la razón de ser de la ingeniería de requisitos: ordenar el caos. </a:t>
            </a:r>
          </a:p>
          <a:p/>
          <a:p>
            <a:r>
              <a:t>Pregunta desafío: ¿cómo se mitiga que el usuario no conozca el costo de sus peticiones? </a:t>
            </a:r>
          </a:p>
          <a:p/>
          <a:p>
            <a:r>
              <a:t>Respuestas posibles: 1. Estimando el impacto de cada requisito. 2. Mostrando prototipos. 3. Negociando prioridades. </a:t>
            </a:r>
          </a:p>
          <a:p/>
          <a:p>
            <a:r>
              <a:t>Advertencia: los factores políticos existen y deben gestionarse, no ignorarse.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 de apoyo: se repite el diagrama del proceso para situar la actividad de análisis. </a:t>
            </a:r>
          </a:p>
          <a:p/>
          <a:p>
            <a:r>
              <a:t>Ejemplos: Global Exchange (conductor): se ubica la obtención y el análisis dentro del flujo general. Segundo contexto industrial: igual para cualquier proyecto. </a:t>
            </a:r>
          </a:p>
          <a:p/>
          <a:p>
            <a:r>
              <a:t>Reflexión docente: el diagrama sirve de guía de navegación de la unidad. </a:t>
            </a:r>
          </a:p>
          <a:p/>
          <a:p>
            <a:r>
              <a:t>Pregunta desafío: ¿en qué etapa del diagrama nos encontramos ahora? </a:t>
            </a:r>
          </a:p>
          <a:p/>
          <a:p>
            <a:r>
              <a:t>Respuestas posibles: 1. Obtención. 2. Análisis. 3. Especificación. </a:t>
            </a:r>
          </a:p>
          <a:p/>
          <a:p>
            <a:r>
              <a:t>Advertencia: el avance por las etapas no es estrictamente secuencial.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actividades del análisis de requerimientos: analizar stakeholders, crear vistas, detallar, negociar prioridades, buscar requerimientos que faltan, evaluar factibilidad con prototipos y evaluar riesgos. </a:t>
            </a:r>
          </a:p>
          <a:p/>
          <a:p>
            <a:r>
              <a:t>Ejemplos: Global Exchange (conductor): se negocia qué monedas se soportan en la primera versión; se crean vistas del sistema por rol. Segundo contexto industrial: en un ERP, priorizar módulos y evaluar riesgos de integración. </a:t>
            </a:r>
          </a:p>
          <a:p/>
          <a:p>
            <a:r>
              <a:t>Reflexión docente: el análisis transforma necesidades dispersas en requisitos organizados y priorizados. </a:t>
            </a:r>
          </a:p>
          <a:p/>
          <a:p>
            <a:r>
              <a:t>Pregunta desafío: ¿por qué son útiles los prototipos en el análisis? </a:t>
            </a:r>
          </a:p>
          <a:p/>
          <a:p>
            <a:r>
              <a:t>Respuestas posibles: 1. Porque aclaran lo que el usuario quiere. 2. Porque validan la factibilidad. 3. Porque reducen malentendidos. </a:t>
            </a:r>
          </a:p>
          <a:p/>
          <a:p>
            <a:r>
              <a:t>Advertencia: el análisis no es diseño; busca entender y organizar, no construir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modelos o vistas del sistema usados en el análisis: glosario, modelos gráficos, modelo conceptual, diagramas de estado, DFD, prototipos de interfaz, casos de prueba, tablas de decisión y casos de uso. </a:t>
            </a:r>
          </a:p>
          <a:p/>
          <a:p>
            <a:r>
              <a:t>Ejemplos: Global Exchange (conductor): un caso de uso "registrar venta de divisas", un DFD del flujo de operaciones, un prototipo de la pantalla de cotización. Segundo contexto industrial: en un hospital, un diagrama de estado del turno (en espera, en atención, finalizado). </a:t>
            </a:r>
          </a:p>
          <a:p/>
          <a:p>
            <a:r>
              <a:t>Reflexión docente: cada vista muestra una faceta del sistema; ninguna es suficiente por sí sola. </a:t>
            </a:r>
          </a:p>
          <a:p/>
          <a:p>
            <a:r>
              <a:t>Pregunta desafío: ¿qué vista usarían para entender los estados de una entidad? </a:t>
            </a:r>
          </a:p>
          <a:p/>
          <a:p>
            <a:r>
              <a:t>Respuestas posibles: 1. Diagrama de estados. 2. DFD. 3. Tabla de decisión. </a:t>
            </a:r>
          </a:p>
          <a:p/>
          <a:p>
            <a:r>
              <a:t>Advertencia: estos modelos se estudian en profundidad en unidades posteriores.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 de apoyo: diagrama del proceso, situando la especificación. </a:t>
            </a:r>
          </a:p>
          <a:p/>
          <a:p>
            <a:r>
              <a:t>Ejemplos: Global Exchange (conductor): se ubica el análisis y la especificación en el flujo. Segundo contexto industrial: igual. </a:t>
            </a:r>
          </a:p>
          <a:p/>
          <a:p>
            <a:r>
              <a:t>Reflexión docente: el diagrama mantiene el contexto del recorrido. </a:t>
            </a:r>
          </a:p>
          <a:p/>
          <a:p>
            <a:r>
              <a:t>Pregunta desafío: ¿qué actividad sigue al análisis en el proceso? </a:t>
            </a:r>
          </a:p>
          <a:p/>
          <a:p>
            <a:r>
              <a:t>Respuestas posibles: 1. Especificación. 2. Verificación. 3. Obtención. </a:t>
            </a:r>
          </a:p>
          <a:p/>
          <a:p>
            <a:r>
              <a:t>Advertencia: es un apoyo visual; no introduce contenido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pautas para documentar los requisitos: qué documentar (lo que hace el sistema actual, lo que pide el cliente, lo que hará, criterios de aceptación y verificación) y recomendaciones de redacción (agrupar por temas, requerimientos positivos, voz activa, indicar alcance y múltiples vistas). </a:t>
            </a:r>
          </a:p>
          <a:p/>
          <a:p>
            <a:r>
              <a:t>Ejemplos: Global Exchange (conductor): documentar que hoy se registra en planillas, que el cliente pide un sistema web, y que el nuevo sistema registrará operaciones en línea con criterios de aceptación definidos. Segundo contexto industrial: en un sistema de inventario, igual. </a:t>
            </a:r>
          </a:p>
          <a:p/>
          <a:p>
            <a:r>
              <a:t>Reflexión docente: la documentación es la base del ERS; redactar bien ahorra malentendidos. </a:t>
            </a:r>
          </a:p>
          <a:p/>
          <a:p>
            <a:r>
              <a:t>Pregunta desafío: ¿por qué se recomienda formular requerimientos en positivo y en voz activa? </a:t>
            </a:r>
          </a:p>
          <a:p/>
          <a:p>
            <a:r>
              <a:t>Respuestas posibles: 1. Para reducir ambigüedad. 2. Para facilitar la verificación. 3. Para que el lector sepa exactamente qué hacer. </a:t>
            </a:r>
          </a:p>
          <a:p/>
          <a:p>
            <a:r>
              <a:t>Advertencia: indicar si se documenta solo el alcance o todo lo pedido evita falsas expectativas.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contenidos del documento de especificación de requisitos (SRS): registrar en términos del cliente, propósito general, contexto, visión global, características del sistema, alcance, interfaces y ambiente de operación. </a:t>
            </a:r>
          </a:p>
          <a:p/>
          <a:p>
            <a:r>
              <a:t>Ejemplos: Global Exchange (conductor): el SRS describe el propósito (sistema de cambio de divisas en línea), contexto (operaciones del local), características (registrar, cotizar, liquidar) e interfaces (con el sistema contable). Segundo contexto industrial: en un hospital, el SRS del sistema de turnos describe hardware, comunicaciones y personal. </a:t>
            </a:r>
          </a:p>
          <a:p/>
          <a:p>
            <a:r>
              <a:t>Reflexión docente: el SRS es el contrato técnico entre cliente y desarrolladores. </a:t>
            </a:r>
          </a:p>
          <a:p/>
          <a:p>
            <a:r>
              <a:t>Pregunta desafío: ¿qué diferencia hay entre el propósito y la visión global del sistema? </a:t>
            </a:r>
          </a:p>
          <a:p/>
          <a:p>
            <a:r>
              <a:t>Respuestas posibles: 1. El propósito es el porqué; la visión, el qué general. 2. El propósito es corto; la visión, más detallada. 3. Ambos describen el sistema desde lo alto. </a:t>
            </a:r>
          </a:p>
          <a:p/>
          <a:p>
            <a:r>
              <a:t>Advertencia: el SRS se redacta en términos del cliente, sin tecnicismos innecesarios.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primeras características de una buena especificación SRS según IEEE 830: correcta/válida, no ambigua y completa, con detalle de cada una. </a:t>
            </a:r>
          </a:p>
          <a:p/>
          <a:p>
            <a:r>
              <a:t>Ejemplos: Global Exchange (conductor): un requisito es correcto si el cliente lo valida; no ambiguo si tiene una única interpretación; completo si no hay "a determinar" sin explicar. Segundo contexto industrial: en un sistema de turnos, validar con el cliente cada requisito. </a:t>
            </a:r>
          </a:p>
          <a:p/>
          <a:p>
            <a:r>
              <a:t>Reflexión docente: la completitud es difícil de lograr; requiere revisar funcionalidad, desempeño, restricciones e interfaces. </a:t>
            </a:r>
          </a:p>
          <a:p/>
          <a:p>
            <a:r>
              <a:t>Pregunta desafío: ¿qué implica que una especificación tenga la frase "a determinar"? </a:t>
            </a:r>
          </a:p>
          <a:p/>
          <a:p>
            <a:r>
              <a:t>Respuestas posibles: 1. Que no está completa. 2. Que falta definir un valor. 3. Que debe documentarse qué falta, con quién y cuándo se definirá. </a:t>
            </a:r>
          </a:p>
          <a:p/>
          <a:p>
            <a:r>
              <a:t>Advertencia: la correctitud no la garantiza ninguna herramienta; la valida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más características del SRS según IEEE 830: consistente internamente, ordenada por importancia/estabilidad, y verificable, con sus implicaciones. </a:t>
            </a:r>
          </a:p>
          <a:p/>
          <a:p>
            <a:r>
              <a:t>Ejemplos: Global Exchange (conductor): "el sistema responde en 2 segundos" es verificable si existe una prueba; un requisito contradictorio con otro rompe la consistencia. Segundo contexto industrial: en un sistema de facturación, definir pruebas para cada requisito. </a:t>
            </a:r>
          </a:p>
          <a:p/>
          <a:p>
            <a:r>
              <a:t>Reflexión docente: la verificabilidad exige usar términos concretos y cantidades mesurables. </a:t>
            </a:r>
          </a:p>
          <a:p/>
          <a:p>
            <a:r>
              <a:t>Pregunta desafío: ¿qué se hace si un requisito no es verificable? </a:t>
            </a:r>
          </a:p>
          <a:p/>
          <a:p>
            <a:r>
              <a:t>Respuestas posibles: 1. Revisarlo o eliminarlo. 2. Preparar pruebas. 3. Reformularlo con métricas. </a:t>
            </a:r>
          </a:p>
          <a:p/>
          <a:p>
            <a:r>
              <a:t>Advertencia: ordenar por importancia facilita priorizar el desarrollo y los cambios.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las últimas características del SRS según IEEE 830: trazables (hacia atrás y hacia adelante), realistas/factibles y entendibles. </a:t>
            </a:r>
          </a:p>
          <a:p/>
          <a:p>
            <a:r>
              <a:t>Ejemplos: Global Exchange (conductor): cada requisito tiene un identificador único que permite rastrear su origen y su implementación; "tiempo de respuesta local = remoto" puede no ser factible. Segundo contexto industrial: en un sistema de salud, trazar cada requisito a su normativa. </a:t>
            </a:r>
          </a:p>
          <a:p/>
          <a:p>
            <a:r>
              <a:t>Reflexión docente: la trazabilidad exige identificadores únicos desde el inicio. </a:t>
            </a:r>
          </a:p>
          <a:p/>
          <a:p>
            <a:r>
              <a:t>Pregunta desafío: ¿qué diferencia hay entre trazabilidad hacia atrás y hacia adelante? </a:t>
            </a:r>
          </a:p>
          <a:p/>
          <a:p>
            <a:r>
              <a:t>Respuestas posibles: 1. Hacia atrás: versiones previas; hacia adelante: documentos posteriores. 2. Una rastrea el origen; la otra la implementación. 3. Ambas requieren identificador único. </a:t>
            </a:r>
          </a:p>
          <a:p/>
          <a:p>
            <a:r>
              <a:t>Advertencia: los requisitos deben ser entendibles tanto por usuarios como por desarrolladores.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 de apoyo: diagrama del proceso, situando la verificación. </a:t>
            </a:r>
          </a:p>
          <a:p/>
          <a:p>
            <a:r>
              <a:t>Ejemplos: Global Exchange (conductor): se ubica la verificación dentro del flujo, tras la especificación. Segundo contexto industrial: igual. </a:t>
            </a:r>
          </a:p>
          <a:p/>
          <a:p>
            <a:r>
              <a:t>Reflexión docente: el diagrama mantiene el contexto. </a:t>
            </a:r>
          </a:p>
          <a:p/>
          <a:p>
            <a:r>
              <a:t>Pregunta desafío: ¿qué viene después de especificar en el proceso? </a:t>
            </a:r>
          </a:p>
          <a:p/>
          <a:p>
            <a:r>
              <a:t>Respuestas posibles: 1. Verificar. 2. Validar. 3. Gestionar. </a:t>
            </a:r>
          </a:p>
          <a:p/>
          <a:p>
            <a:r>
              <a:t>Advertencia: es un apoyo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los criterios para verificar el documento de requisitos: consistencia, completitud (omisiones y límites), ambigüedades, realismo o factibilidad, verificabilidad, comprensibilidad, adaptabilidad y trazabilidad. </a:t>
            </a:r>
          </a:p>
          <a:p/>
          <a:p>
            <a:r>
              <a:t>Ejemplos: Global Exchange (conductor): verificar que no haya contradicciones entre las reglas de cambio; usar tablas para ver que no falten casos (límites); revisar que "el sistema debe ser rápido" sea reformulado con métricas. Segundo contexto industrial: en un sistema de turnos, árboles de decisión para cubrir todas las opciones. </a:t>
            </a:r>
          </a:p>
          <a:p/>
          <a:p>
            <a:r>
              <a:t>Reflexión docente: la verificación comprueba la calidad del documento, no que el sistema esté bien construido. </a:t>
            </a:r>
          </a:p>
          <a:p/>
          <a:p>
            <a:r>
              <a:t>Pregunta desafío: ¿qué se revisa con las tablas de decisión? </a:t>
            </a:r>
          </a:p>
          <a:p/>
          <a:p>
            <a:r>
              <a:t>Respuestas posibles: 1. Que no falten combinaciones (completitud). 2. Los límites. 3. Las ambigüedades. </a:t>
            </a:r>
          </a:p>
          <a:p/>
          <a:p>
            <a:r>
              <a:t>Advertencia: cuidado con adjetivos y adverbios en la verificación de requerimientos.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 la verificación de los requerimientos no funcionales: son difíciles de verificar, deben expresarse cuantitativamente con métricas objetivas (ideal) y a los usuarios les cuesta especificarlos en forma cuantitativa. </a:t>
            </a:r>
          </a:p>
          <a:p/>
          <a:p>
            <a:r>
              <a:t>Ejemplos: Global Exchange (conductor): "el sistema debe ser confiable" se reformula como "disponibilidad del 99,9% anual". Segundo contexto industrial: en un sistema de salud, "los datos deben protegerse" se reformula como "cifrado AES-256". </a:t>
            </a:r>
          </a:p>
          <a:p/>
          <a:p>
            <a:r>
              <a:t>Reflexión docente: cuantificar los no funcionales es difícil pero necesario para poder probarlos. </a:t>
            </a:r>
          </a:p>
          <a:p/>
          <a:p>
            <a:r>
              <a:t>Pregunta desafío: ¿cómo cuantificarían "el sistema debe ser fácil de usar"? </a:t>
            </a:r>
          </a:p>
          <a:p/>
          <a:p>
            <a:r>
              <a:t>Respuestas posibles: 1. Tiempo máximo de aprendizaje. 2. Tasa de error permitida. 3. Satisfacción en una escala. </a:t>
            </a:r>
          </a:p>
          <a:p/>
          <a:p>
            <a:r>
              <a:t>Advertencia: la cuantificación es lo ideal; si no se logra, al menos definir criterios de aceptación claros.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Slide visual de apoyo: diagrama del proceso, situando la validación. </a:t>
            </a:r>
          </a:p>
          <a:p/>
          <a:p>
            <a:r>
              <a:t>Ejemplos: Global Exchange (conductor): se ubica la validación tras la verificación. Segundo contexto industrial: igual. </a:t>
            </a:r>
          </a:p>
          <a:p/>
          <a:p>
            <a:r>
              <a:t>Reflexión docente: el diagrama mantiene el contexto del proceso. </a:t>
            </a:r>
          </a:p>
          <a:p/>
          <a:p>
            <a:r>
              <a:t>Pregunta desafío: ¿qué actividad sigue a la verificación? </a:t>
            </a:r>
          </a:p>
          <a:p/>
          <a:p>
            <a:r>
              <a:t>Respuestas posibles: 1. Validación. 2. Especificación. 3. Gestión. </a:t>
            </a:r>
          </a:p>
          <a:p/>
          <a:p>
            <a:r>
              <a:t>Advertencia: es un apoyo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define la validación de requerimientos: proceso por el cual se determina si la especificación es consistente con las necesidades del cliente; incluye validez, planificar quién valida qué artefacto y cómo, y registrar un reporte de validación con firma. </a:t>
            </a:r>
          </a:p>
          <a:p/>
          <a:p>
            <a:r>
              <a:t>Ejemplos: Global Exchange (conductor): el cliente valida que el SRS refleja las reglas de cambio que realmente necesita y firma el reporte. Segundo contexto industrial: en un hospital, cada stakeholder valida los artefactos que le conciernen. </a:t>
            </a:r>
          </a:p>
          <a:p/>
          <a:p>
            <a:r>
              <a:t>Reflexión docente: la validación es con el cliente; la verificación es contra el documento. </a:t>
            </a:r>
          </a:p>
          <a:p/>
          <a:p>
            <a:r>
              <a:t>Pregunta desafío: ¿qué diferencia hay entre verificar y validar? </a:t>
            </a:r>
          </a:p>
          <a:p/>
          <a:p>
            <a:r>
              <a:t>Respuestas posibles: 1. Verificar: el sistema cumple la especificación; validar: la especificación satisface al cliente. 2. Verificar es interno; validar es con el usuario. 3. Ambas son complementarias. </a:t>
            </a:r>
          </a:p>
          <a:p/>
          <a:p>
            <a:r>
              <a:t>Advertencia: la firma del reporte de validación compromete a las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 la validación como proceso manual: revisiones informales y formales (recorrida del documento con el cliente), con participantes del cliente y del equipo de desarrollo, incluyendo revisión de objetivos, alineamiento, ambiente, funciones, restricciones y riesgos. </a:t>
            </a:r>
          </a:p>
          <a:p/>
          <a:p>
            <a:r>
              <a:t>Ejemplos: Global Exchange (conductor): una recorrida del SRS con el cliente explicando implicancias de cada requisito; participan el analista, el diseñador y los encargados de pruebas. Segundo contexto industrial: en un sistema de facturación, revisar objetivos y alineamiento con la normativa. </a:t>
            </a:r>
          </a:p>
          <a:p/>
          <a:p>
            <a:r>
              <a:t>Reflexión docente: la recorrida formal es una técnica efectiva para detectar anomalías tempranamente. </a:t>
            </a:r>
          </a:p>
          <a:p/>
          <a:p>
            <a:r>
              <a:t>Pregunta desafío: ¿qué se busca al evaluar la alineación de requisitos con los objetivos? </a:t>
            </a:r>
          </a:p>
          <a:p/>
          <a:p>
            <a:r>
              <a:t>Respuestas posibles: 1. Que cada requisito responda a una necesidad. 2. Que no haya requisitos innecesarios. 3. Que el alcance sea correcto. </a:t>
            </a:r>
          </a:p>
          <a:p/>
          <a:p>
            <a:r>
              <a:t>Advertencia: la validación debe considerar las pruebas del sistema y los cambios en los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 la gestión de requerimientos: comprender y controlar los cambios; se hace en paralelo con el proceso de requisitos; los cambios surgen por muchos usuarios, diferencias entre quien paga y quien usa, cambios de negocio y de tecnología; tiene tres etapas: planificación, administración del cambio y trazabilidad. </a:t>
            </a:r>
          </a:p>
          <a:p/>
          <a:p>
            <a:r>
              <a:t>Ejemplos: Global Exchange (conductor): el cliente pide nuevas monedas; se administra el cambio evaluando su impacto y se actualiza la trazabilidad. Segundo contexto industrial: en un sistema de inventario, cambios por nueva normativa. </a:t>
            </a:r>
          </a:p>
          <a:p/>
          <a:p>
            <a:r>
              <a:t>Reflexión docente: la gestión evita que los cambios descontrolados destruyan el proyecto. </a:t>
            </a:r>
          </a:p>
          <a:p/>
          <a:p>
            <a:r>
              <a:t>Pregunta desafío: ¿por qué los cambios son inevitables en los proyectos de software? </a:t>
            </a:r>
          </a:p>
          <a:p/>
          <a:p>
            <a:r>
              <a:t>Respuestas posibles: 1. Porque el negocio y la tecnología cambian. 2. Porque los usuarios descubren nuevas necesidades. 3. Porque quien paga no siempre es quien usa. </a:t>
            </a:r>
          </a:p>
          <a:p/>
          <a:p>
            <a:r>
              <a:t>Advertencia: la trazabilidad se mantiene a lo largo de todo el proceso, no solo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presentan herramientas para la gestión de requerimientos: JIRA (historias de usuario, tareas, épicas, prioridades), Trello (tableros visuales), Confluence (documentación estructurada) y GitHub Issues (seguimiento de problemas y mejoras). </a:t>
            </a:r>
          </a:p>
          <a:p/>
          <a:p>
            <a:r>
              <a:t>Ejemplos: Global Exchange (conductor): usar JIRA para las historias de usuario del sistema de divisas, Confluence para el SRS y GitHub Issues para bugs. Segundo contexto industrial: en un ERP, Trello para el flujo de trabajo y Confluence para la especificación. </a:t>
            </a:r>
          </a:p>
          <a:p/>
          <a:p>
            <a:r>
              <a:t>Reflexión docente: las herramientas apoyan la gestión, pero no reemplazan el proceso. </a:t>
            </a:r>
          </a:p>
          <a:p/>
          <a:p>
            <a:r>
              <a:t>Pregunta desafío: ¿qué herramienta usarían para documentar la especificación SRS? </a:t>
            </a:r>
          </a:p>
          <a:p/>
          <a:p>
            <a:r>
              <a:t>Respuestas posibles: 1. Confluence. 2. JIRA. 3. GitHub Issues. </a:t>
            </a:r>
          </a:p>
          <a:p/>
          <a:p>
            <a:r>
              <a:t>Advertencia: la elección de herramienta depende de la organización; lo importante es 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Se comparten referencias web con ejemplos de requerimientos funcionales y no funcionales para ampliar la práctica. </a:t>
            </a:r>
          </a:p>
          <a:p/>
          <a:p>
            <a:r>
              <a:t>Ejemplos: Global Exchange (conductor): usar los ejemplos de la referencia para redactar requerimientos del sistema de divisas. Segundo contexto industrial: adaptar los ejemplos a cualquier dominio. </a:t>
            </a:r>
          </a:p>
          <a:p/>
          <a:p>
            <a:r>
              <a:t>Reflexión docente: los ejemplos externos complementan la teoría con casos reales. </a:t>
            </a:r>
          </a:p>
          <a:p/>
          <a:p>
            <a:r>
              <a:t>Pregunta desafío: ¿qué diferencia encontraron entre los ejemplos funcionales y no funcionales de las referencias? </a:t>
            </a:r>
          </a:p>
          <a:p/>
          <a:p>
            <a:r>
              <a:t>Respuestas posibles: 1. Los funcionales describen acciones; los no funcionales, restricciones. 2. Los no funcionales son más difíciles de cuantificar. 3. Ambos son necesarios. </a:t>
            </a:r>
          </a:p>
          <a:p/>
          <a:p>
            <a:r>
              <a:t>Advertencia: las referencias son externas; verificar su vigencia.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Cierre de la unidad: se agradece y se abre el espacio de preguntas. </a:t>
            </a:r>
          </a:p>
          <a:p/>
          <a:p>
            <a:r>
              <a:t>Ejemplos: Global Exchange (conductor): repaso rápido de cómo definimos los requerimientos del sistema de cambio de divisas. Segundo contexto industrial: aplicación de lo aprendido a cualquier proyecto. </a:t>
            </a:r>
          </a:p>
          <a:p/>
          <a:p>
            <a:r>
              <a:t>Reflexión docente: la unidad sienta las bases para el diseño y desarrollo posteriores. </a:t>
            </a:r>
          </a:p>
          <a:p/>
          <a:p>
            <a:r>
              <a:t>Pregunta desafío: ¿qué concepto de la unidad les resultó más útil y por qué? </a:t>
            </a:r>
          </a:p>
          <a:p/>
          <a:p>
            <a:r>
              <a:t>Respuestas posibles: 1. La diferencia entre funcionales y no funcionales. 2. La verificación vs. validación. 3. La gestión de cambios. </a:t>
            </a:r>
          </a:p>
          <a:p/>
          <a:p>
            <a:r>
              <a:t>Advertencia: cierre de la unidad; no se introducen contenidos nuevos.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01 · APERTURA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Ingeniería de Software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UNIDAD III – REQUERIMIENTOS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Prof. Lic. Guillermo Jacobo González Rodas Mst. PMP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02 ·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02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3505200" cy="140817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1394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qué son los requerimientos de software y por qué son importantes.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0520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239572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761488"/>
            <a:ext cx="313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Familiarizarse con los diferentes tipos de requerimientos.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2286000"/>
            <a:ext cx="3505200" cy="140817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39572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2761488"/>
            <a:ext cx="31394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Aprender técnicas y herramientas para la obtención, análisis y gestión de requerimientos.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03 · RECORRIDO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01  Requerimientos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02  Tipos de Requerimientos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03  Ingeniería de Requerimientos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04  Proceso de Requerimientos  —  Obtención, Análisis, Especificación, Verificación y Validación de Requerimientos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96511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05  Gestión de Requerimientos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04 · 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¿Qué Es un Requerimiento de Software?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04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111556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Definición (Sweebok):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«Propiedad que debe ser exhibida por un software para resolver un problema particular.»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286000"/>
            <a:ext cx="5417820" cy="111556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Definición (usuario):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59" y="2670048"/>
            <a:ext cx="50520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«Condición o capacidad que necesita el usuario para resolver un problema o conseguir un objetivo determinado.»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0156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ERS – Documento formal de Especificación de Requisitos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SRS – Software Requirements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1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IEEE Computer Society. Guide to the Software Engineering Body of Knowledge (SWEBOK). IEEE, 2014.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05 · CARACTERÍSTICAS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Características de los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Los requisitos de un software suelen ser una combinación compleja de los requisitos de diferentes personas en diferentes niveles de una organización y del entorno en el cual operará el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Verificable: es fundamental que un requisito pueda comprobarse.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10896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Prioridad: atributo que les caracteriza.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6791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Identificador único: atributo que les caracteriza.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386791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397764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3434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Claros y no ambiguos: lo más que se pueda.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0235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Cuantificables (si es posible).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0819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06 · CLASIFICACIÓN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Tipos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06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Describen qué debe hacer el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286000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59" y="267004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Describen restricciones y calidad.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07 ·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Requerimientos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 refiere a las capacidades del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Describen las funciones que lleva a cabo el software, cómo debe reaccionar ante ciertas entradas y cómo debe comportarse en situaciones particulares.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Describen la funcionalidad o los servicios que se espera que éste provea.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Son declaraciones de los servicios que proveerá el sistema, de la manera en que éste reaccionará a entradas particulares.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51376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En algunos casos, los requerimientos funcionales de los sistemas también declaran explícitamente lo que el sistema NO debe hacer.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3659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08 · EJEMPLOS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Ejemplos de Requerimientos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RF1. El sistema controlará el acceso y lo permitirá solamente a usuarios autorizados. Los usuarios deben ingresar al sistema con un nombre de usuario y contraseña.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71216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RF2. El campo país consistirá en una lista de preselección. El país asociado a una dirección debe ser previamente registrado en el sistema.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RF3. El campo estado, provincia o departamento consistirá en una lista de preselección. A los usuarios se les presentará únicamente los departamentos asociados al país seleccionado previamente.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RF4. El sistema enviará un correo electrónico cuando se registre alguna de las siguientes transacciones: pedido de venta de cliente, emisión de factura a cliente y registro de pago de cliente.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2686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09 ·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 refiere a las restricciones y requisitos de calidad.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Restricciones sobre las funciones o servicios ofrecidos por el sistema. Incluyen restricciones de tiempo, sobre el proceso de desarrollo, estándares,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8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Son aquellos requerimientos que no se refieren directamente a las funciones específicas que entrega el sistema, sino a las propiedades emergentes de éste como la fiabilidad, la respuesta en el tiempo y la capacidad de almacenamiento.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03904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De forma alternativa, definen las restricciones del sistema como la capacidad de los dispositivos de entrada/salida y la representación de datos que se utiliza en la interface del sistema.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10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Requerimientos No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10 / 39</a:t>
            </a:r>
          </a:p>
        </p:txBody>
      </p:sp>
      <p:pic>
        <p:nvPicPr>
          <p:cNvPr id="9" name="Picture 8" descr="requerimientos-no-funcion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11 · EJEMPLOS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Ejemplos de Requerimientos No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Requerimientos del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RNF1. La interfaz de usuario será implementada como HTML simple sin frames ni applets Java.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Requerimientos Organizacionales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RNF2. El proceso de desarrollo y los entregables serán conformes a lo establecido en METRICA v3.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Requerimientos Externos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RNF3. El sistema no registrará ninguna información personal de los clientes salvo su nombre y número de referencia, respetando lo establecido en la Ley Orgánica de Protección de Datos (LOPD).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08575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12 · EJEMPLO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Ejemplo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12 / 39</a:t>
            </a:r>
          </a:p>
        </p:txBody>
      </p:sp>
      <p:pic>
        <p:nvPicPr>
          <p:cNvPr id="9" name="Picture 8" descr="ejemplo-requerimien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13 · 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¿Qué Es la Ingeniería de Requisitos?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A556B"/>
                </a:solidFill>
                <a:latin typeface="Calibri"/>
              </a:rPr>
              <a:t>“«Conjunto de actividades para descubrir, documentar y mantener un conjunto de requisitos.»”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A556B"/>
                </a:solidFill>
                <a:latin typeface="Calibri"/>
              </a:rPr>
              <a:t>“«Establecer los servicios que el cliente requiere de un sistema y las restricciones bajo las cuales opera y es desarrollado.»”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14 ·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A556B"/>
                </a:solidFill>
                <a:latin typeface="Calibri"/>
              </a:rPr>
              <a:t>“«Conjunto estructurado de actividades de cuya ejecución se obtiene, valida y mantiene un documento de requisitos del sistema (ERS).»”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Sommerville, I. Ingeniería de Software, 9ª ed. Pearson, 2011.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15 · PARTICIPANTES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Participantes en el 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15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Cliente y 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Conocen los requisitos adecuados a sus necesidades.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286000"/>
            <a:ext cx="5417820" cy="111556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3957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Diseñadores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59" y="2670048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los requerimientos para lograr un diseño que los satisfaga.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30168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3989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Supervisores del Contrato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5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Establecen los hitos de Control y cronogramas.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79" y="3630168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59" y="373989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Gerentes del Negocio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659" y="4014215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Entienden el impacto en la Organización.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74336"/>
            <a:ext cx="5417820" cy="111556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8406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Verificadores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58383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los requerimientos para poder verificar si el sistema los satisface.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16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16 / 39</a:t>
            </a:r>
          </a:p>
        </p:txBody>
      </p:sp>
      <p:pic>
        <p:nvPicPr>
          <p:cNvPr id="9" name="Picture 8" descr="proceso-ingenieria-requisi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17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17 / 39</a:t>
            </a:r>
          </a:p>
        </p:txBody>
      </p:sp>
      <p:pic>
        <p:nvPicPr>
          <p:cNvPr id="9" name="Picture 8" descr="proceso-ingenieria-requisitos-obten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18 · FUENTES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Obtención de Requerimientos: Fuentes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Fuente de los Requerimientos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Cliente, usuario, otros interesados (necesidades).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63347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7432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Modelos del dominio.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5417820" cy="841247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13048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Revisar la situación actual: organización actual y sistemas.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3703320"/>
            <a:ext cx="5417820" cy="841247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59" y="3813048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Versión actual del sistema y desarrolladores de versión anterior.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73168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Documentos existentes (antecedentes).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79" y="4773168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59" y="488289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Sistemas análogos ya existentes (antecedentes).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19 ·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Obtención de Requerimientos: Técnicas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Técnicas de Obtención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Reuniones / Entrevistas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10896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Cuestionarios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6791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Observación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386791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397764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3434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Brainstorming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20 · PROBLEMAS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Obtención de Requerimientos: Problemas Comunes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20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Problemas Comunes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1207008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No saben lo que quieren del sistema, sólo en términos generales; no conocen el costo de sus peticiones.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10896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Los requisitos están en sus términos y con conocimiento implícito de su propio trabajo.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7880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4456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Distintos usuarios tienen distintos requisitos; se deben encontrar todas las fuentes.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406908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417880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54456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Influyen factores políticos.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04688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14416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017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La prioridad que se da a los requisitos varía con el tiempo.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779" y="5504688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3659" y="5614416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4A8A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59" y="5980176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2937"/>
                </a:solidFill>
                <a:latin typeface="Calibri"/>
              </a:rPr>
              <a:t>Aparecen nuevos requisitos.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21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21 / 39</a:t>
            </a:r>
          </a:p>
        </p:txBody>
      </p:sp>
      <p:pic>
        <p:nvPicPr>
          <p:cNvPr id="9" name="Picture 8" descr="proceso-ingenieria-requisitos-obten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22 ·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Análisis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22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Analizar stakeholders / clientes / usuarios.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28600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39572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59" y="276148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Crear vistas.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959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Detallar y negociar prioridades.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79" y="352044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59" y="363016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659" y="399592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Buscar requerimientos que faltan.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5488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6460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3036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Evaluar factibilidad técnica – prototipos.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79" y="4754880"/>
            <a:ext cx="5417820" cy="1005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3659" y="4864608"/>
            <a:ext cx="548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3659" y="5230368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Evaluar riesgos de requerimientos.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23 ·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Análisis de Requerimientos: Modelos del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Modelos o Vistas del Sistema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Glosario.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79" y="263347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59" y="274320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Modelos gráficos y modelo conceptual.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0215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50520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Diagramas de estado – para entidades complejas que pasen por distintos estados.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350215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59" y="361188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Diagramas de Flujo de Datos (DFD).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70831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80559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Prototipos de interfaz gráfica.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79" y="4370831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59" y="4480559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Casos de Prueba y Tablas de Decisión.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39512"/>
            <a:ext cx="541782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Casos de Uso.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24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24 / 39</a:t>
            </a:r>
          </a:p>
        </p:txBody>
      </p:sp>
      <p:pic>
        <p:nvPicPr>
          <p:cNvPr id="9" name="Picture 8" descr="proceso-ingenieria-requisitos-especif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25 · DOCUMENTACIÓN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Requerimientos: Documentación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Qué documentar?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Lo que hace el sistema actual.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Lo que el cliente pide.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1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Lo que el sistema va a hacer.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Criterios de aceptación.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86783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Criterios de verificación.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2860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Recomendaciones: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7432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Agrupar por temas.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054096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Formular los requerimientos como requerimientos positivos y no negativos.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364991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Expresarlos en voz activa y no pasiva.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675887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Indicar si se está documentando solo lo que va en el alcance o todo lo que se pidió.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986783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Representar requerimientos con múltiples vistas.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26 · DOCUMENTO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Requerimientos: Documento SRS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Documento de Especificación de 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Registrar los requisitos en los términos del cliente.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Delinear el propósito general del sistema: Incluir referencias a otros sistemas, glosario y abreviaciones.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Describir el contexto y objetivos del desarrollo del sistema.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Delinear visión global del sistema: Incluir restricciones generales.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Definir en detalle las características del sistema propuesto, definir el alcance del sistema e interfaces.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Discutir el ambiente en el que el sistema va a operar (hardware, comunicaciones, personal).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27 · SRS IEEE 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Características de una Buena Especificación SRS (IEEE 830)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4A8A"/>
                </a:solidFill>
                <a:latin typeface="Calibri"/>
              </a:rPr>
              <a:t>SRS (IEEE 830)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Correcta / Válida: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Todos los requerimientos son requeridos en el sistema.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No existe herramienta que asegure esto.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Validado por el cliente (que efectivamente refleje sus necesidades).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97096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Completa: debe incluir: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54296"/>
            <a:ext cx="5349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Todos los requisitos asociados con funcionalidad, desempeño, restricciones de diseño, atributos o interfaces externas.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84648"/>
            <a:ext cx="5349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Definición de respuestas del sw a todo posible dato de entrada (válidos o inválidos) en toda clase de situaciones realizables.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150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No hay referencias sin definir en la especificación.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25896"/>
            <a:ext cx="5349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La frase «a determinar» indica que el SRS no está completa. Ocasionalmente necesaria; describir: condiciones que causan que no se sepa aún y qué se debe hacer para determinar lo que falta, con quién y cuándo.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7004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No Ambigua: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127248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Todo requerimiento tiene una única interpretación.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438144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Incluir glosario.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749039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No ambigua para quienes lo crearon y para quienes lo usan.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1">
                <a:solidFill>
                  <a:srgbClr val="4A556B"/>
                </a:solidFill>
                <a:latin typeface="Calibri"/>
              </a:rPr>
              <a:t>📚 IEEE. IEEE Std 830-1998, Recommended Practice for Software Requirements Specifications. IEEE, 1998.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28 · SRS IEEE 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Características de una Buena Especificación SRS (IEEE 830)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SRS (IEEE 830)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Consistente internamente: los requisitos no son contradictorios entre sí.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Ordenados por grado de importancia y/o estabilidad: los requisitos deben tener un identificador.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Verificable: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Un requerimiento es verificable si existe un proceso finito de costo accesible para determinar que el sistema lo cumple.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Usar términos concretos y cantidades mesurables.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Preparar pruebas para demostrar que se cumplen. Si no se puede, eliminar o revisar el requisito.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8303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Expresar cada req. separadamente.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5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IEEE. IEEE Std 830-1998, Recommended Practice for Software Requirements Specifications. IEEE, 1998.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29 · SRS IEEE 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Características de una Buena Especificación SRS (IEEE 830)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SRS (IEEE 830)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Trazables: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El origen de cada requerimiento es claro, y es posible seguirle la pista en futuros desarrollos o mejora de la documentación.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Trazabilidad hacia atrás: en versiones previas.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1363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Trazabilidad hacia adelante: documentos posteriores.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6110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Requiere IDENTIFICADOR ÚNICO.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0857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Realistas / Factibles: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5604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Ej.: tiempo de respuesta local = remoto.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Ej.: el cliente quiere adelantarse a la tecnología.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5099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Entendibles: tanto por los usuarios como por los desarrolladores.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98464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556B"/>
                </a:solidFill>
                <a:latin typeface="Calibri"/>
              </a:rPr>
              <a:t>📚 IEEE. IEEE Std 830-1998, Recommended Practice for Software Requirements Specifications. IEEE, 1998.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30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30 / 39</a:t>
            </a:r>
          </a:p>
        </p:txBody>
      </p:sp>
      <p:pic>
        <p:nvPicPr>
          <p:cNvPr id="9" name="Picture 8" descr="proceso-ingenieria-requisitos-verif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31 ·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Verificación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31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 verifica en el documento de requisitos: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Consistencia: que no haya contradicciones.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Completitud: que no falte nada. Chequear por: Omisiones (hacer árboles de decisión para ver que estén todas las opciones detalladas) y Límites (más claro con tabla, ahí se ve que no falta ninguno).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Ambigüedades.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1363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Realismo o Factibilidad: que se puedan implementar con la tecnología, presupuesto y calendario existentes.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61104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Verificabilidad: que se pueda diseñar un conjunto de pruebas para demostrar que el sistema cumple esos requisitos. Cuidado con adjetivos y adverbios.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Comprensibilidad: que los usuarios finales lo entiendan.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9379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Adaptabilidad: que el requisito se pueda cambiar sin afectar a otros.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4126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Trazabilidad: que esté establecido el origen.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32 ·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Verificación de Requerimientos No 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32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Son difíciles de verificar.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 deben expresar de manera cuantitativa utilizando métricas que se puedan probar de forma objetiva (esto es IDEAL).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Para los usuarios es difícil especificarlos en forma cuantitativa.</a:t>
            </a:r>
          </a:p>
        </p:txBody>
      </p:sp>
      <p:pic>
        <p:nvPicPr>
          <p:cNvPr id="12" name="Picture 11" descr="verificacion-requerimi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743200"/>
            <a:ext cx="4754880" cy="329184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33 · 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la Ingeniería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33 / 39</a:t>
            </a:r>
          </a:p>
        </p:txBody>
      </p:sp>
      <p:pic>
        <p:nvPicPr>
          <p:cNvPr id="9" name="Picture 8" descr="proceso-ingenieria-requisitos-valid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34 ·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Validación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34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Proceso por el cual se determina si la especificación es consistente con las necesidades del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 verifica en el documento de requisitos: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Validez: que el usuario valide qué es lo que 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Planificar quién (qué stakeholder) va a validar qué artefacto y cómo (técnica).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Registrar – Reporte de validación / Firma.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35 · REVISIONES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Validación de Requerimientos: Revisiones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35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Proceso manual: se revisa el documento de requisitos buscando anomalías y omisiones.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Revisiones informales: discusión informal.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5349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Revisiones formales: se hace una «recorrida» del doc. de req. con el cliente, explicando implicancias de cada requisito.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216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Incluye: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78808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Revisar objetivos del sistema.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9704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Evaluar alineamiento de requisitos con los objetivos (necesidad).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Revisar el ambiente de operación y las interfaces con otros sistemas.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11496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Funciones completas, restricciones realistas.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22392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Evaluar riesgos.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860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Participan representantes: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74320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Del cliente: operadores, quienes realicen entradas, utilicen salidas, y sus gerentes.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054096"/>
            <a:ext cx="5349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•  Del equipo de desarrollo: analistas de requisitos, diseñadores, encargados de pruebas y gestión de configuración.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7216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Considerar: pruebas del sistema y cambios en los requisitos en el proyecto, su verificación y validación.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36 · GESTIÓN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Gestión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36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Proceso de comprender y controlar los cambios en los requisitos del sistema; se hace en paralelo con el Proceso de Requisitos.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7121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Los requisitos cambian, debido 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Muchos usuarios.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Quienes pagan por el sistema y los usuarios no son las mismas personas.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1363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Cambios en el negocio.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6110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Cambios en la tecnología.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0857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Tres etapas: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56048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Planificación: se realiza al comenzar el análisis de requisitos.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Administración del cambio: comienza una vez que se tiene una primera versión del documento de requisitos.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5099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Trazabilidad: se mantiene a lo largo del proceso de requisitos.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37 · HERRAMIENTAS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Gestión de Requerimientos: Herramientas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37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JIRA: herramienta de gestión de proyectos ampliamente utilizada que también ofrece funcionalidades para la gestión de requerimientos. Permite la creación de historias de usuario, tareas, epics y otras unidades de trabajo, así como la asignación de prioridades, seguimiento de estado y colaboración en equipo.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Trello: herramienta de gestión de proyectos basada en tableros visuales que puede adaptarse para la gestión de requerimientos de software. Permite la creación de tarjetas para representar requerimientos, listas para organizarlos y tableros para visualizar el flujo de trabajo y el progreso del proyecto.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Confluence: plataforma de colaboración que también puede utilizarse para la gestión de requerimientos. Permite la creación de documentación estructurada, incluyendo especificaciones de requerimientos, casos de uso y otros artefactos.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1713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GitHub Issues: herramienta de seguimiento de problemas integrada en la plataforma de desarrollo colaborativo GitHub. Permite la creación y seguimiento de problemas, bugs y mejoras, y puede ser utilizada para gestionar los requerimientos de software.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38 · EJEMPLOS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Ejemplos de Requerimientos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38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Requerimientos funcionales: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http://www.pmoinformatica.com/2017/02/requerimientos-funcionales-ejemplos.html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Requerimientos no funcionales: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http://www.pmoinformatica.com/2015/05/requerimientos-no-funcionales-ejemplos.html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39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Muchas 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39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4A8A"/>
                </a:solidFill>
                <a:latin typeface="Calibri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