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Presentar la **Casos de Uso y Especificación de Casos de Uso** como un tema fundamental del curso de Ingeniería de Software. - Esta unidad estudia casos de uso y su importancia en el desarrollo de software de calidad. </a:t>
            </a:r>
          </a:p>
          <a:p/>
          <a:p>
            <a:r>
              <a:t>Ejemplos: **Global Exchange (conductor):** para el sistema de cambio de divisas, casos de uso son esenciales para definir qué debe hacer el sistema. **Segundo contexto industrial:** en un sistema de turnos hospitalarios, casos de uso ayudan a organizar las necesidades de los usuarios. </a:t>
            </a:r>
          </a:p>
          <a:p/>
          <a:p>
            <a:r>
              <a:t>Reflexión docente: Comprender casos de uso es el primer paso para construir software que responda a las necesidades reales. </a:t>
            </a:r>
          </a:p>
          <a:p/>
          <a:p>
            <a:r>
              <a:t>Pregunta desafío: ¿por qué son importantes los casos de uso en un proyecto de software? </a:t>
            </a:r>
          </a:p>
          <a:p/>
          <a:p>
            <a:r>
              <a:t>Respuestas posibles:</a:t>
            </a:r>
          </a:p>
          <a:p/>
          <a:p>
            <a:r>
              <a:t>• Porque definen qué debe hacer el sistema. </a:t>
            </a:r>
          </a:p>
          <a:p>
            <a:r>
              <a:t>• Porque ayudan a evitar malentendidos entre clientes y desarrolladores. </a:t>
            </a:r>
          </a:p>
          <a:p>
            <a:r>
              <a:t>• Porque son la base para la verificación y validación del producto. </a:t>
            </a:r>
          </a:p>
          <a:p/>
          <a:p>
            <a:r>
              <a:t>Advertencia: esta apertura contextualiza la unidad; aún no definimos conceptos técnicos.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Los objetivos guían el estudio de casos de uso: comprender, clasificar y aplicar técnicas de obtención y especificación. </a:t>
            </a:r>
          </a:p>
          <a:p/>
          <a:p>
            <a:r>
              <a:t>Ejemplos: **Global Exchange (conductor):** los objetivos nos ayudan a definir qué debe hacer el sistema de cambio de divisas. **Segundo contexto industrial:** en logística, los objetivos permiten establecer qué funcionalidades son prioritarias. </a:t>
            </a:r>
          </a:p>
          <a:p/>
          <a:p>
            <a:r>
              <a:t>Reflexión docente: Los objetivos son evaluable; dominarlos es clave para el parcial. </a:t>
            </a:r>
          </a:p>
          <a:p/>
          <a:p>
            <a:r>
              <a:t>Pregunta desafío: ¿cómo demostrarían que pueden aplicar los casos de uso a un caso real? </a:t>
            </a:r>
          </a:p>
          <a:p/>
          <a:p>
            <a:r>
              <a:t>Respuestas posibles:</a:t>
            </a:r>
          </a:p>
          <a:p/>
          <a:p>
            <a:r>
              <a:t>• Definiendo requerimientos claros y verificables. </a:t>
            </a:r>
          </a:p>
          <a:p>
            <a:r>
              <a:t>• Clasificando funcionalidades en requerimientos funcionales y no funcionales. </a:t>
            </a:r>
          </a:p>
          <a:p>
            <a:r>
              <a:t>• Usando técnicas de obtención como entrevistas y observación. </a:t>
            </a:r>
          </a:p>
          <a:p/>
          <a:p>
            <a:r>
              <a:t>Advertencia: distingan conocer una definición de aplicarla a un caso.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CONTENIDO es un concepto clave en casos de uso. - Este slide presenta la definición y características principales. </a:t>
            </a:r>
          </a:p>
          <a:p/>
          <a:p>
            <a:r>
              <a:t>Ejemplos: **Global Exchange (conductor):** podemos aplicar contenido para definir los casos de uso del sistema de cambio de divisas. **Segundo contexto industrial:** en un sistema de turnos, contenido ayuda a organizar las necesidades del hospital. </a:t>
            </a:r>
          </a:p>
          <a:p/>
          <a:p>
            <a:r>
              <a:t>Reflexión docente: CONTENIDO es fundamental para la calidad del software. </a:t>
            </a:r>
          </a:p>
          <a:p/>
          <a:p>
            <a:r>
              <a:t>Pregunta desafío: ¿por qué es importante contenido? </a:t>
            </a:r>
          </a:p>
          <a:p/>
          <a:p>
            <a:r>
              <a:t>Respuestas posibles:</a:t>
            </a:r>
          </a:p>
          <a:p/>
          <a:p>
            <a:r>
              <a:t>• Porque ayuda a definir qué debe hacer el sistema. </a:t>
            </a:r>
          </a:p>
          <a:p>
            <a:r>
              <a:t>• Porque facilita la comunicación entre clientes y desarrolladores. </a:t>
            </a:r>
          </a:p>
          <a:p>
            <a:r>
              <a:t>• Porque es la base para la verificación y validación. </a:t>
            </a:r>
          </a:p>
          <a:p/>
          <a:p>
            <a:r>
              <a:t>Advertencia: no confundir conceptos teóricos con su aplicación práctica.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¿Qué es un Caso de Uso? es un concepto clave en casos de uso. - Este slide presenta la definición y características principales. </a:t>
            </a:r>
          </a:p>
          <a:p/>
          <a:p>
            <a:r>
              <a:t>Ejemplos: **Global Exchange (conductor):** podemos aplicar ¿qué es un caso de uso? para definir los casos de uso del sistema de cambio de divisas. **Segundo contexto industrial:** en un sistema de turnos, ¿qué es un caso de uso? ayuda a organizar las necesidades del hospital. </a:t>
            </a:r>
          </a:p>
          <a:p/>
          <a:p>
            <a:r>
              <a:t>Reflexión docente: ¿Qué es un Caso de Uso? es fundamental para la calidad del software. </a:t>
            </a:r>
          </a:p>
          <a:p/>
          <a:p>
            <a:r>
              <a:t>Pregunta desafío: ¿por qué es importante ¿qué es un caso de uso?? </a:t>
            </a:r>
          </a:p>
          <a:p/>
          <a:p>
            <a:r>
              <a:t>Respuestas posibles:</a:t>
            </a:r>
          </a:p>
          <a:p/>
          <a:p>
            <a:r>
              <a:t>• Porque ayuda a definir qué debe hacer el sistema. </a:t>
            </a:r>
          </a:p>
          <a:p>
            <a:r>
              <a:t>• Porque facilita la comunicación entre clientes y desarrolladores. </a:t>
            </a:r>
          </a:p>
          <a:p>
            <a:r>
              <a:t>• Porque es la base para la verificación y validación. </a:t>
            </a:r>
          </a:p>
          <a:p/>
          <a:p>
            <a:r>
              <a:t>Advertencia: no confundir conceptos teóricos con su aplicación práctica.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casos de uso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cómo preparar casos de uso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proceso de casos de uso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Diagrama de Casos de Uso es un concepto clave en casos de uso. - Este slide presenta la definición y características principales. </a:t>
            </a:r>
          </a:p>
          <a:p/>
          <a:p>
            <a:r>
              <a:t>Ejemplos: **Global Exchange (conductor):** podemos aplicar diagrama de casos de uso para definir los casos de uso del sistema de cambio de divisas. **Segundo contexto industrial:** en un sistema de turnos, diagrama de casos de uso ayuda a organizar las necesidades del hospital. </a:t>
            </a:r>
          </a:p>
          <a:p/>
          <a:p>
            <a:r>
              <a:t>Reflexión docente: Diagrama de Casos de Uso es fundamental para la calidad del software. </a:t>
            </a:r>
          </a:p>
          <a:p/>
          <a:p>
            <a:r>
              <a:t>Pregunta desafío: ¿por qué es importante diagrama de casos de uso? </a:t>
            </a:r>
          </a:p>
          <a:p/>
          <a:p>
            <a:r>
              <a:t>Respuestas posibles:</a:t>
            </a:r>
          </a:p>
          <a:p/>
          <a:p>
            <a:r>
              <a:t>• Porque ayuda a definir qué debe hacer el sistema. </a:t>
            </a:r>
          </a:p>
          <a:p>
            <a:r>
              <a:t>• Porque facilita la comunicación entre clientes y desarrolladores. </a:t>
            </a:r>
          </a:p>
          <a:p>
            <a:r>
              <a:t>• Porque es la base para la verificación y validación. </a:t>
            </a:r>
          </a:p>
          <a:p/>
          <a:p>
            <a:r>
              <a:t>Advertencia: no confundir conceptos teóricos con su aplicación práctica.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diagrama de casos de uso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casos de uso “crear mensaje en el foro”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casos de uso – relación include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casos de uso – relación extend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mal uso de las relaciones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especificación de casos de uso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especificación de casos de uso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especificación de casos de uso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especificación de cu “crear mensaje en el foro”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especificación de cu “crear mensaje en el foro”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Caso de Estudio – Diagrama de CU es un concepto clave en casos de uso. - Este slide presenta la definición y características principales. </a:t>
            </a:r>
          </a:p>
          <a:p/>
          <a:p>
            <a:r>
              <a:t>Ejemplos: **Global Exchange (conductor):** podemos aplicar caso de estudio – diagrama de cu para definir los casos de uso del sistema de cambio de divisas. **Segundo contexto industrial:** en un sistema de turnos, caso de estudio – diagrama de cu ayuda a organizar las necesidades del hospital. </a:t>
            </a:r>
          </a:p>
          <a:p/>
          <a:p>
            <a:r>
              <a:t>Reflexión docente: Caso de Estudio – Diagrama de CU es fundamental para la calidad del software. </a:t>
            </a:r>
          </a:p>
          <a:p/>
          <a:p>
            <a:r>
              <a:t>Pregunta desafío: ¿por qué es importante caso de estudio – diagrama de cu? </a:t>
            </a:r>
          </a:p>
          <a:p/>
          <a:p>
            <a:r>
              <a:t>Respuestas posibles:</a:t>
            </a:r>
          </a:p>
          <a:p/>
          <a:p>
            <a:r>
              <a:t>• Porque ayuda a definir qué debe hacer el sistema. </a:t>
            </a:r>
          </a:p>
          <a:p>
            <a:r>
              <a:t>• Porque facilita la comunicación entre clientes y desarrolladores. </a:t>
            </a:r>
          </a:p>
          <a:p>
            <a:r>
              <a:t>• Porque es la base para la verificación y validación. </a:t>
            </a:r>
          </a:p>
          <a:p/>
          <a:p>
            <a:r>
              <a:t>Advertencia: no confundir conceptos teóricos con su aplicación práctica.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Caso de Estudio – Diagrama de CU es un concepto clave en casos de uso. - Este slide presenta la definición y características principales. </a:t>
            </a:r>
          </a:p>
          <a:p/>
          <a:p>
            <a:r>
              <a:t>Ejemplos: **Global Exchange (conductor):** podemos aplicar caso de estudio – diagrama de cu para definir los casos de uso del sistema de cambio de divisas. **Segundo contexto industrial:** en un sistema de turnos, caso de estudio – diagrama de cu ayuda a organizar las necesidades del hospital. </a:t>
            </a:r>
          </a:p>
          <a:p/>
          <a:p>
            <a:r>
              <a:t>Reflexión docente: Caso de Estudio – Diagrama de CU es fundamental para la calidad del software. </a:t>
            </a:r>
          </a:p>
          <a:p/>
          <a:p>
            <a:r>
              <a:t>Pregunta desafío: ¿por qué es importante caso de estudio – diagrama de cu? </a:t>
            </a:r>
          </a:p>
          <a:p/>
          <a:p>
            <a:r>
              <a:t>Respuestas posibles:</a:t>
            </a:r>
          </a:p>
          <a:p/>
          <a:p>
            <a:r>
              <a:t>• Porque ayuda a definir qué debe hacer el sistema. </a:t>
            </a:r>
          </a:p>
          <a:p>
            <a:r>
              <a:t>• Porque facilita la comunicación entre clientes y desarrolladores. </a:t>
            </a:r>
          </a:p>
          <a:p>
            <a:r>
              <a:t>• Porque es la base para la verificación y validación. </a:t>
            </a:r>
          </a:p>
          <a:p/>
          <a:p>
            <a:r>
              <a:t>Advertencia: no confundir conceptos teóricos con su aplicación práctica.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Referencias es un concepto clave en casos de uso. - Este slide presenta la definición y características principales. </a:t>
            </a:r>
          </a:p>
          <a:p/>
          <a:p>
            <a:r>
              <a:t>Ejemplos: **Global Exchange (conductor):** podemos aplicar referencias para definir los casos de uso del sistema de cambio de divisas. **Segundo contexto industrial:** en un sistema de turnos, referencias ayuda a organizar las necesidades del hospital. </a:t>
            </a:r>
          </a:p>
          <a:p/>
          <a:p>
            <a:r>
              <a:t>Reflexión docente: Referencias es fundamental para la calidad del software. </a:t>
            </a:r>
          </a:p>
          <a:p/>
          <a:p>
            <a:r>
              <a:t>Pregunta desafío: ¿por qué es importante referencias? </a:t>
            </a:r>
          </a:p>
          <a:p/>
          <a:p>
            <a:r>
              <a:t>Respuestas posibles:</a:t>
            </a:r>
          </a:p>
          <a:p/>
          <a:p>
            <a:r>
              <a:t>• Porque ayuda a definir qué debe hacer el sistema. </a:t>
            </a:r>
          </a:p>
          <a:p>
            <a:r>
              <a:t>• Porque facilita la comunicación entre clientes y desarrolladores. </a:t>
            </a:r>
          </a:p>
          <a:p>
            <a:r>
              <a:t>• Porque es la base para la verificación y validación. </a:t>
            </a:r>
          </a:p>
          <a:p/>
          <a:p>
            <a:r>
              <a:t>Advertencia: no confundir conceptos teóricos con su aplicación práctica.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Muchas gracias es un concepto clave en casos de uso. - Este slide presenta la definición y características principales. </a:t>
            </a:r>
          </a:p>
          <a:p/>
          <a:p>
            <a:r>
              <a:t>Ejemplos: **Global Exchange (conductor):** podemos aplicar muchas gracias para definir los casos de uso del sistema de cambio de divisas. **Segundo contexto industrial:** en un sistema de turnos, muchas gracias ayuda a organizar las necesidades del hospital. </a:t>
            </a:r>
          </a:p>
          <a:p/>
          <a:p>
            <a:r>
              <a:t>Reflexión docente: Muchas gracias es fundamental para la calidad del software. </a:t>
            </a:r>
          </a:p>
          <a:p/>
          <a:p>
            <a:r>
              <a:t>Pregunta desafío: ¿por qué es importante muchas gracias? </a:t>
            </a:r>
          </a:p>
          <a:p/>
          <a:p>
            <a:r>
              <a:t>Respuestas posibles:</a:t>
            </a:r>
          </a:p>
          <a:p/>
          <a:p>
            <a:r>
              <a:t>• Porque ayuda a definir qué debe hacer el sistema. </a:t>
            </a:r>
          </a:p>
          <a:p>
            <a:r>
              <a:t>• Porque facilita la comunicación entre clientes y desarrolladores. </a:t>
            </a:r>
          </a:p>
          <a:p>
            <a:r>
              <a:t>• Porque es la base para la verificación y validación. </a:t>
            </a:r>
          </a:p>
          <a:p/>
          <a:p>
            <a:r>
              <a:t>Advertencia: no confundir conceptos teóricos con su aplicación práctica.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01 · APERTURA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Ingeniería de Software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01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UNIDAD IV – CASOS DE USO Y ESPECIFICACIÓN DE CASOS DE USO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5176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Prof. Lic. Guillermo Jacobo González Rodas Mst. PMP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02 · OBJETIVOS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OBJETIVOS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02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3505200" cy="10972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24912"/>
            <a:ext cx="31394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Comprender qué son los casos de uso y por qué son importantes.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8160" y="2286000"/>
            <a:ext cx="3505200" cy="10972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040" y="2395728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40" y="2724912"/>
            <a:ext cx="31394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Familiarizarse con los diagramas de caso de uso y relaciones.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3400" y="2286000"/>
            <a:ext cx="3505200" cy="10972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6280" y="2395728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6280" y="2724912"/>
            <a:ext cx="31394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Conocer una plantilla estándar para especificación de casos de uso.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03 · RECORRIDO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CONTENIDO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03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01  Casos de Uso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70048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02  Diagrama de Casos de Uso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54096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03  Actores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38144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04  Relaciones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822191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05  Especificación de Casos de Uso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06240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06  Plantilla Estándar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04 · 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¿Qué es un Caso de Uso?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04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Un caso de uso es una técnica utilizada en el diseño de sistemas de software para describir cómo un usuario interactúa con un sistema para lograr una tarea o función específica.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71216"/>
            <a:ext cx="5417820" cy="10972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80944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10128"/>
            <a:ext cx="505205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Conjunto de escenarios que tienen una meta de usuario en común.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0779" y="2871216"/>
            <a:ext cx="5417820" cy="10972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59" y="2980944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3659" y="3310128"/>
            <a:ext cx="505205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Descripción de un proceso de inicio a fin, relativamente largo, que incluye varias etapas o transacciones.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197096"/>
            <a:ext cx="541782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306824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36008"/>
            <a:ext cx="50520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Presenta un uso particular del sistema.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79" y="4197096"/>
            <a:ext cx="541782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3659" y="4306824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3659" y="4636008"/>
            <a:ext cx="50520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Describe una funcionalidad del sistema.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294376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AYUDA a definir los límites del sistema, y las relaciones entre el sistema y su entorno.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05 · FORMAS DE DESCRIBIR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Casos de 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05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Formas de describir: Diagramas de Casos de Uso y Especificación de Casos de Uso.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33472"/>
            <a:ext cx="5417820" cy="347472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40779" y="2633472"/>
            <a:ext cx="5417820" cy="347472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06 · PREPARACIÓN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Cómo preparar Casos de 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06 / 22</a:t>
            </a:r>
          </a:p>
        </p:txBody>
      </p:sp>
      <p:pic>
        <p:nvPicPr>
          <p:cNvPr id="9" name="Picture 8" descr="cómo-preparar-casos-de-uso-41793d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07 · PROCESO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Proceso de Casos de 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07 / 22</a:t>
            </a:r>
          </a:p>
        </p:txBody>
      </p:sp>
      <p:pic>
        <p:nvPicPr>
          <p:cNvPr id="9" name="Picture 8" descr="proceso-de-casos-de-uso-99642e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08 · ELEMENTOS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Diagrama de Casos de 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08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417820" cy="1170432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24912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4A8A"/>
                </a:solidFill>
                <a:latin typeface="Calibri"/>
              </a:rPr>
              <a:t>Límites del Sistema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80944"/>
            <a:ext cx="50520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El recuadro que encierra los casos de uso.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0779" y="2286000"/>
            <a:ext cx="5417820" cy="1170432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59" y="2395728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3659" y="2724912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4A8A"/>
                </a:solidFill>
                <a:latin typeface="Calibri"/>
              </a:rPr>
              <a:t>Actores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3659" y="2980944"/>
            <a:ext cx="50520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Usuarios o sistemas externos que interactúan.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67912"/>
            <a:ext cx="5417820" cy="1170432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977640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06824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4A8A"/>
                </a:solidFill>
                <a:latin typeface="Calibri"/>
              </a:rPr>
              <a:t>Casos de Uso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62856"/>
            <a:ext cx="50520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Funcionalidades que el sistema ofrece.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0779" y="3867912"/>
            <a:ext cx="5417820" cy="1353312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3659" y="3977640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3659" y="4306824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4A8A"/>
                </a:solidFill>
                <a:latin typeface="Calibri"/>
              </a:rPr>
              <a:t>Relaciones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3659" y="4562856"/>
            <a:ext cx="505205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Asociación, generalización/especialización, inclusión y extensión.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09 · NOTACIÓN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Diagrama de Casos de 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09 / 22</a:t>
            </a:r>
          </a:p>
        </p:txBody>
      </p:sp>
      <p:pic>
        <p:nvPicPr>
          <p:cNvPr id="9" name="Picture 8" descr="diagrama-cu-not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10 · EJEMPLO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Casos de Uso “Crear mensaje en el foro”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10 / 22</a:t>
            </a:r>
          </a:p>
        </p:txBody>
      </p:sp>
      <p:pic>
        <p:nvPicPr>
          <p:cNvPr id="9" name="Picture 8" descr="casos-de-uso--crear-mensaje-en-52e4da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11 · RELACIÓN INCLUDE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Casos de Uso – Relación Include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11 / 22</a:t>
            </a:r>
          </a:p>
        </p:txBody>
      </p:sp>
      <p:pic>
        <p:nvPicPr>
          <p:cNvPr id="9" name="Picture 8" descr="casos-de-uso---relación-includ-497e56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12 · RELACIÓN EXTEND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Casos de Uso – Relación Extend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12 / 22</a:t>
            </a:r>
          </a:p>
        </p:txBody>
      </p:sp>
      <p:pic>
        <p:nvPicPr>
          <p:cNvPr id="9" name="Picture 8" descr="casos-de-uso---relación-extend-dca384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13 · MAL USO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Mal uso de las relaciones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13 / 22</a:t>
            </a:r>
          </a:p>
        </p:txBody>
      </p:sp>
      <p:pic>
        <p:nvPicPr>
          <p:cNvPr id="9" name="Picture 8" descr="mal-uso-de-las-relaciones-b8d678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14 · ESPECIFICACIÓN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Especificación de Casos de 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14 / 22</a:t>
            </a:r>
          </a:p>
        </p:txBody>
      </p:sp>
      <p:pic>
        <p:nvPicPr>
          <p:cNvPr id="9" name="Picture 8" descr="especificación-de-casos-de-uso-0282e4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15 · ESPECIFICACIÓN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Especificación de Casos de 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15 / 22</a:t>
            </a:r>
          </a:p>
        </p:txBody>
      </p:sp>
      <p:pic>
        <p:nvPicPr>
          <p:cNvPr id="9" name="Picture 8" descr="especificación-de-casos-de-uso-c9a075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16 · ESPECIFICACIÓN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Especificación de Casos de 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16 / 22</a:t>
            </a:r>
          </a:p>
        </p:txBody>
      </p:sp>
      <p:pic>
        <p:nvPicPr>
          <p:cNvPr id="9" name="Picture 8" descr="especificación-de-casos-de-uso-8dd970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17 · ESPECIFICACIÓN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Especificación de CU “Crear mensaje en el foro”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17 / 22</a:t>
            </a:r>
          </a:p>
        </p:txBody>
      </p:sp>
      <p:pic>
        <p:nvPicPr>
          <p:cNvPr id="9" name="Picture 8" descr="especificación-de-cu--crear-me-e338dd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18 · ESPECIFICACIÓN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Especificación de CU “Crear mensaje en el foro”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18 / 22</a:t>
            </a:r>
          </a:p>
        </p:txBody>
      </p:sp>
      <p:pic>
        <p:nvPicPr>
          <p:cNvPr id="9" name="Picture 8" descr="especificación-de-cu--crear-me-d4d334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19 · CASO DE ESTUDIO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Caso de Estudio – Diagrama de 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19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Caso de Estudio – Diagrama de 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33472"/>
            <a:ext cx="111556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Preparar diagramas de los casos de usos respectivos para la interacción de un estudiante con el sistema de correos electrónico.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20 · CASO DE ESTUDIO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Caso de Estudio – Diagrama de 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20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 i="0">
                <a:solidFill>
                  <a:srgbClr val="1F2937"/>
                </a:solidFill>
                <a:latin typeface="Calibri"/>
              </a:rPr>
              <a:t>Estudiante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33472"/>
            <a:ext cx="5417820" cy="832103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C4A8A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17520"/>
            <a:ext cx="5052059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" b="0" i="0">
                <a:solidFill>
                  <a:srgbClr val="1F2937"/>
                </a:solidFill>
                <a:latin typeface="Calibri"/>
              </a:rPr>
              <a:t>Consultar correos.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0779" y="2633472"/>
            <a:ext cx="5417820" cy="832103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59" y="2743200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C4A8A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3659" y="3017520"/>
            <a:ext cx="5052059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" b="0" i="0">
                <a:solidFill>
                  <a:srgbClr val="1F2937"/>
                </a:solidFill>
                <a:latin typeface="Calibri"/>
              </a:rPr>
              <a:t>Enviar correo.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94176"/>
            <a:ext cx="5417820" cy="832103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03904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C4A8A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78224"/>
            <a:ext cx="5052059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" b="0" i="0">
                <a:solidFill>
                  <a:srgbClr val="1F2937"/>
                </a:solidFill>
                <a:latin typeface="Calibri"/>
              </a:rPr>
              <a:t>Redactar Correo.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79" y="3694176"/>
            <a:ext cx="5417820" cy="832103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3659" y="3803904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C4A8A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3659" y="4078224"/>
            <a:ext cx="5052059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" b="0" i="0">
                <a:solidFill>
                  <a:srgbClr val="1F2937"/>
                </a:solidFill>
                <a:latin typeface="Calibri"/>
              </a:rPr>
              <a:t>Borrar correos.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754879"/>
            <a:ext cx="5417820" cy="832103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864607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C4A8A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138927"/>
            <a:ext cx="5052059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" b="0" i="0">
                <a:solidFill>
                  <a:srgbClr val="1F2937"/>
                </a:solidFill>
                <a:latin typeface="Calibri"/>
              </a:rPr>
              <a:t>Recibir correos.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0779" y="4754879"/>
            <a:ext cx="5417820" cy="832103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3659" y="4864607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C4A8A"/>
                </a:solidFill>
                <a:latin typeface="Calibr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3659" y="5138927"/>
            <a:ext cx="5052059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" b="0" i="0">
                <a:solidFill>
                  <a:srgbClr val="1F2937"/>
                </a:solidFill>
                <a:latin typeface="Calibri"/>
              </a:rPr>
              <a:t>Reenviar Correo «&lt;&lt;Include&gt;&gt;» de Enviar correo.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815583"/>
            <a:ext cx="5417820" cy="832103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925312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C4A8A"/>
                </a:solidFill>
                <a:latin typeface="Calibri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199631"/>
            <a:ext cx="5052059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" b="0" i="0">
                <a:solidFill>
                  <a:srgbClr val="1F2937"/>
                </a:solidFill>
                <a:latin typeface="Calibri"/>
              </a:rPr>
              <a:t>Adjuntar archivos «&lt;&lt;Extend&gt;&gt;» de Enviar correo.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21 · REFERENCIAS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Referencias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21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Referencias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33472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http://agilismoatwork.blogspot.com/2012/12/actividad-tablero-kanban-concepto-de.html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80944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http://agilismoatwork.blogspot.com/2011/11/implantando-roles-agiles-parte-i-los.html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28415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http://agilismoatwork.blogspot.com/2014/05/backlog-todo-el-trabajo-pendiente-del.html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75887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https://proyectosagiles.org/que-es-scrum/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22 · CIERRE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Muchas gracias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22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MUCHAS GRACIAS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5176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C4A8A"/>
                </a:solidFill>
                <a:latin typeface="Calibri"/>
              </a:rPr>
              <a:t>PREGUNTAS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