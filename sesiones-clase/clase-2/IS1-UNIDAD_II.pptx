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50"/>
  </p:notesMasterIdLst>
  <p:handoutMasterIdLst>
    <p:handoutMasterId r:id="rId51"/>
  </p:handoutMasterIdLst>
  <p:sldIdLst>
    <p:sldId id="258" r:id="rId2"/>
    <p:sldId id="259" r:id="rId3"/>
    <p:sldId id="300" r:id="rId4"/>
    <p:sldId id="301" r:id="rId5"/>
    <p:sldId id="433" r:id="rId6"/>
    <p:sldId id="302" r:id="rId7"/>
    <p:sldId id="303" r:id="rId8"/>
    <p:sldId id="304" r:id="rId9"/>
    <p:sldId id="350" r:id="rId10"/>
    <p:sldId id="434" r:id="rId11"/>
    <p:sldId id="435" r:id="rId12"/>
    <p:sldId id="436" r:id="rId13"/>
    <p:sldId id="408" r:id="rId14"/>
    <p:sldId id="437" r:id="rId15"/>
    <p:sldId id="409" r:id="rId16"/>
    <p:sldId id="438" r:id="rId17"/>
    <p:sldId id="410" r:id="rId18"/>
    <p:sldId id="439" r:id="rId19"/>
    <p:sldId id="411" r:id="rId20"/>
    <p:sldId id="412" r:id="rId21"/>
    <p:sldId id="440" r:id="rId22"/>
    <p:sldId id="441" r:id="rId23"/>
    <p:sldId id="442" r:id="rId24"/>
    <p:sldId id="443" r:id="rId25"/>
    <p:sldId id="444" r:id="rId26"/>
    <p:sldId id="445" r:id="rId27"/>
    <p:sldId id="414" r:id="rId28"/>
    <p:sldId id="415" r:id="rId29"/>
    <p:sldId id="416" r:id="rId30"/>
    <p:sldId id="354" r:id="rId31"/>
    <p:sldId id="417" r:id="rId32"/>
    <p:sldId id="447" r:id="rId33"/>
    <p:sldId id="448" r:id="rId34"/>
    <p:sldId id="449" r:id="rId35"/>
    <p:sldId id="355" r:id="rId36"/>
    <p:sldId id="450" r:id="rId37"/>
    <p:sldId id="420" r:id="rId38"/>
    <p:sldId id="453" r:id="rId39"/>
    <p:sldId id="454" r:id="rId40"/>
    <p:sldId id="455" r:id="rId41"/>
    <p:sldId id="456" r:id="rId42"/>
    <p:sldId id="457" r:id="rId43"/>
    <p:sldId id="421" r:id="rId44"/>
    <p:sldId id="422" r:id="rId45"/>
    <p:sldId id="451" r:id="rId46"/>
    <p:sldId id="446" r:id="rId47"/>
    <p:sldId id="423" r:id="rId48"/>
    <p:sldId id="452"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779" autoAdjust="0"/>
    <p:restoredTop sz="94660"/>
  </p:normalViewPr>
  <p:slideViewPr>
    <p:cSldViewPr snapToGrid="0">
      <p:cViewPr>
        <p:scale>
          <a:sx n="80" d="100"/>
          <a:sy n="80" d="100"/>
        </p:scale>
        <p:origin x="-144" y="1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dirty="0"/>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E77ADF-0F94-46A2-86EC-E73A7A70F765}" type="datetimeFigureOut">
              <a:rPr lang="es-ES" smtClean="0"/>
              <a:pPr/>
              <a:t>24/02/2024</a:t>
            </a:fld>
            <a:endParaRPr lang="es-ES" dirty="0"/>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dirty="0"/>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E96E460-1AC9-4275-9386-A53F53C7B285}" type="slidenum">
              <a:rPr lang="es-ES" smtClean="0"/>
              <a:pPr/>
              <a:t>‹Nº›</a:t>
            </a:fld>
            <a:endParaRPr lang="es-E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231F1E-A743-4D85-8806-56F868480165}" type="datetimeFigureOut">
              <a:rPr lang="es-ES" smtClean="0"/>
              <a:pPr/>
              <a:t>24/02/2024</a:t>
            </a:fld>
            <a:endParaRPr lang="es-ES" dirty="0"/>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CED2CB-BC42-4347-BB38-347C1F6EDFF6}" type="slidenum">
              <a:rPr lang="es-ES" smtClean="0"/>
              <a:pPr/>
              <a:t>‹Nº›</a:t>
            </a:fld>
            <a:endParaRPr lang="es-E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ítulo y descripción">
    <p:bg>
      <p:bgPr>
        <a:gradFill rotWithShape="1">
          <a:gsLst>
            <a:gs pos="10000">
              <a:schemeClr val="tx1">
                <a:lumMod val="65000"/>
              </a:schemeClr>
            </a:gs>
            <a:gs pos="100000">
              <a:srgbClr val="0070C0"/>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style>
          <a:lnRef idx="2">
            <a:schemeClr val="accent1"/>
          </a:lnRef>
          <a:fillRef idx="1">
            <a:schemeClr val="lt1"/>
          </a:fillRef>
          <a:effectRef idx="0">
            <a:schemeClr val="accent1"/>
          </a:effectRef>
          <a:fontRef idx="none"/>
        </p:style>
        <p:txBody>
          <a:bodyPr anchor="ctr">
            <a:normAutofit/>
          </a:bodyPr>
          <a:lstStyle>
            <a:lvl1pPr algn="l">
              <a:defRPr sz="4000" b="0" cap="all">
                <a:solidFill>
                  <a:srgbClr val="002060"/>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4212" y="3671451"/>
            <a:ext cx="8535988" cy="1016499"/>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lvl1pPr>
              <a:defRPr>
                <a:solidFill>
                  <a:schemeClr val="tx1"/>
                </a:solidFill>
              </a:defRPr>
            </a:lvl1pPr>
          </a:lstStyle>
          <a:p>
            <a:fld id="{48A87A34-81AB-432B-8DAE-1953F412C126}" type="datetimeFigureOut">
              <a:rPr lang="en-US" smtClean="0"/>
              <a:pPr/>
              <a:t>2/24/2024</a:t>
            </a:fld>
            <a:endParaRPr lang="en-US" dirty="0"/>
          </a:p>
        </p:txBody>
      </p:sp>
      <p:pic>
        <p:nvPicPr>
          <p:cNvPr id="9" name="Imagen 8"/>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0" y="5024849"/>
            <a:ext cx="12192000" cy="1857451"/>
          </a:xfrm>
          <a:prstGeom prst="rect">
            <a:avLst/>
          </a:prstGeom>
        </p:spPr>
      </p:pic>
      <p:pic>
        <p:nvPicPr>
          <p:cNvPr id="10" name="Imagen 9"/>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10767974" y="5243715"/>
            <a:ext cx="743758" cy="1111047"/>
          </a:xfrm>
          <a:prstGeom prst="rect">
            <a:avLst/>
          </a:prstGeom>
        </p:spPr>
      </p:pic>
    </p:spTree>
    <p:extLst>
      <p:ext uri="{BB962C8B-B14F-4D97-AF65-F5344CB8AC3E}">
        <p14:creationId xmlns="" xmlns:p14="http://schemas.microsoft.com/office/powerpoint/2010/main" val="3009638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solidFill>
                  <a:srgbClr val="002060"/>
                </a:solidFill>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rgbClr val="00206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pic>
        <p:nvPicPr>
          <p:cNvPr id="7" name="Imagen 6"/>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0" y="4692362"/>
            <a:ext cx="12139918" cy="2241838"/>
          </a:xfrm>
          <a:prstGeom prst="rect">
            <a:avLst/>
          </a:prstGeom>
        </p:spPr>
      </p:pic>
    </p:spTree>
    <p:extLst>
      <p:ext uri="{BB962C8B-B14F-4D97-AF65-F5344CB8AC3E}">
        <p14:creationId xmlns="" xmlns:p14="http://schemas.microsoft.com/office/powerpoint/2010/main" val="2225427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1_Diapositiva de título">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2" y="1527921"/>
            <a:ext cx="8001000" cy="2971801"/>
          </a:xfrm>
        </p:spPr>
        <p:txBody>
          <a:bodyPr anchor="b">
            <a:normAutofit/>
          </a:bodyPr>
          <a:lstStyle>
            <a:lvl1pPr algn="l">
              <a:defRPr sz="4800">
                <a:solidFill>
                  <a:srgbClr val="002060"/>
                </a:solidFill>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684212" y="4635594"/>
            <a:ext cx="6400800" cy="1109133"/>
          </a:xfrm>
        </p:spPr>
        <p:txBody>
          <a:bodyPr anchor="t">
            <a:normAutofit/>
          </a:bodyPr>
          <a:lstStyle>
            <a:lvl1pPr marL="0" indent="0" algn="l">
              <a:buNone/>
              <a:defRPr sz="2100">
                <a:solidFill>
                  <a:srgbClr val="00206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pic>
        <p:nvPicPr>
          <p:cNvPr id="10" name="Imagen 9"/>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0" y="-180198"/>
            <a:ext cx="12192000" cy="1857451"/>
          </a:xfrm>
          <a:prstGeom prst="rect">
            <a:avLst/>
          </a:prstGeom>
        </p:spPr>
      </p:pic>
      <p:pic>
        <p:nvPicPr>
          <p:cNvPr id="12" name="Imagen 11"/>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10922376" y="158849"/>
            <a:ext cx="743758" cy="1111047"/>
          </a:xfrm>
          <a:prstGeom prst="rect">
            <a:avLst/>
          </a:prstGeom>
        </p:spPr>
      </p:pic>
    </p:spTree>
    <p:extLst>
      <p:ext uri="{BB962C8B-B14F-4D97-AF65-F5344CB8AC3E}">
        <p14:creationId xmlns="" xmlns:p14="http://schemas.microsoft.com/office/powerpoint/2010/main" val="2071510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lvl1pPr>
              <a:defRPr>
                <a:solidFill>
                  <a:srgbClr val="0070C0"/>
                </a:solidFill>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solidFill>
            <a:schemeClr val="tx1"/>
          </a:solidFill>
        </p:spPr>
        <p:txBody>
          <a:bodyPr anchor="ctr"/>
          <a:lstStyle>
            <a:lvl1pPr>
              <a:defRPr>
                <a:solidFill>
                  <a:srgbClr val="0070C0"/>
                </a:solidFill>
              </a:defRPr>
            </a:lvl1pPr>
            <a:lvl2pPr>
              <a:defRPr>
                <a:solidFill>
                  <a:srgbClr val="0070C0"/>
                </a:solidFill>
              </a:defRPr>
            </a:lvl2pPr>
            <a:lvl3pPr>
              <a:defRPr>
                <a:solidFill>
                  <a:srgbClr val="0070C0"/>
                </a:solidFill>
              </a:defRPr>
            </a:lvl3pPr>
            <a:lvl4pPr>
              <a:defRPr>
                <a:solidFill>
                  <a:srgbClr val="0070C0"/>
                </a:solidFill>
              </a:defRPr>
            </a:lvl4pPr>
            <a:lvl5pPr>
              <a:defRPr>
                <a:solidFill>
                  <a:srgbClr val="0070C0"/>
                </a:solidFill>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48A87A34-81AB-432B-8DAE-1953F412C126}" type="datetimeFigureOut">
              <a:rPr lang="en-US" smtClean="0"/>
              <a:pPr/>
              <a:t>2/24/2024</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‹Nº›</a:t>
            </a:fld>
            <a:endParaRPr lang="en-US" dirty="0"/>
          </a:p>
        </p:txBody>
      </p:sp>
      <p:pic>
        <p:nvPicPr>
          <p:cNvPr id="8" name="Imagen 7"/>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10934322" y="285349"/>
            <a:ext cx="743758" cy="1111047"/>
          </a:xfrm>
          <a:prstGeom prst="rect">
            <a:avLst/>
          </a:prstGeom>
        </p:spPr>
      </p:pic>
    </p:spTree>
    <p:extLst>
      <p:ext uri="{BB962C8B-B14F-4D97-AF65-F5344CB8AC3E}">
        <p14:creationId xmlns="" xmlns:p14="http://schemas.microsoft.com/office/powerpoint/2010/main" val="3214330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lvl1pPr>
              <a:defRPr>
                <a:solidFill>
                  <a:schemeClr val="tx1"/>
                </a:solidFill>
              </a:defRPr>
            </a:lvl1pPr>
          </a:lstStyle>
          <a:p>
            <a:fld id="{48A87A34-81AB-432B-8DAE-1953F412C126}" type="datetimeFigureOut">
              <a:rPr lang="en-US" smtClean="0"/>
              <a:pPr/>
              <a:t>2/24/2024</a:t>
            </a:fld>
            <a:endParaRPr lang="en-US" dirty="0"/>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‹Nº›</a:t>
            </a:fld>
            <a:endParaRPr lang="en-US" dirty="0"/>
          </a:p>
        </p:txBody>
      </p:sp>
      <p:pic>
        <p:nvPicPr>
          <p:cNvPr id="9" name="Imagen 8"/>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11132733" y="220954"/>
            <a:ext cx="743758" cy="1111047"/>
          </a:xfrm>
          <a:prstGeom prst="rect">
            <a:avLst/>
          </a:prstGeom>
        </p:spPr>
      </p:pic>
    </p:spTree>
    <p:extLst>
      <p:ext uri="{BB962C8B-B14F-4D97-AF65-F5344CB8AC3E}">
        <p14:creationId xmlns="" xmlns:p14="http://schemas.microsoft.com/office/powerpoint/2010/main" val="1428436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Imagen 6"/>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0" y="-180198"/>
            <a:ext cx="12192000" cy="1857451"/>
          </a:xfrm>
          <a:prstGeom prst="rect">
            <a:avLst/>
          </a:prstGeom>
        </p:spPr>
      </p:pic>
      <p:pic>
        <p:nvPicPr>
          <p:cNvPr id="4" name="Imagen 3"/>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10922520" y="193003"/>
            <a:ext cx="743758" cy="1111047"/>
          </a:xfrm>
          <a:prstGeom prst="rect">
            <a:avLst/>
          </a:prstGeom>
        </p:spPr>
      </p:pic>
    </p:spTree>
    <p:extLst>
      <p:ext uri="{BB962C8B-B14F-4D97-AF65-F5344CB8AC3E}">
        <p14:creationId xmlns="" xmlns:p14="http://schemas.microsoft.com/office/powerpoint/2010/main" val="236067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solidFill>
                  <a:schemeClr val="tx1"/>
                </a:solidFill>
              </a:defRPr>
            </a:lvl1pPr>
          </a:lstStyle>
          <a:p>
            <a:r>
              <a:rPr lang="es-ES" smtClean="0"/>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smtClean="0"/>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lvl1pPr>
              <a:defRPr>
                <a:solidFill>
                  <a:schemeClr val="tx1"/>
                </a:solidFill>
              </a:defRPr>
            </a:lvl1pPr>
          </a:lstStyle>
          <a:p>
            <a:fld id="{48A87A34-81AB-432B-8DAE-1953F412C126}" type="datetimeFigureOut">
              <a:rPr lang="en-US" smtClean="0"/>
              <a:pPr/>
              <a:t>2/24/2024</a:t>
            </a:fld>
            <a:endParaRPr lang="en-US" dirty="0"/>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‹Nº›</a:t>
            </a:fld>
            <a:endParaRPr lang="en-US" dirty="0"/>
          </a:p>
        </p:txBody>
      </p:sp>
      <p:pic>
        <p:nvPicPr>
          <p:cNvPr id="9" name="Imagen 8"/>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10825147" y="4375353"/>
            <a:ext cx="743758" cy="1111047"/>
          </a:xfrm>
          <a:prstGeom prst="rect">
            <a:avLst/>
          </a:prstGeom>
        </p:spPr>
      </p:pic>
    </p:spTree>
    <p:extLst>
      <p:ext uri="{BB962C8B-B14F-4D97-AF65-F5344CB8AC3E}">
        <p14:creationId xmlns="" xmlns:p14="http://schemas.microsoft.com/office/powerpoint/2010/main" val="227778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s-ES" smtClean="0"/>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smtClean="0"/>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Date Placeholder 2"/>
          <p:cNvSpPr>
            <a:spLocks noGrp="1"/>
          </p:cNvSpPr>
          <p:nvPr>
            <p:ph type="dt" sz="half" idx="10"/>
          </p:nvPr>
        </p:nvSpPr>
        <p:spPr/>
        <p:txBody>
          <a:bodyPr/>
          <a:lstStyle>
            <a:lvl1pPr>
              <a:defRPr>
                <a:solidFill>
                  <a:schemeClr val="tx1"/>
                </a:solidFill>
              </a:defRPr>
            </a:lvl1pPr>
          </a:lstStyle>
          <a:p>
            <a:fld id="{48A87A34-81AB-432B-8DAE-1953F412C126}" type="datetimeFigureOut">
              <a:rPr lang="en-US" smtClean="0"/>
              <a:pPr/>
              <a:t>2/24/2024</a:t>
            </a:fld>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‹Nº›</a:t>
            </a:fld>
            <a:endParaRPr lang="en-US" dirty="0"/>
          </a:p>
        </p:txBody>
      </p:sp>
      <p:pic>
        <p:nvPicPr>
          <p:cNvPr id="6" name="Imagen 5"/>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10704512" y="4487332"/>
            <a:ext cx="1045918" cy="1004081"/>
          </a:xfrm>
          <a:prstGeom prst="rect">
            <a:avLst/>
          </a:prstGeom>
        </p:spPr>
      </p:pic>
    </p:spTree>
    <p:extLst>
      <p:ext uri="{BB962C8B-B14F-4D97-AF65-F5344CB8AC3E}">
        <p14:creationId xmlns="" xmlns:p14="http://schemas.microsoft.com/office/powerpoint/2010/main" val="3532431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48A87A34-81AB-432B-8DAE-1953F412C126}" type="datetimeFigureOut">
              <a:rPr lang="en-US" smtClean="0"/>
              <a:pPr/>
              <a:t>2/24/2024</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D22F896-40B5-4ADD-8801-0D06FADFA095}" type="slidenum">
              <a:rPr lang="en-US" smtClean="0"/>
              <a:pPr/>
              <a:t>‹Nº›</a:t>
            </a:fld>
            <a:endParaRPr lang="en-US" dirty="0"/>
          </a:p>
        </p:txBody>
      </p:sp>
      <p:pic>
        <p:nvPicPr>
          <p:cNvPr id="9" name="Imagen 8"/>
          <p:cNvPicPr>
            <a:picLocks noChangeAspect="1"/>
          </p:cNvPicPr>
          <p:nvPr userDrawn="1"/>
        </p:nvPicPr>
        <p:blipFill>
          <a:blip r:embed="rId2">
            <a:extLst>
              <a:ext uri="{28A0092B-C50C-407E-A947-70E740481C1C}">
                <a14:useLocalDpi xmlns="" xmlns:a14="http://schemas.microsoft.com/office/drawing/2010/main" val="0"/>
              </a:ext>
            </a:extLst>
          </a:blip>
          <a:stretch>
            <a:fillRect/>
          </a:stretch>
        </p:blipFill>
        <p:spPr>
          <a:xfrm>
            <a:off x="10934322" y="298227"/>
            <a:ext cx="743758" cy="1111047"/>
          </a:xfrm>
          <a:prstGeom prst="rect">
            <a:avLst/>
          </a:prstGeom>
        </p:spPr>
      </p:pic>
    </p:spTree>
    <p:extLst>
      <p:ext uri="{BB962C8B-B14F-4D97-AF65-F5344CB8AC3E}">
        <p14:creationId xmlns="" xmlns:p14="http://schemas.microsoft.com/office/powerpoint/2010/main" val="4015744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10000">
              <a:schemeClr val="bg1">
                <a:lumMod val="50000"/>
                <a:lumOff val="50000"/>
              </a:schemeClr>
            </a:gs>
            <a:gs pos="100000">
              <a:srgbClr val="0070C0"/>
            </a:gs>
          </a:gsLst>
          <a:lin ang="6120000" scaled="1"/>
        </a:grad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tx1"/>
                </a:solidFill>
                <a:effectLst/>
                <a:latin typeface="+mn-lt"/>
              </a:defRPr>
            </a:lvl1pPr>
          </a:lstStyle>
          <a:p>
            <a:fld id="{48A87A34-81AB-432B-8DAE-1953F412C126}" type="datetimeFigureOut">
              <a:rPr lang="en-US" smtClean="0"/>
              <a:pPr/>
              <a:t>2/24/2024</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tx1"/>
                </a:solidFill>
                <a:effectLst/>
                <a:latin typeface="+mn-lt"/>
              </a:defRPr>
            </a:lvl1pPr>
          </a:lstStyle>
          <a:p>
            <a:fld id="{6D22F896-40B5-4ADD-8801-0D06FADFA095}" type="slidenum">
              <a:rPr lang="en-US" smtClean="0"/>
              <a:pPr/>
              <a:t>‹Nº›</a:t>
            </a:fld>
            <a:endParaRPr lang="en-US" dirty="0"/>
          </a:p>
        </p:txBody>
      </p:sp>
    </p:spTree>
    <p:extLst>
      <p:ext uri="{BB962C8B-B14F-4D97-AF65-F5344CB8AC3E}">
        <p14:creationId xmlns="" xmlns:p14="http://schemas.microsoft.com/office/powerpoint/2010/main" val="1709356788"/>
      </p:ext>
    </p:extLst>
  </p:cSld>
  <p:clrMap bg1="dk1" tx1="lt1" bg2="dk2" tx2="lt2" accent1="accent1" accent2="accent2" accent3="accent3" accent4="accent4" accent5="accent5" accent6="accent6" hlink="hlink" folHlink="folHlink"/>
  <p:sldLayoutIdLst>
    <p:sldLayoutId id="2147483680" r:id="rId1"/>
    <p:sldLayoutId id="2147483670" r:id="rId2"/>
    <p:sldLayoutId id="2147483687" r:id="rId3"/>
    <p:sldLayoutId id="2147483671" r:id="rId4"/>
    <p:sldLayoutId id="2147483673" r:id="rId5"/>
    <p:sldLayoutId id="2147483676" r:id="rId6"/>
    <p:sldLayoutId id="2147483678" r:id="rId7"/>
    <p:sldLayoutId id="2147483679" r:id="rId8"/>
    <p:sldLayoutId id="2147483686" r:id="rId9"/>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ctrTitle"/>
          </p:nvPr>
        </p:nvSpPr>
        <p:spPr/>
        <p:txBody>
          <a:bodyPr/>
          <a:lstStyle/>
          <a:p>
            <a:r>
              <a:rPr lang="en-US" dirty="0" smtClean="0"/>
              <a:t>INGENIERÍA DE</a:t>
            </a:r>
            <a:br>
              <a:rPr lang="en-US" dirty="0" smtClean="0"/>
            </a:br>
            <a:r>
              <a:rPr lang="en-US" dirty="0" smtClean="0"/>
              <a:t>SOFTWARE I</a:t>
            </a:r>
            <a:endParaRPr lang="en-US" dirty="0"/>
          </a:p>
        </p:txBody>
      </p:sp>
      <p:sp>
        <p:nvSpPr>
          <p:cNvPr id="5" name="Subtítulo 4"/>
          <p:cNvSpPr>
            <a:spLocks noGrp="1"/>
          </p:cNvSpPr>
          <p:nvPr>
            <p:ph type="subTitle" idx="1"/>
          </p:nvPr>
        </p:nvSpPr>
        <p:spPr>
          <a:xfrm>
            <a:off x="684212" y="4635594"/>
            <a:ext cx="10471468" cy="767679"/>
          </a:xfrm>
        </p:spPr>
        <p:txBody>
          <a:bodyPr/>
          <a:lstStyle/>
          <a:p>
            <a:r>
              <a:rPr lang="es-ES" dirty="0" smtClean="0"/>
              <a:t>UNIDAD II – MODELOS DE DESARROLLO DE SOFTWARE Y </a:t>
            </a:r>
            <a:r>
              <a:rPr lang="en-GB" dirty="0" smtClean="0"/>
              <a:t>DESARROLLO RÁPIDO DEL SOFTWARE</a:t>
            </a:r>
            <a:endParaRPr lang="en-US" dirty="0"/>
          </a:p>
        </p:txBody>
      </p:sp>
      <p:sp>
        <p:nvSpPr>
          <p:cNvPr id="6" name="5 CuadroTexto"/>
          <p:cNvSpPr txBox="1"/>
          <p:nvPr/>
        </p:nvSpPr>
        <p:spPr>
          <a:xfrm>
            <a:off x="729079" y="5547885"/>
            <a:ext cx="6350593" cy="369332"/>
          </a:xfrm>
          <a:prstGeom prst="rect">
            <a:avLst/>
          </a:prstGeom>
          <a:noFill/>
        </p:spPr>
        <p:txBody>
          <a:bodyPr wrap="square" rtlCol="0">
            <a:spAutoFit/>
          </a:bodyPr>
          <a:lstStyle/>
          <a:p>
            <a:r>
              <a:rPr lang="es-ES" dirty="0" smtClean="0">
                <a:solidFill>
                  <a:srgbClr val="002060"/>
                </a:solidFill>
              </a:rPr>
              <a:t>Prof. Ing. Julia Talavera</a:t>
            </a:r>
            <a:endParaRPr lang="es-ES" dirty="0">
              <a:solidFill>
                <a:srgbClr val="002060"/>
              </a:solidFill>
            </a:endParaRPr>
          </a:p>
        </p:txBody>
      </p:sp>
    </p:spTree>
    <p:extLst>
      <p:ext uri="{BB962C8B-B14F-4D97-AF65-F5344CB8AC3E}">
        <p14:creationId xmlns="" xmlns:p14="http://schemas.microsoft.com/office/powerpoint/2010/main" val="974699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lstStyle/>
          <a:p>
            <a:r>
              <a:rPr lang="es-ES" dirty="0" smtClean="0"/>
              <a:t>OBJETIVOS</a:t>
            </a:r>
            <a:endParaRPr lang="en-US" dirty="0"/>
          </a:p>
        </p:txBody>
      </p:sp>
      <p:sp>
        <p:nvSpPr>
          <p:cNvPr id="4" name="3 CuadroTexto"/>
          <p:cNvSpPr txBox="1"/>
          <p:nvPr/>
        </p:nvSpPr>
        <p:spPr>
          <a:xfrm>
            <a:off x="748108" y="2312398"/>
            <a:ext cx="10858576" cy="1701684"/>
          </a:xfrm>
          <a:prstGeom prst="rect">
            <a:avLst/>
          </a:prstGeom>
          <a:noFill/>
        </p:spPr>
        <p:txBody>
          <a:bodyPr wrap="square" rtlCol="0">
            <a:spAutoFit/>
          </a:bodyPr>
          <a:lstStyle/>
          <a:p>
            <a:pPr marL="266700" indent="-266700">
              <a:lnSpc>
                <a:spcPct val="150000"/>
              </a:lnSpc>
              <a:buFont typeface="Wingdings" pitchFamily="2" charset="2"/>
              <a:buChar char="q"/>
            </a:pPr>
            <a:r>
              <a:rPr lang="es-ES" altLang="es-ES" dirty="0" smtClean="0">
                <a:solidFill>
                  <a:srgbClr val="002060"/>
                </a:solidFill>
              </a:rPr>
              <a:t>Entender las diferencias entre los métodos tradicionales de desarrollo y los métodos ágiles.</a:t>
            </a:r>
          </a:p>
          <a:p>
            <a:pPr marL="266700" indent="-266700">
              <a:lnSpc>
                <a:spcPct val="150000"/>
              </a:lnSpc>
              <a:buFont typeface="Wingdings" pitchFamily="2" charset="2"/>
              <a:buChar char="q"/>
            </a:pPr>
            <a:r>
              <a:rPr lang="es-ES" altLang="es-ES" dirty="0" smtClean="0">
                <a:solidFill>
                  <a:srgbClr val="002060"/>
                </a:solidFill>
              </a:rPr>
              <a:t>Conocer principios, prácticas y limitaciones de los métodos ágiles.</a:t>
            </a:r>
          </a:p>
          <a:p>
            <a:pPr marL="266700" indent="-266700">
              <a:lnSpc>
                <a:spcPct val="150000"/>
              </a:lnSpc>
              <a:buFont typeface="Wingdings" pitchFamily="2" charset="2"/>
              <a:buChar char="q"/>
            </a:pPr>
            <a:r>
              <a:rPr lang="es-ES" altLang="es-ES" dirty="0" smtClean="0">
                <a:solidFill>
                  <a:srgbClr val="002060"/>
                </a:solidFill>
              </a:rPr>
              <a:t>Entender como un enfoque de desarrollo de software iterativo e incremental conduce a una entrega más rápida.</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lstStyle/>
          <a:p>
            <a:r>
              <a:rPr lang="es-ES" dirty="0" smtClean="0"/>
              <a:t>CONTENIDO</a:t>
            </a:r>
            <a:endParaRPr lang="en-US" dirty="0"/>
          </a:p>
        </p:txBody>
      </p:sp>
      <p:sp>
        <p:nvSpPr>
          <p:cNvPr id="5" name="4 CuadroTexto"/>
          <p:cNvSpPr txBox="1"/>
          <p:nvPr/>
        </p:nvSpPr>
        <p:spPr>
          <a:xfrm>
            <a:off x="748108" y="2312398"/>
            <a:ext cx="10858576" cy="2948179"/>
          </a:xfrm>
          <a:prstGeom prst="rect">
            <a:avLst/>
          </a:prstGeom>
          <a:noFill/>
        </p:spPr>
        <p:txBody>
          <a:bodyPr wrap="square" rtlCol="0">
            <a:spAutoFit/>
          </a:bodyPr>
          <a:lstStyle/>
          <a:p>
            <a:pPr marL="266700" indent="-266700">
              <a:lnSpc>
                <a:spcPct val="150000"/>
              </a:lnSpc>
              <a:buFont typeface="Wingdings" pitchFamily="2" charset="2"/>
              <a:buChar char="q"/>
            </a:pPr>
            <a:r>
              <a:rPr lang="es-ES" altLang="es-ES" dirty="0" smtClean="0">
                <a:solidFill>
                  <a:srgbClr val="002060"/>
                </a:solidFill>
              </a:rPr>
              <a:t>Introducción</a:t>
            </a:r>
          </a:p>
          <a:p>
            <a:pPr marL="266700" indent="-266700">
              <a:lnSpc>
                <a:spcPct val="150000"/>
              </a:lnSpc>
              <a:buFont typeface="Wingdings" pitchFamily="2" charset="2"/>
              <a:buChar char="q"/>
            </a:pPr>
            <a:r>
              <a:rPr lang="es-ES" altLang="es-ES" dirty="0" smtClean="0">
                <a:solidFill>
                  <a:srgbClr val="002060"/>
                </a:solidFill>
              </a:rPr>
              <a:t>Características</a:t>
            </a:r>
          </a:p>
          <a:p>
            <a:pPr marL="266700" indent="-266700">
              <a:lnSpc>
                <a:spcPct val="150000"/>
              </a:lnSpc>
              <a:buFont typeface="Wingdings" pitchFamily="2" charset="2"/>
              <a:buChar char="q"/>
            </a:pPr>
            <a:r>
              <a:rPr lang="es-ES" altLang="es-ES" dirty="0" smtClean="0">
                <a:solidFill>
                  <a:srgbClr val="002060"/>
                </a:solidFill>
              </a:rPr>
              <a:t>Manifiesto ágil</a:t>
            </a:r>
          </a:p>
          <a:p>
            <a:pPr marL="266700" indent="-266700">
              <a:lnSpc>
                <a:spcPct val="150000"/>
              </a:lnSpc>
              <a:buFont typeface="Wingdings" pitchFamily="2" charset="2"/>
              <a:buChar char="q"/>
            </a:pPr>
            <a:r>
              <a:rPr lang="es-ES" altLang="es-ES" dirty="0" smtClean="0">
                <a:solidFill>
                  <a:srgbClr val="002060"/>
                </a:solidFill>
              </a:rPr>
              <a:t>Principales metodologías ágiles</a:t>
            </a:r>
          </a:p>
          <a:p>
            <a:pPr marL="723900" lvl="1" indent="-266700">
              <a:lnSpc>
                <a:spcPct val="150000"/>
              </a:lnSpc>
              <a:buFont typeface="Wingdings" pitchFamily="2" charset="2"/>
              <a:buChar char="ü"/>
            </a:pPr>
            <a:r>
              <a:rPr lang="es-ES" altLang="es-ES" dirty="0" err="1" smtClean="0">
                <a:solidFill>
                  <a:srgbClr val="002060"/>
                </a:solidFill>
              </a:rPr>
              <a:t>Adaptive</a:t>
            </a:r>
            <a:r>
              <a:rPr lang="es-ES" altLang="es-ES" dirty="0" smtClean="0">
                <a:solidFill>
                  <a:srgbClr val="002060"/>
                </a:solidFill>
              </a:rPr>
              <a:t> Software </a:t>
            </a:r>
            <a:r>
              <a:rPr lang="es-ES" altLang="es-ES" dirty="0" err="1" smtClean="0">
                <a:solidFill>
                  <a:srgbClr val="002060"/>
                </a:solidFill>
              </a:rPr>
              <a:t>Development</a:t>
            </a:r>
            <a:r>
              <a:rPr lang="es-ES" altLang="es-ES" dirty="0" smtClean="0">
                <a:solidFill>
                  <a:srgbClr val="002060"/>
                </a:solidFill>
              </a:rPr>
              <a:t> (ASD)</a:t>
            </a:r>
          </a:p>
          <a:p>
            <a:pPr marL="723900" lvl="1" indent="-266700">
              <a:lnSpc>
                <a:spcPct val="150000"/>
              </a:lnSpc>
              <a:buFont typeface="Wingdings" pitchFamily="2" charset="2"/>
              <a:buChar char="ü"/>
            </a:pPr>
            <a:r>
              <a:rPr lang="es-ES" altLang="es-ES" dirty="0" err="1" smtClean="0">
                <a:solidFill>
                  <a:srgbClr val="002060"/>
                </a:solidFill>
              </a:rPr>
              <a:t>Scrum</a:t>
            </a:r>
            <a:endParaRPr lang="es-ES" altLang="es-ES" dirty="0" smtClean="0">
              <a:solidFill>
                <a:srgbClr val="002060"/>
              </a:solidFill>
            </a:endParaRPr>
          </a:p>
          <a:p>
            <a:pPr marL="723900" lvl="1" indent="-266700">
              <a:lnSpc>
                <a:spcPct val="150000"/>
              </a:lnSpc>
              <a:buFont typeface="Wingdings" pitchFamily="2" charset="2"/>
              <a:buChar char="ü"/>
            </a:pPr>
            <a:r>
              <a:rPr lang="es-ES" altLang="es-ES" dirty="0" smtClean="0">
                <a:solidFill>
                  <a:srgbClr val="002060"/>
                </a:solidFill>
              </a:rPr>
              <a:t>XP</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074859"/>
            <a:ext cx="6400800" cy="767679"/>
          </a:xfrm>
        </p:spPr>
        <p:txBody>
          <a:bodyPr>
            <a:normAutofit/>
          </a:bodyPr>
          <a:lstStyle/>
          <a:p>
            <a:r>
              <a:rPr lang="es-CL" dirty="0" smtClean="0"/>
              <a:t>Ingeniería de Software</a:t>
            </a:r>
            <a:endParaRPr lang="en-US" dirty="0"/>
          </a:p>
        </p:txBody>
      </p:sp>
      <p:sp>
        <p:nvSpPr>
          <p:cNvPr id="5" name="4 CuadroTexto"/>
          <p:cNvSpPr txBox="1"/>
          <p:nvPr/>
        </p:nvSpPr>
        <p:spPr>
          <a:xfrm>
            <a:off x="387891" y="1807518"/>
            <a:ext cx="10942098" cy="2640723"/>
          </a:xfrm>
          <a:prstGeom prst="rect">
            <a:avLst/>
          </a:prstGeom>
          <a:noFill/>
        </p:spPr>
        <p:txBody>
          <a:bodyPr wrap="square" rtlCol="0">
            <a:spAutoFit/>
          </a:bodyPr>
          <a:lstStyle/>
          <a:p>
            <a:pPr algn="just">
              <a:lnSpc>
                <a:spcPct val="80000"/>
              </a:lnSpc>
              <a:tabLst>
                <a:tab pos="4838700" algn="l"/>
              </a:tabLst>
            </a:pPr>
            <a:r>
              <a:rPr lang="es-ES" altLang="es-ES" dirty="0" smtClean="0">
                <a:solidFill>
                  <a:srgbClr val="002060"/>
                </a:solidFill>
              </a:rPr>
              <a:t>A pesar haber transcurrido casi 40 años, la calidad del software, las metodologías y la madurez de los entornos de desarrollo siguen siendo temas de discusión y estudio.</a:t>
            </a:r>
          </a:p>
          <a:p>
            <a:pPr algn="just">
              <a:lnSpc>
                <a:spcPct val="80000"/>
              </a:lnSpc>
              <a:tabLst>
                <a:tab pos="4838700" algn="l"/>
              </a:tabLst>
            </a:pPr>
            <a:endParaRPr lang="es-ES" altLang="es-ES" dirty="0" smtClean="0">
              <a:solidFill>
                <a:srgbClr val="002060"/>
              </a:solidFill>
            </a:endParaRPr>
          </a:p>
          <a:p>
            <a:pPr>
              <a:lnSpc>
                <a:spcPct val="150000"/>
              </a:lnSpc>
              <a:tabLst>
                <a:tab pos="4838700" algn="l"/>
              </a:tabLst>
            </a:pPr>
            <a:r>
              <a:rPr lang="es-ES" altLang="es-ES" b="1" dirty="0" smtClean="0">
                <a:solidFill>
                  <a:srgbClr val="002060"/>
                </a:solidFill>
              </a:rPr>
              <a:t>Objetivos </a:t>
            </a:r>
          </a:p>
          <a:p>
            <a:pPr>
              <a:lnSpc>
                <a:spcPct val="150000"/>
              </a:lnSpc>
              <a:buFont typeface="Wingdings" pitchFamily="2" charset="2"/>
              <a:buChar char="q"/>
              <a:tabLst>
                <a:tab pos="4838700" algn="l"/>
              </a:tabLst>
            </a:pPr>
            <a:r>
              <a:rPr lang="es-ES" altLang="es-ES" dirty="0" smtClean="0">
                <a:solidFill>
                  <a:srgbClr val="002060"/>
                </a:solidFill>
              </a:rPr>
              <a:t>Maximizar calidad</a:t>
            </a:r>
          </a:p>
          <a:p>
            <a:pPr>
              <a:lnSpc>
                <a:spcPct val="150000"/>
              </a:lnSpc>
              <a:buFont typeface="Wingdings" pitchFamily="2" charset="2"/>
              <a:buChar char="q"/>
              <a:tabLst>
                <a:tab pos="4838700" algn="l"/>
              </a:tabLst>
            </a:pPr>
            <a:r>
              <a:rPr lang="es-ES" altLang="es-ES" dirty="0" smtClean="0">
                <a:solidFill>
                  <a:srgbClr val="002060"/>
                </a:solidFill>
              </a:rPr>
              <a:t>Maximizar productividad</a:t>
            </a:r>
          </a:p>
          <a:p>
            <a:pPr>
              <a:lnSpc>
                <a:spcPct val="150000"/>
              </a:lnSpc>
              <a:buFont typeface="Wingdings" pitchFamily="2" charset="2"/>
              <a:buChar char="q"/>
              <a:tabLst>
                <a:tab pos="4838700" algn="l"/>
              </a:tabLst>
            </a:pPr>
            <a:r>
              <a:rPr lang="es-ES" altLang="es-ES" dirty="0" smtClean="0">
                <a:solidFill>
                  <a:srgbClr val="002060"/>
                </a:solidFill>
              </a:rPr>
              <a:t>Minimizar riesgos</a:t>
            </a:r>
          </a:p>
          <a:p>
            <a:pPr algn="just">
              <a:lnSpc>
                <a:spcPct val="80000"/>
              </a:lnSpc>
              <a:tabLst>
                <a:tab pos="4838700" algn="l"/>
              </a:tabLst>
            </a:pPr>
            <a:endParaRPr lang="es-ES" altLang="es-ES" dirty="0" smtClean="0">
              <a:solidFill>
                <a:srgbClr val="00206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074859"/>
            <a:ext cx="6400800" cy="767679"/>
          </a:xfrm>
        </p:spPr>
        <p:txBody>
          <a:bodyPr>
            <a:normAutofit/>
          </a:bodyPr>
          <a:lstStyle/>
          <a:p>
            <a:r>
              <a:rPr lang="es-CL" dirty="0" smtClean="0"/>
              <a:t>Ingeniería de Software</a:t>
            </a:r>
            <a:endParaRPr lang="en-US" dirty="0"/>
          </a:p>
        </p:txBody>
      </p:sp>
      <p:sp>
        <p:nvSpPr>
          <p:cNvPr id="5" name="4 CuadroTexto"/>
          <p:cNvSpPr txBox="1"/>
          <p:nvPr/>
        </p:nvSpPr>
        <p:spPr>
          <a:xfrm>
            <a:off x="387891" y="1807518"/>
            <a:ext cx="10942098" cy="3831818"/>
          </a:xfrm>
          <a:prstGeom prst="rect">
            <a:avLst/>
          </a:prstGeom>
          <a:noFill/>
        </p:spPr>
        <p:txBody>
          <a:bodyPr wrap="square" rtlCol="0">
            <a:spAutoFit/>
          </a:bodyPr>
          <a:lstStyle/>
          <a:p>
            <a:pPr>
              <a:lnSpc>
                <a:spcPct val="150000"/>
              </a:lnSpc>
              <a:tabLst>
                <a:tab pos="4838700" algn="l"/>
              </a:tabLst>
            </a:pPr>
            <a:r>
              <a:rPr lang="es-ES" altLang="es-ES" b="1" dirty="0" smtClean="0">
                <a:solidFill>
                  <a:srgbClr val="002060"/>
                </a:solidFill>
              </a:rPr>
              <a:t>Implicancias</a:t>
            </a:r>
          </a:p>
          <a:p>
            <a:pPr>
              <a:lnSpc>
                <a:spcPct val="150000"/>
              </a:lnSpc>
              <a:buFont typeface="Wingdings" pitchFamily="2" charset="2"/>
              <a:buChar char="q"/>
              <a:tabLst>
                <a:tab pos="4838700" algn="l"/>
              </a:tabLst>
            </a:pPr>
            <a:r>
              <a:rPr lang="es-ES" altLang="es-ES" dirty="0" smtClean="0">
                <a:solidFill>
                  <a:srgbClr val="002060"/>
                </a:solidFill>
              </a:rPr>
              <a:t>constructores básicos más poderosos</a:t>
            </a:r>
          </a:p>
          <a:p>
            <a:pPr>
              <a:lnSpc>
                <a:spcPct val="150000"/>
              </a:lnSpc>
              <a:buFont typeface="Wingdings" pitchFamily="2" charset="2"/>
              <a:buChar char="q"/>
              <a:tabLst>
                <a:tab pos="4838700" algn="l"/>
              </a:tabLst>
            </a:pPr>
            <a:r>
              <a:rPr lang="es-ES" altLang="es-ES" dirty="0" smtClean="0">
                <a:solidFill>
                  <a:srgbClr val="002060"/>
                </a:solidFill>
              </a:rPr>
              <a:t>mejores técnicas de control de calidad</a:t>
            </a:r>
          </a:p>
          <a:p>
            <a:pPr>
              <a:lnSpc>
                <a:spcPct val="150000"/>
              </a:lnSpc>
              <a:buFont typeface="Wingdings" pitchFamily="2" charset="2"/>
              <a:buChar char="q"/>
              <a:tabLst>
                <a:tab pos="4838700" algn="l"/>
              </a:tabLst>
            </a:pPr>
            <a:r>
              <a:rPr lang="es-ES" altLang="es-ES" dirty="0" smtClean="0">
                <a:solidFill>
                  <a:srgbClr val="002060"/>
                </a:solidFill>
              </a:rPr>
              <a:t>mejores herramientas y métodos</a:t>
            </a:r>
          </a:p>
          <a:p>
            <a:pPr>
              <a:lnSpc>
                <a:spcPct val="150000"/>
              </a:lnSpc>
              <a:tabLst>
                <a:tab pos="4838700" algn="l"/>
              </a:tabLst>
            </a:pPr>
            <a:endParaRPr lang="es-ES" altLang="es-ES" dirty="0" smtClean="0">
              <a:solidFill>
                <a:srgbClr val="002060"/>
              </a:solidFill>
            </a:endParaRPr>
          </a:p>
          <a:p>
            <a:pPr>
              <a:lnSpc>
                <a:spcPct val="150000"/>
              </a:lnSpc>
              <a:tabLst>
                <a:tab pos="4838700" algn="l"/>
              </a:tabLst>
            </a:pPr>
            <a:r>
              <a:rPr lang="es-ES" altLang="es-ES" dirty="0" smtClean="0">
                <a:solidFill>
                  <a:srgbClr val="002060"/>
                </a:solidFill>
              </a:rPr>
              <a:t>Todo en la forma de procesos de software adecuados al tipo de problema que se resuelve y que permitan gestionar de mejor manera los principales riesgos relevantes para todos los involucrados</a:t>
            </a:r>
          </a:p>
          <a:p>
            <a:pPr>
              <a:lnSpc>
                <a:spcPct val="150000"/>
              </a:lnSpc>
              <a:tabLst>
                <a:tab pos="4838700" algn="l"/>
              </a:tabLst>
            </a:pPr>
            <a:endParaRPr lang="es-ES" altLang="es-ES" dirty="0" smtClean="0">
              <a:solidFill>
                <a:srgbClr val="002060"/>
              </a:solidFill>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Dificultades en Producción de Software</a:t>
            </a:r>
            <a:endParaRPr lang="en-US" dirty="0"/>
          </a:p>
        </p:txBody>
      </p:sp>
      <p:sp>
        <p:nvSpPr>
          <p:cNvPr id="5" name="4 CuadroTexto"/>
          <p:cNvSpPr txBox="1"/>
          <p:nvPr/>
        </p:nvSpPr>
        <p:spPr>
          <a:xfrm>
            <a:off x="443308" y="1832329"/>
            <a:ext cx="10903566" cy="2117183"/>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Esencia</a:t>
            </a:r>
          </a:p>
          <a:p>
            <a:pPr marL="273050" indent="-273050">
              <a:lnSpc>
                <a:spcPct val="150000"/>
              </a:lnSpc>
              <a:buFont typeface="Wingdings" pitchFamily="2" charset="2"/>
              <a:buChar char="q"/>
            </a:pPr>
            <a:r>
              <a:rPr lang="es-ES" altLang="es-ES" dirty="0" smtClean="0">
                <a:solidFill>
                  <a:srgbClr val="002060"/>
                </a:solidFill>
              </a:rPr>
              <a:t>complejidad</a:t>
            </a:r>
          </a:p>
          <a:p>
            <a:pPr marL="273050" indent="-273050">
              <a:lnSpc>
                <a:spcPct val="150000"/>
              </a:lnSpc>
              <a:buFont typeface="Wingdings" pitchFamily="2" charset="2"/>
              <a:buChar char="q"/>
            </a:pPr>
            <a:r>
              <a:rPr lang="es-ES" altLang="es-ES" dirty="0" smtClean="0">
                <a:solidFill>
                  <a:srgbClr val="002060"/>
                </a:solidFill>
              </a:rPr>
              <a:t>conformidad</a:t>
            </a:r>
          </a:p>
          <a:p>
            <a:pPr marL="273050" indent="-273050">
              <a:lnSpc>
                <a:spcPct val="150000"/>
              </a:lnSpc>
              <a:buFont typeface="Wingdings" pitchFamily="2" charset="2"/>
              <a:buChar char="q"/>
            </a:pPr>
            <a:r>
              <a:rPr lang="es-ES" altLang="es-ES" dirty="0" smtClean="0">
                <a:solidFill>
                  <a:srgbClr val="002060"/>
                </a:solidFill>
              </a:rPr>
              <a:t>necesidad de cambios</a:t>
            </a:r>
          </a:p>
          <a:p>
            <a:pPr marL="273050" indent="-273050">
              <a:lnSpc>
                <a:spcPct val="150000"/>
              </a:lnSpc>
              <a:buFont typeface="Wingdings" pitchFamily="2" charset="2"/>
              <a:buChar char="q"/>
            </a:pPr>
            <a:r>
              <a:rPr lang="es-ES" altLang="es-ES" dirty="0" smtClean="0">
                <a:solidFill>
                  <a:srgbClr val="002060"/>
                </a:solidFill>
              </a:rPr>
              <a:t>invisibilidad</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Proceso de Software</a:t>
            </a:r>
            <a:endParaRPr lang="en-US" dirty="0"/>
          </a:p>
        </p:txBody>
      </p:sp>
      <p:sp>
        <p:nvSpPr>
          <p:cNvPr id="5" name="4 CuadroTexto"/>
          <p:cNvSpPr txBox="1"/>
          <p:nvPr/>
        </p:nvSpPr>
        <p:spPr>
          <a:xfrm>
            <a:off x="429020" y="1972529"/>
            <a:ext cx="10903566" cy="870688"/>
          </a:xfrm>
          <a:prstGeom prst="rect">
            <a:avLst/>
          </a:prstGeom>
          <a:noFill/>
        </p:spPr>
        <p:txBody>
          <a:bodyPr wrap="square" rtlCol="0">
            <a:spAutoFit/>
          </a:bodyPr>
          <a:lstStyle/>
          <a:p>
            <a:pPr marL="273050" indent="-273050">
              <a:lnSpc>
                <a:spcPct val="150000"/>
              </a:lnSpc>
            </a:pPr>
            <a:r>
              <a:rPr lang="es-ES" altLang="es-ES" dirty="0" smtClean="0">
                <a:solidFill>
                  <a:srgbClr val="002060"/>
                </a:solidFill>
              </a:rPr>
              <a:t>“Conjunto relacionado de actividades y tareas implicadas en el desarrollo y evolución de un sistema software” 	[</a:t>
            </a:r>
            <a:r>
              <a:rPr lang="es-ES" altLang="es-ES" dirty="0" err="1" smtClean="0">
                <a:solidFill>
                  <a:srgbClr val="002060"/>
                </a:solidFill>
              </a:rPr>
              <a:t>Sommerville</a:t>
            </a:r>
            <a:r>
              <a:rPr lang="es-ES" altLang="es-ES" dirty="0" smtClean="0">
                <a:solidFill>
                  <a:srgbClr val="002060"/>
                </a:solidFill>
              </a:rPr>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Modelos de Procesos de Software</a:t>
            </a:r>
            <a:endParaRPr lang="en-US" dirty="0"/>
          </a:p>
        </p:txBody>
      </p:sp>
      <p:sp>
        <p:nvSpPr>
          <p:cNvPr id="32" name="31 CuadroTexto"/>
          <p:cNvSpPr txBox="1"/>
          <p:nvPr/>
        </p:nvSpPr>
        <p:spPr>
          <a:xfrm>
            <a:off x="443307" y="1825853"/>
            <a:ext cx="11443893" cy="4085734"/>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sz="1700" dirty="0" smtClean="0">
                <a:solidFill>
                  <a:srgbClr val="002060"/>
                </a:solidFill>
              </a:rPr>
              <a:t>Modelos Tradicionales (</a:t>
            </a:r>
            <a:r>
              <a:rPr lang="es-ES" altLang="es-ES" sz="1700" dirty="0" err="1" smtClean="0">
                <a:solidFill>
                  <a:srgbClr val="002060"/>
                </a:solidFill>
              </a:rPr>
              <a:t>MTs</a:t>
            </a:r>
            <a:r>
              <a:rPr lang="es-ES" altLang="es-ES" sz="1700" dirty="0" smtClean="0">
                <a:solidFill>
                  <a:srgbClr val="002060"/>
                </a:solidFill>
              </a:rPr>
              <a:t>):</a:t>
            </a:r>
          </a:p>
          <a:p>
            <a:pPr marL="730250" lvl="1" indent="-273050">
              <a:lnSpc>
                <a:spcPct val="150000"/>
              </a:lnSpc>
              <a:buFont typeface="Wingdings" pitchFamily="2" charset="2"/>
              <a:buChar char="ü"/>
            </a:pPr>
            <a:r>
              <a:rPr lang="es-ES" altLang="es-ES" sz="1700" dirty="0" smtClean="0">
                <a:solidFill>
                  <a:srgbClr val="002060"/>
                </a:solidFill>
              </a:rPr>
              <a:t>Modelo en Cascada.</a:t>
            </a:r>
          </a:p>
          <a:p>
            <a:pPr marL="730250" lvl="1" indent="-273050">
              <a:lnSpc>
                <a:spcPct val="150000"/>
              </a:lnSpc>
              <a:buFont typeface="Wingdings" pitchFamily="2" charset="2"/>
              <a:buChar char="ü"/>
            </a:pPr>
            <a:r>
              <a:rPr lang="es-ES" altLang="es-ES" sz="1700" dirty="0" smtClean="0">
                <a:solidFill>
                  <a:srgbClr val="002060"/>
                </a:solidFill>
              </a:rPr>
              <a:t>Modelo de </a:t>
            </a:r>
            <a:r>
              <a:rPr lang="es-ES" altLang="es-ES" sz="1700" dirty="0" err="1" smtClean="0">
                <a:solidFill>
                  <a:srgbClr val="002060"/>
                </a:solidFill>
              </a:rPr>
              <a:t>Prototipación</a:t>
            </a:r>
            <a:r>
              <a:rPr lang="es-ES" altLang="es-ES" sz="1700" dirty="0" smtClean="0">
                <a:solidFill>
                  <a:srgbClr val="002060"/>
                </a:solidFill>
              </a:rPr>
              <a:t>.</a:t>
            </a:r>
          </a:p>
          <a:p>
            <a:pPr marL="730250" lvl="1" indent="-273050">
              <a:lnSpc>
                <a:spcPct val="150000"/>
              </a:lnSpc>
              <a:buFont typeface="Wingdings" pitchFamily="2" charset="2"/>
              <a:buChar char="ü"/>
            </a:pPr>
            <a:r>
              <a:rPr lang="es-ES" altLang="es-ES" sz="1700" dirty="0" smtClean="0">
                <a:solidFill>
                  <a:srgbClr val="002060"/>
                </a:solidFill>
              </a:rPr>
              <a:t>Modelo de Desarrollo en Fases.</a:t>
            </a:r>
          </a:p>
          <a:p>
            <a:pPr marL="730250" lvl="1" indent="-273050">
              <a:lnSpc>
                <a:spcPct val="150000"/>
              </a:lnSpc>
              <a:buFont typeface="Wingdings" pitchFamily="2" charset="2"/>
              <a:buChar char="ü"/>
            </a:pPr>
            <a:r>
              <a:rPr lang="es-ES" altLang="es-ES" sz="1700" dirty="0" smtClean="0">
                <a:solidFill>
                  <a:srgbClr val="002060"/>
                </a:solidFill>
              </a:rPr>
              <a:t>Modelo en Espiral.</a:t>
            </a:r>
          </a:p>
          <a:p>
            <a:pPr marL="730250" lvl="1" indent="-273050">
              <a:lnSpc>
                <a:spcPct val="150000"/>
              </a:lnSpc>
              <a:buFont typeface="Wingdings" pitchFamily="2" charset="2"/>
              <a:buChar char="ü"/>
            </a:pPr>
            <a:r>
              <a:rPr lang="es-ES" altLang="es-ES" sz="1700" dirty="0" smtClean="0">
                <a:solidFill>
                  <a:srgbClr val="002060"/>
                </a:solidFill>
              </a:rPr>
              <a:t>RUP</a:t>
            </a:r>
          </a:p>
          <a:p>
            <a:pPr marL="273050" indent="-273050">
              <a:lnSpc>
                <a:spcPct val="150000"/>
              </a:lnSpc>
              <a:buFont typeface="Wingdings" pitchFamily="2" charset="2"/>
              <a:buChar char="q"/>
            </a:pPr>
            <a:r>
              <a:rPr lang="es-ES" altLang="es-ES" sz="1700" dirty="0" smtClean="0">
                <a:solidFill>
                  <a:srgbClr val="002060"/>
                </a:solidFill>
              </a:rPr>
              <a:t>Métodos Ágiles (</a:t>
            </a:r>
            <a:r>
              <a:rPr lang="es-ES" altLang="es-ES" sz="1700" dirty="0" err="1" smtClean="0">
                <a:solidFill>
                  <a:srgbClr val="002060"/>
                </a:solidFill>
              </a:rPr>
              <a:t>MAs</a:t>
            </a:r>
            <a:r>
              <a:rPr lang="es-ES" altLang="es-ES" sz="1700" dirty="0" smtClean="0">
                <a:solidFill>
                  <a:srgbClr val="002060"/>
                </a:solidFill>
              </a:rPr>
              <a:t>):</a:t>
            </a:r>
          </a:p>
          <a:p>
            <a:pPr marL="723900" lvl="1" indent="-266700">
              <a:lnSpc>
                <a:spcPct val="150000"/>
              </a:lnSpc>
              <a:buFont typeface="Wingdings" pitchFamily="2" charset="2"/>
              <a:buChar char="ü"/>
            </a:pPr>
            <a:r>
              <a:rPr lang="es-ES" altLang="es-ES" dirty="0" err="1" smtClean="0">
                <a:solidFill>
                  <a:srgbClr val="002060"/>
                </a:solidFill>
              </a:rPr>
              <a:t>Adaptive</a:t>
            </a:r>
            <a:r>
              <a:rPr lang="es-ES" altLang="es-ES" dirty="0" smtClean="0">
                <a:solidFill>
                  <a:srgbClr val="002060"/>
                </a:solidFill>
              </a:rPr>
              <a:t> Software </a:t>
            </a:r>
            <a:r>
              <a:rPr lang="es-ES" altLang="es-ES" dirty="0" err="1" smtClean="0">
                <a:solidFill>
                  <a:srgbClr val="002060"/>
                </a:solidFill>
              </a:rPr>
              <a:t>Development</a:t>
            </a:r>
            <a:r>
              <a:rPr lang="es-ES" altLang="es-ES" dirty="0" smtClean="0">
                <a:solidFill>
                  <a:srgbClr val="002060"/>
                </a:solidFill>
              </a:rPr>
              <a:t> (ASD)</a:t>
            </a:r>
          </a:p>
          <a:p>
            <a:pPr marL="723900" lvl="1" indent="-266700">
              <a:lnSpc>
                <a:spcPct val="150000"/>
              </a:lnSpc>
              <a:buFont typeface="Wingdings" pitchFamily="2" charset="2"/>
              <a:buChar char="ü"/>
            </a:pPr>
            <a:r>
              <a:rPr lang="es-ES" altLang="es-ES" dirty="0" err="1" smtClean="0">
                <a:solidFill>
                  <a:srgbClr val="002060"/>
                </a:solidFill>
              </a:rPr>
              <a:t>Scrum</a:t>
            </a:r>
            <a:endParaRPr lang="es-ES" altLang="es-ES" dirty="0" smtClean="0">
              <a:solidFill>
                <a:srgbClr val="002060"/>
              </a:solidFill>
            </a:endParaRPr>
          </a:p>
          <a:p>
            <a:pPr marL="723900" lvl="1" indent="-266700">
              <a:lnSpc>
                <a:spcPct val="150000"/>
              </a:lnSpc>
              <a:buFont typeface="Wingdings" pitchFamily="2" charset="2"/>
              <a:buChar char="ü"/>
            </a:pPr>
            <a:r>
              <a:rPr lang="es-ES" altLang="es-ES" dirty="0" smtClean="0">
                <a:solidFill>
                  <a:srgbClr val="002060"/>
                </a:solidFill>
              </a:rPr>
              <a:t>XP</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Modelo en Cascada</a:t>
            </a:r>
            <a:endParaRPr lang="en-US" dirty="0"/>
          </a:p>
        </p:txBody>
      </p:sp>
      <p:sp>
        <p:nvSpPr>
          <p:cNvPr id="32" name="31 CuadroTexto"/>
          <p:cNvSpPr txBox="1"/>
          <p:nvPr/>
        </p:nvSpPr>
        <p:spPr>
          <a:xfrm>
            <a:off x="443308" y="2215417"/>
            <a:ext cx="5221222" cy="3000821"/>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Es el más antiguo.</a:t>
            </a:r>
          </a:p>
          <a:p>
            <a:pPr marL="273050" indent="-273050">
              <a:lnSpc>
                <a:spcPct val="150000"/>
              </a:lnSpc>
              <a:buFont typeface="Wingdings" pitchFamily="2" charset="2"/>
              <a:buChar char="q"/>
            </a:pPr>
            <a:r>
              <a:rPr lang="es-ES" altLang="es-ES" dirty="0" smtClean="0">
                <a:solidFill>
                  <a:srgbClr val="002060"/>
                </a:solidFill>
              </a:rPr>
              <a:t>Debe completarse un estado antes de comenzar el siguiente.</a:t>
            </a:r>
          </a:p>
          <a:p>
            <a:pPr marL="273050" indent="-273050">
              <a:lnSpc>
                <a:spcPct val="150000"/>
              </a:lnSpc>
              <a:buFont typeface="Wingdings" pitchFamily="2" charset="2"/>
              <a:buChar char="q"/>
            </a:pPr>
            <a:r>
              <a:rPr lang="es-ES" altLang="es-ES" dirty="0" smtClean="0">
                <a:solidFill>
                  <a:srgbClr val="002060"/>
                </a:solidFill>
              </a:rPr>
              <a:t>Es útil para que el desarrollador visualice lo que va a hacer.</a:t>
            </a:r>
          </a:p>
          <a:p>
            <a:pPr marL="273050" indent="-273050">
              <a:lnSpc>
                <a:spcPct val="150000"/>
              </a:lnSpc>
              <a:buFont typeface="Wingdings" pitchFamily="2" charset="2"/>
              <a:buChar char="q"/>
            </a:pPr>
            <a:r>
              <a:rPr lang="es-ES" altLang="es-ES" dirty="0" smtClean="0">
                <a:solidFill>
                  <a:srgbClr val="002060"/>
                </a:solidFill>
              </a:rPr>
              <a:t>Su principal problema es que no refleja la realidad.</a:t>
            </a:r>
          </a:p>
        </p:txBody>
      </p:sp>
      <p:grpSp>
        <p:nvGrpSpPr>
          <p:cNvPr id="4" name="Group 5"/>
          <p:cNvGrpSpPr>
            <a:grpSpLocks/>
          </p:cNvGrpSpPr>
          <p:nvPr/>
        </p:nvGrpSpPr>
        <p:grpSpPr bwMode="auto">
          <a:xfrm>
            <a:off x="7397296" y="1776474"/>
            <a:ext cx="3489325" cy="4373563"/>
            <a:chOff x="3014" y="1134"/>
            <a:chExt cx="2198" cy="2755"/>
          </a:xfrm>
        </p:grpSpPr>
        <p:sp>
          <p:nvSpPr>
            <p:cNvPr id="5" name="Rectangle 6"/>
            <p:cNvSpPr>
              <a:spLocks noChangeArrowheads="1"/>
            </p:cNvSpPr>
            <p:nvPr/>
          </p:nvSpPr>
          <p:spPr bwMode="auto">
            <a:xfrm>
              <a:off x="3107" y="1134"/>
              <a:ext cx="875" cy="263"/>
            </a:xfrm>
            <a:prstGeom prst="rect">
              <a:avLst/>
            </a:prstGeom>
            <a:solidFill>
              <a:srgbClr val="FFCC66"/>
            </a:solidFill>
            <a:ln w="12700">
              <a:solidFill>
                <a:srgbClr val="000000"/>
              </a:solidFill>
              <a:miter lim="800000"/>
              <a:headEnd/>
              <a:tailEnd/>
            </a:ln>
          </p:spPr>
          <p:txBody>
            <a:bodyPr/>
            <a:lstStyle/>
            <a:p>
              <a:endParaRPr lang="es-ES"/>
            </a:p>
          </p:txBody>
        </p:sp>
        <p:sp>
          <p:nvSpPr>
            <p:cNvPr id="6" name="Rectangle 7"/>
            <p:cNvSpPr>
              <a:spLocks noChangeArrowheads="1"/>
            </p:cNvSpPr>
            <p:nvPr/>
          </p:nvSpPr>
          <p:spPr bwMode="auto">
            <a:xfrm>
              <a:off x="3292" y="1152"/>
              <a:ext cx="510"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ANÁLISIS DE</a:t>
              </a:r>
              <a:endParaRPr lang="es-ES" sz="1800">
                <a:effectLst/>
              </a:endParaRPr>
            </a:p>
          </p:txBody>
        </p:sp>
        <p:sp>
          <p:nvSpPr>
            <p:cNvPr id="7" name="Rectangle 8"/>
            <p:cNvSpPr>
              <a:spLocks noChangeArrowheads="1"/>
            </p:cNvSpPr>
            <p:nvPr/>
          </p:nvSpPr>
          <p:spPr bwMode="auto">
            <a:xfrm>
              <a:off x="3181" y="1257"/>
              <a:ext cx="732"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REQUERIMIENTOS</a:t>
              </a:r>
              <a:endParaRPr lang="es-ES" sz="1800">
                <a:effectLst/>
              </a:endParaRPr>
            </a:p>
          </p:txBody>
        </p:sp>
        <p:sp>
          <p:nvSpPr>
            <p:cNvPr id="8" name="Rectangle 9"/>
            <p:cNvSpPr>
              <a:spLocks noChangeArrowheads="1"/>
            </p:cNvSpPr>
            <p:nvPr/>
          </p:nvSpPr>
          <p:spPr bwMode="auto">
            <a:xfrm>
              <a:off x="3195" y="1484"/>
              <a:ext cx="874" cy="262"/>
            </a:xfrm>
            <a:prstGeom prst="rect">
              <a:avLst/>
            </a:prstGeom>
            <a:solidFill>
              <a:srgbClr val="FFCC66"/>
            </a:solidFill>
            <a:ln w="12700">
              <a:solidFill>
                <a:srgbClr val="000000"/>
              </a:solidFill>
              <a:miter lim="800000"/>
              <a:headEnd/>
              <a:tailEnd/>
            </a:ln>
          </p:spPr>
          <p:txBody>
            <a:bodyPr/>
            <a:lstStyle/>
            <a:p>
              <a:endParaRPr lang="es-ES"/>
            </a:p>
          </p:txBody>
        </p:sp>
        <p:sp>
          <p:nvSpPr>
            <p:cNvPr id="9" name="Rectangle 10"/>
            <p:cNvSpPr>
              <a:spLocks noChangeArrowheads="1"/>
            </p:cNvSpPr>
            <p:nvPr/>
          </p:nvSpPr>
          <p:spPr bwMode="auto">
            <a:xfrm>
              <a:off x="3387" y="1502"/>
              <a:ext cx="493"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DISEÑO DEL</a:t>
              </a:r>
              <a:endParaRPr lang="es-ES" sz="1800">
                <a:effectLst/>
              </a:endParaRPr>
            </a:p>
          </p:txBody>
        </p:sp>
        <p:sp>
          <p:nvSpPr>
            <p:cNvPr id="10" name="Rectangle 11"/>
            <p:cNvSpPr>
              <a:spLocks noChangeArrowheads="1"/>
            </p:cNvSpPr>
            <p:nvPr/>
          </p:nvSpPr>
          <p:spPr bwMode="auto">
            <a:xfrm>
              <a:off x="3457" y="1607"/>
              <a:ext cx="352"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SISTEMA</a:t>
              </a:r>
              <a:endParaRPr lang="es-ES" sz="1800">
                <a:effectLst/>
              </a:endParaRPr>
            </a:p>
          </p:txBody>
        </p:sp>
        <p:sp>
          <p:nvSpPr>
            <p:cNvPr id="11" name="Rectangle 12"/>
            <p:cNvSpPr>
              <a:spLocks noChangeArrowheads="1"/>
            </p:cNvSpPr>
            <p:nvPr/>
          </p:nvSpPr>
          <p:spPr bwMode="auto">
            <a:xfrm>
              <a:off x="3282" y="1834"/>
              <a:ext cx="875" cy="262"/>
            </a:xfrm>
            <a:prstGeom prst="rect">
              <a:avLst/>
            </a:prstGeom>
            <a:solidFill>
              <a:srgbClr val="FFCC66"/>
            </a:solidFill>
            <a:ln w="12700">
              <a:solidFill>
                <a:srgbClr val="000000"/>
              </a:solidFill>
              <a:miter lim="800000"/>
              <a:headEnd/>
              <a:tailEnd/>
            </a:ln>
          </p:spPr>
          <p:txBody>
            <a:bodyPr/>
            <a:lstStyle/>
            <a:p>
              <a:endParaRPr lang="es-ES"/>
            </a:p>
          </p:txBody>
        </p:sp>
        <p:sp>
          <p:nvSpPr>
            <p:cNvPr id="12" name="Rectangle 13"/>
            <p:cNvSpPr>
              <a:spLocks noChangeArrowheads="1"/>
            </p:cNvSpPr>
            <p:nvPr/>
          </p:nvSpPr>
          <p:spPr bwMode="auto">
            <a:xfrm>
              <a:off x="3496" y="1852"/>
              <a:ext cx="449"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DISEÑO DE</a:t>
              </a:r>
              <a:endParaRPr lang="es-ES" sz="1800">
                <a:effectLst/>
              </a:endParaRPr>
            </a:p>
          </p:txBody>
        </p:sp>
        <p:sp>
          <p:nvSpPr>
            <p:cNvPr id="13" name="Rectangle 14"/>
            <p:cNvSpPr>
              <a:spLocks noChangeArrowheads="1"/>
            </p:cNvSpPr>
            <p:nvPr/>
          </p:nvSpPr>
          <p:spPr bwMode="auto">
            <a:xfrm>
              <a:off x="3471" y="1956"/>
              <a:ext cx="503"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PROGRAMAS</a:t>
              </a:r>
              <a:endParaRPr lang="es-ES" sz="1800">
                <a:effectLst/>
              </a:endParaRPr>
            </a:p>
          </p:txBody>
        </p:sp>
        <p:sp>
          <p:nvSpPr>
            <p:cNvPr id="14" name="Rectangle 15"/>
            <p:cNvSpPr>
              <a:spLocks noChangeArrowheads="1"/>
            </p:cNvSpPr>
            <p:nvPr/>
          </p:nvSpPr>
          <p:spPr bwMode="auto">
            <a:xfrm>
              <a:off x="3370" y="2183"/>
              <a:ext cx="874" cy="262"/>
            </a:xfrm>
            <a:prstGeom prst="rect">
              <a:avLst/>
            </a:prstGeom>
            <a:solidFill>
              <a:srgbClr val="FFCC66"/>
            </a:solidFill>
            <a:ln w="12700">
              <a:solidFill>
                <a:srgbClr val="000000"/>
              </a:solidFill>
              <a:miter lim="800000"/>
              <a:headEnd/>
              <a:tailEnd/>
            </a:ln>
          </p:spPr>
          <p:txBody>
            <a:bodyPr/>
            <a:lstStyle/>
            <a:p>
              <a:endParaRPr lang="es-ES"/>
            </a:p>
          </p:txBody>
        </p:sp>
        <p:sp>
          <p:nvSpPr>
            <p:cNvPr id="15" name="Rectangle 16"/>
            <p:cNvSpPr>
              <a:spLocks noChangeArrowheads="1"/>
            </p:cNvSpPr>
            <p:nvPr/>
          </p:nvSpPr>
          <p:spPr bwMode="auto">
            <a:xfrm>
              <a:off x="3510" y="2254"/>
              <a:ext cx="600"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CODIFICACIÓN</a:t>
              </a:r>
              <a:endParaRPr lang="es-ES" sz="1800">
                <a:effectLst/>
              </a:endParaRPr>
            </a:p>
          </p:txBody>
        </p:sp>
        <p:sp>
          <p:nvSpPr>
            <p:cNvPr id="16" name="Rectangle 17"/>
            <p:cNvSpPr>
              <a:spLocks noChangeArrowheads="1"/>
            </p:cNvSpPr>
            <p:nvPr/>
          </p:nvSpPr>
          <p:spPr bwMode="auto">
            <a:xfrm>
              <a:off x="3457" y="2533"/>
              <a:ext cx="874" cy="262"/>
            </a:xfrm>
            <a:prstGeom prst="rect">
              <a:avLst/>
            </a:prstGeom>
            <a:solidFill>
              <a:srgbClr val="FFCC66"/>
            </a:solidFill>
            <a:ln w="12700">
              <a:solidFill>
                <a:srgbClr val="000000"/>
              </a:solidFill>
              <a:miter lim="800000"/>
              <a:headEnd/>
              <a:tailEnd/>
            </a:ln>
          </p:spPr>
          <p:txBody>
            <a:bodyPr/>
            <a:lstStyle/>
            <a:p>
              <a:endParaRPr lang="es-ES"/>
            </a:p>
          </p:txBody>
        </p:sp>
        <p:sp>
          <p:nvSpPr>
            <p:cNvPr id="17" name="Rectangle 18"/>
            <p:cNvSpPr>
              <a:spLocks noChangeArrowheads="1"/>
            </p:cNvSpPr>
            <p:nvPr/>
          </p:nvSpPr>
          <p:spPr bwMode="auto">
            <a:xfrm>
              <a:off x="3506" y="2551"/>
              <a:ext cx="783"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TESTING UNITARIO</a:t>
              </a:r>
              <a:endParaRPr lang="es-ES" sz="1800">
                <a:effectLst/>
              </a:endParaRPr>
            </a:p>
          </p:txBody>
        </p:sp>
        <p:sp>
          <p:nvSpPr>
            <p:cNvPr id="18" name="Rectangle 19"/>
            <p:cNvSpPr>
              <a:spLocks noChangeArrowheads="1"/>
            </p:cNvSpPr>
            <p:nvPr/>
          </p:nvSpPr>
          <p:spPr bwMode="auto">
            <a:xfrm>
              <a:off x="3618" y="2656"/>
              <a:ext cx="558"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E INTEGRADO</a:t>
              </a:r>
              <a:endParaRPr lang="es-ES" sz="1800">
                <a:effectLst/>
              </a:endParaRPr>
            </a:p>
          </p:txBody>
        </p:sp>
        <p:sp>
          <p:nvSpPr>
            <p:cNvPr id="19" name="Rectangle 20"/>
            <p:cNvSpPr>
              <a:spLocks noChangeArrowheads="1"/>
            </p:cNvSpPr>
            <p:nvPr/>
          </p:nvSpPr>
          <p:spPr bwMode="auto">
            <a:xfrm>
              <a:off x="3544" y="2882"/>
              <a:ext cx="875" cy="263"/>
            </a:xfrm>
            <a:prstGeom prst="rect">
              <a:avLst/>
            </a:prstGeom>
            <a:solidFill>
              <a:srgbClr val="FFCC66"/>
            </a:solidFill>
            <a:ln w="12700">
              <a:solidFill>
                <a:srgbClr val="000000"/>
              </a:solidFill>
              <a:miter lim="800000"/>
              <a:headEnd/>
              <a:tailEnd/>
            </a:ln>
          </p:spPr>
          <p:txBody>
            <a:bodyPr/>
            <a:lstStyle/>
            <a:p>
              <a:endParaRPr lang="es-ES"/>
            </a:p>
          </p:txBody>
        </p:sp>
        <p:sp>
          <p:nvSpPr>
            <p:cNvPr id="20" name="Rectangle 21"/>
            <p:cNvSpPr>
              <a:spLocks noChangeArrowheads="1"/>
            </p:cNvSpPr>
            <p:nvPr/>
          </p:nvSpPr>
          <p:spPr bwMode="auto">
            <a:xfrm>
              <a:off x="3719" y="2900"/>
              <a:ext cx="532"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TESTING DEL</a:t>
              </a:r>
              <a:endParaRPr lang="es-ES" sz="1800">
                <a:effectLst/>
              </a:endParaRPr>
            </a:p>
          </p:txBody>
        </p:sp>
        <p:sp>
          <p:nvSpPr>
            <p:cNvPr id="21" name="Rectangle 22"/>
            <p:cNvSpPr>
              <a:spLocks noChangeArrowheads="1"/>
            </p:cNvSpPr>
            <p:nvPr/>
          </p:nvSpPr>
          <p:spPr bwMode="auto">
            <a:xfrm>
              <a:off x="3807" y="3005"/>
              <a:ext cx="352"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SISTEMA</a:t>
              </a:r>
              <a:endParaRPr lang="es-ES" sz="1800">
                <a:effectLst/>
              </a:endParaRPr>
            </a:p>
          </p:txBody>
        </p:sp>
        <p:sp>
          <p:nvSpPr>
            <p:cNvPr id="22" name="Rectangle 23"/>
            <p:cNvSpPr>
              <a:spLocks noChangeArrowheads="1"/>
            </p:cNvSpPr>
            <p:nvPr/>
          </p:nvSpPr>
          <p:spPr bwMode="auto">
            <a:xfrm>
              <a:off x="3632" y="3232"/>
              <a:ext cx="874" cy="262"/>
            </a:xfrm>
            <a:prstGeom prst="rect">
              <a:avLst/>
            </a:prstGeom>
            <a:solidFill>
              <a:srgbClr val="FFCC66"/>
            </a:solidFill>
            <a:ln w="12700">
              <a:solidFill>
                <a:srgbClr val="000000"/>
              </a:solidFill>
              <a:miter lim="800000"/>
              <a:headEnd/>
              <a:tailEnd/>
            </a:ln>
          </p:spPr>
          <p:txBody>
            <a:bodyPr/>
            <a:lstStyle/>
            <a:p>
              <a:endParaRPr lang="es-ES"/>
            </a:p>
          </p:txBody>
        </p:sp>
        <p:sp>
          <p:nvSpPr>
            <p:cNvPr id="23" name="Rectangle 24"/>
            <p:cNvSpPr>
              <a:spLocks noChangeArrowheads="1"/>
            </p:cNvSpPr>
            <p:nvPr/>
          </p:nvSpPr>
          <p:spPr bwMode="auto">
            <a:xfrm>
              <a:off x="3828" y="3250"/>
              <a:ext cx="488"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TESTING DE</a:t>
              </a:r>
              <a:endParaRPr lang="es-ES" sz="1800">
                <a:effectLst/>
              </a:endParaRPr>
            </a:p>
          </p:txBody>
        </p:sp>
        <p:sp>
          <p:nvSpPr>
            <p:cNvPr id="24" name="Rectangle 25"/>
            <p:cNvSpPr>
              <a:spLocks noChangeArrowheads="1"/>
            </p:cNvSpPr>
            <p:nvPr/>
          </p:nvSpPr>
          <p:spPr bwMode="auto">
            <a:xfrm>
              <a:off x="3815" y="3355"/>
              <a:ext cx="515"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ACEPTACIÓN</a:t>
              </a:r>
              <a:endParaRPr lang="es-ES" sz="1800">
                <a:effectLst/>
              </a:endParaRPr>
            </a:p>
          </p:txBody>
        </p:sp>
        <p:sp>
          <p:nvSpPr>
            <p:cNvPr id="25" name="Rectangle 26"/>
            <p:cNvSpPr>
              <a:spLocks noChangeArrowheads="1"/>
            </p:cNvSpPr>
            <p:nvPr/>
          </p:nvSpPr>
          <p:spPr bwMode="auto">
            <a:xfrm>
              <a:off x="4337" y="3626"/>
              <a:ext cx="875" cy="263"/>
            </a:xfrm>
            <a:prstGeom prst="rect">
              <a:avLst/>
            </a:prstGeom>
            <a:solidFill>
              <a:srgbClr val="FFCC66"/>
            </a:solidFill>
            <a:ln w="12700">
              <a:solidFill>
                <a:srgbClr val="000000"/>
              </a:solidFill>
              <a:miter lim="800000"/>
              <a:headEnd/>
              <a:tailEnd/>
            </a:ln>
          </p:spPr>
          <p:txBody>
            <a:bodyPr/>
            <a:lstStyle/>
            <a:p>
              <a:endParaRPr lang="es-ES"/>
            </a:p>
          </p:txBody>
        </p:sp>
        <p:sp>
          <p:nvSpPr>
            <p:cNvPr id="26" name="Rectangle 27"/>
            <p:cNvSpPr>
              <a:spLocks noChangeArrowheads="1"/>
            </p:cNvSpPr>
            <p:nvPr/>
          </p:nvSpPr>
          <p:spPr bwMode="auto">
            <a:xfrm>
              <a:off x="4498" y="3644"/>
              <a:ext cx="554"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OPERACIÓN Y</a:t>
              </a:r>
              <a:endParaRPr lang="es-ES" sz="1800">
                <a:effectLst/>
              </a:endParaRPr>
            </a:p>
          </p:txBody>
        </p:sp>
        <p:sp>
          <p:nvSpPr>
            <p:cNvPr id="27" name="Rectangle 28"/>
            <p:cNvSpPr>
              <a:spLocks noChangeArrowheads="1"/>
            </p:cNvSpPr>
            <p:nvPr/>
          </p:nvSpPr>
          <p:spPr bwMode="auto">
            <a:xfrm>
              <a:off x="4502" y="3749"/>
              <a:ext cx="546" cy="106"/>
            </a:xfrm>
            <a:prstGeom prst="rect">
              <a:avLst/>
            </a:prstGeom>
            <a:noFill/>
            <a:ln w="9525">
              <a:noFill/>
              <a:miter lim="800000"/>
              <a:headEnd/>
              <a:tailEnd/>
            </a:ln>
          </p:spPr>
          <p:txBody>
            <a:bodyPr wrap="none" lIns="0" tIns="0" rIns="0" bIns="0">
              <a:spAutoFit/>
            </a:bodyPr>
            <a:lstStyle/>
            <a:p>
              <a:r>
                <a:rPr lang="es-ES" sz="1100">
                  <a:solidFill>
                    <a:srgbClr val="000000"/>
                  </a:solidFill>
                  <a:effectLst/>
                  <a:latin typeface="Tahoma" pitchFamily="34" charset="0"/>
                </a:rPr>
                <a:t>MANTENCIÓN</a:t>
              </a:r>
              <a:endParaRPr lang="es-ES" sz="1800">
                <a:effectLst/>
              </a:endParaRPr>
            </a:p>
          </p:txBody>
        </p:sp>
        <p:sp>
          <p:nvSpPr>
            <p:cNvPr id="28" name="Freeform 29"/>
            <p:cNvSpPr>
              <a:spLocks/>
            </p:cNvSpPr>
            <p:nvPr/>
          </p:nvSpPr>
          <p:spPr bwMode="auto">
            <a:xfrm>
              <a:off x="3014" y="1267"/>
              <a:ext cx="130" cy="326"/>
            </a:xfrm>
            <a:custGeom>
              <a:avLst/>
              <a:gdLst/>
              <a:ahLst/>
              <a:cxnLst>
                <a:cxn ang="0">
                  <a:pos x="93" y="0"/>
                </a:cxn>
                <a:cxn ang="0">
                  <a:pos x="64" y="31"/>
                </a:cxn>
                <a:cxn ang="0">
                  <a:pos x="41" y="60"/>
                </a:cxn>
                <a:cxn ang="0">
                  <a:pos x="23" y="89"/>
                </a:cxn>
                <a:cxn ang="0">
                  <a:pos x="10" y="116"/>
                </a:cxn>
                <a:cxn ang="0">
                  <a:pos x="2" y="143"/>
                </a:cxn>
                <a:cxn ang="0">
                  <a:pos x="0" y="169"/>
                </a:cxn>
                <a:cxn ang="0">
                  <a:pos x="2" y="194"/>
                </a:cxn>
                <a:cxn ang="0">
                  <a:pos x="12" y="219"/>
                </a:cxn>
                <a:cxn ang="0">
                  <a:pos x="23" y="242"/>
                </a:cxn>
                <a:cxn ang="0">
                  <a:pos x="43" y="264"/>
                </a:cxn>
                <a:cxn ang="0">
                  <a:pos x="66" y="285"/>
                </a:cxn>
                <a:cxn ang="0">
                  <a:pos x="97" y="306"/>
                </a:cxn>
                <a:cxn ang="0">
                  <a:pos x="130" y="326"/>
                </a:cxn>
              </a:cxnLst>
              <a:rect l="0" t="0" r="r" b="b"/>
              <a:pathLst>
                <a:path w="130" h="326">
                  <a:moveTo>
                    <a:pt x="93" y="0"/>
                  </a:moveTo>
                  <a:lnTo>
                    <a:pt x="64" y="31"/>
                  </a:lnTo>
                  <a:lnTo>
                    <a:pt x="41" y="60"/>
                  </a:lnTo>
                  <a:lnTo>
                    <a:pt x="23" y="89"/>
                  </a:lnTo>
                  <a:lnTo>
                    <a:pt x="10" y="116"/>
                  </a:lnTo>
                  <a:lnTo>
                    <a:pt x="2" y="143"/>
                  </a:lnTo>
                  <a:lnTo>
                    <a:pt x="0" y="169"/>
                  </a:lnTo>
                  <a:lnTo>
                    <a:pt x="2" y="194"/>
                  </a:lnTo>
                  <a:lnTo>
                    <a:pt x="12" y="219"/>
                  </a:lnTo>
                  <a:lnTo>
                    <a:pt x="23" y="242"/>
                  </a:lnTo>
                  <a:lnTo>
                    <a:pt x="43" y="264"/>
                  </a:lnTo>
                  <a:lnTo>
                    <a:pt x="66" y="285"/>
                  </a:lnTo>
                  <a:lnTo>
                    <a:pt x="97" y="306"/>
                  </a:lnTo>
                  <a:lnTo>
                    <a:pt x="130" y="326"/>
                  </a:lnTo>
                </a:path>
              </a:pathLst>
            </a:custGeom>
            <a:noFill/>
            <a:ln w="12700">
              <a:solidFill>
                <a:srgbClr val="000000"/>
              </a:solidFill>
              <a:prstDash val="solid"/>
              <a:round/>
              <a:headEnd/>
              <a:tailEnd/>
            </a:ln>
          </p:spPr>
          <p:txBody>
            <a:bodyPr/>
            <a:lstStyle/>
            <a:p>
              <a:endParaRPr lang="es-ES"/>
            </a:p>
          </p:txBody>
        </p:sp>
        <p:sp>
          <p:nvSpPr>
            <p:cNvPr id="29" name="Freeform 30"/>
            <p:cNvSpPr>
              <a:spLocks/>
            </p:cNvSpPr>
            <p:nvPr/>
          </p:nvSpPr>
          <p:spPr bwMode="auto">
            <a:xfrm>
              <a:off x="3125" y="1562"/>
              <a:ext cx="70" cy="56"/>
            </a:xfrm>
            <a:custGeom>
              <a:avLst/>
              <a:gdLst/>
              <a:ahLst/>
              <a:cxnLst>
                <a:cxn ang="0">
                  <a:pos x="25" y="0"/>
                </a:cxn>
                <a:cxn ang="0">
                  <a:pos x="70" y="54"/>
                </a:cxn>
                <a:cxn ang="0">
                  <a:pos x="0" y="56"/>
                </a:cxn>
                <a:cxn ang="0">
                  <a:pos x="25" y="0"/>
                </a:cxn>
              </a:cxnLst>
              <a:rect l="0" t="0" r="r" b="b"/>
              <a:pathLst>
                <a:path w="70" h="56">
                  <a:moveTo>
                    <a:pt x="25" y="0"/>
                  </a:moveTo>
                  <a:lnTo>
                    <a:pt x="70" y="54"/>
                  </a:lnTo>
                  <a:lnTo>
                    <a:pt x="0" y="56"/>
                  </a:lnTo>
                  <a:lnTo>
                    <a:pt x="25" y="0"/>
                  </a:lnTo>
                  <a:close/>
                </a:path>
              </a:pathLst>
            </a:custGeom>
            <a:solidFill>
              <a:srgbClr val="000000"/>
            </a:solidFill>
            <a:ln w="9525">
              <a:noFill/>
              <a:round/>
              <a:headEnd/>
              <a:tailEnd/>
            </a:ln>
          </p:spPr>
          <p:txBody>
            <a:bodyPr/>
            <a:lstStyle/>
            <a:p>
              <a:endParaRPr lang="es-ES"/>
            </a:p>
          </p:txBody>
        </p:sp>
        <p:sp>
          <p:nvSpPr>
            <p:cNvPr id="30" name="Freeform 31"/>
            <p:cNvSpPr>
              <a:spLocks/>
            </p:cNvSpPr>
            <p:nvPr/>
          </p:nvSpPr>
          <p:spPr bwMode="auto">
            <a:xfrm>
              <a:off x="3101" y="1616"/>
              <a:ext cx="131" cy="326"/>
            </a:xfrm>
            <a:custGeom>
              <a:avLst/>
              <a:gdLst/>
              <a:ahLst/>
              <a:cxnLst>
                <a:cxn ang="0">
                  <a:pos x="94" y="0"/>
                </a:cxn>
                <a:cxn ang="0">
                  <a:pos x="65" y="31"/>
                </a:cxn>
                <a:cxn ang="0">
                  <a:pos x="41" y="60"/>
                </a:cxn>
                <a:cxn ang="0">
                  <a:pos x="24" y="89"/>
                </a:cxn>
                <a:cxn ang="0">
                  <a:pos x="10" y="117"/>
                </a:cxn>
                <a:cxn ang="0">
                  <a:pos x="2" y="144"/>
                </a:cxn>
                <a:cxn ang="0">
                  <a:pos x="0" y="169"/>
                </a:cxn>
                <a:cxn ang="0">
                  <a:pos x="2" y="194"/>
                </a:cxn>
                <a:cxn ang="0">
                  <a:pos x="12" y="220"/>
                </a:cxn>
                <a:cxn ang="0">
                  <a:pos x="24" y="243"/>
                </a:cxn>
                <a:cxn ang="0">
                  <a:pos x="43" y="264"/>
                </a:cxn>
                <a:cxn ang="0">
                  <a:pos x="67" y="286"/>
                </a:cxn>
                <a:cxn ang="0">
                  <a:pos x="98" y="307"/>
                </a:cxn>
                <a:cxn ang="0">
                  <a:pos x="131" y="326"/>
                </a:cxn>
              </a:cxnLst>
              <a:rect l="0" t="0" r="r" b="b"/>
              <a:pathLst>
                <a:path w="131" h="326">
                  <a:moveTo>
                    <a:pt x="94" y="0"/>
                  </a:moveTo>
                  <a:lnTo>
                    <a:pt x="65" y="31"/>
                  </a:lnTo>
                  <a:lnTo>
                    <a:pt x="41" y="60"/>
                  </a:lnTo>
                  <a:lnTo>
                    <a:pt x="24" y="89"/>
                  </a:lnTo>
                  <a:lnTo>
                    <a:pt x="10" y="117"/>
                  </a:lnTo>
                  <a:lnTo>
                    <a:pt x="2" y="144"/>
                  </a:lnTo>
                  <a:lnTo>
                    <a:pt x="0" y="169"/>
                  </a:lnTo>
                  <a:lnTo>
                    <a:pt x="2" y="194"/>
                  </a:lnTo>
                  <a:lnTo>
                    <a:pt x="12" y="220"/>
                  </a:lnTo>
                  <a:lnTo>
                    <a:pt x="24" y="243"/>
                  </a:lnTo>
                  <a:lnTo>
                    <a:pt x="43" y="264"/>
                  </a:lnTo>
                  <a:lnTo>
                    <a:pt x="67" y="286"/>
                  </a:lnTo>
                  <a:lnTo>
                    <a:pt x="98" y="307"/>
                  </a:lnTo>
                  <a:lnTo>
                    <a:pt x="131" y="326"/>
                  </a:lnTo>
                </a:path>
              </a:pathLst>
            </a:custGeom>
            <a:noFill/>
            <a:ln w="12700">
              <a:solidFill>
                <a:srgbClr val="000000"/>
              </a:solidFill>
              <a:prstDash val="solid"/>
              <a:round/>
              <a:headEnd/>
              <a:tailEnd/>
            </a:ln>
          </p:spPr>
          <p:txBody>
            <a:bodyPr/>
            <a:lstStyle/>
            <a:p>
              <a:endParaRPr lang="es-ES"/>
            </a:p>
          </p:txBody>
        </p:sp>
        <p:sp>
          <p:nvSpPr>
            <p:cNvPr id="31" name="Freeform 32"/>
            <p:cNvSpPr>
              <a:spLocks/>
            </p:cNvSpPr>
            <p:nvPr/>
          </p:nvSpPr>
          <p:spPr bwMode="auto">
            <a:xfrm>
              <a:off x="3212" y="1911"/>
              <a:ext cx="70" cy="57"/>
            </a:xfrm>
            <a:custGeom>
              <a:avLst/>
              <a:gdLst/>
              <a:ahLst/>
              <a:cxnLst>
                <a:cxn ang="0">
                  <a:pos x="26" y="0"/>
                </a:cxn>
                <a:cxn ang="0">
                  <a:pos x="70" y="55"/>
                </a:cxn>
                <a:cxn ang="0">
                  <a:pos x="0" y="57"/>
                </a:cxn>
                <a:cxn ang="0">
                  <a:pos x="26" y="0"/>
                </a:cxn>
              </a:cxnLst>
              <a:rect l="0" t="0" r="r" b="b"/>
              <a:pathLst>
                <a:path w="70" h="57">
                  <a:moveTo>
                    <a:pt x="26" y="0"/>
                  </a:moveTo>
                  <a:lnTo>
                    <a:pt x="70" y="55"/>
                  </a:lnTo>
                  <a:lnTo>
                    <a:pt x="0" y="57"/>
                  </a:lnTo>
                  <a:lnTo>
                    <a:pt x="26" y="0"/>
                  </a:lnTo>
                  <a:close/>
                </a:path>
              </a:pathLst>
            </a:custGeom>
            <a:solidFill>
              <a:srgbClr val="000000"/>
            </a:solidFill>
            <a:ln w="9525">
              <a:noFill/>
              <a:round/>
              <a:headEnd/>
              <a:tailEnd/>
            </a:ln>
          </p:spPr>
          <p:txBody>
            <a:bodyPr/>
            <a:lstStyle/>
            <a:p>
              <a:endParaRPr lang="es-ES"/>
            </a:p>
          </p:txBody>
        </p:sp>
        <p:sp>
          <p:nvSpPr>
            <p:cNvPr id="33" name="Freeform 33"/>
            <p:cNvSpPr>
              <a:spLocks/>
            </p:cNvSpPr>
            <p:nvPr/>
          </p:nvSpPr>
          <p:spPr bwMode="auto">
            <a:xfrm>
              <a:off x="3189" y="1966"/>
              <a:ext cx="130" cy="326"/>
            </a:xfrm>
            <a:custGeom>
              <a:avLst/>
              <a:gdLst/>
              <a:ahLst/>
              <a:cxnLst>
                <a:cxn ang="0">
                  <a:pos x="93" y="0"/>
                </a:cxn>
                <a:cxn ang="0">
                  <a:pos x="64" y="31"/>
                </a:cxn>
                <a:cxn ang="0">
                  <a:pos x="41" y="60"/>
                </a:cxn>
                <a:cxn ang="0">
                  <a:pos x="23" y="89"/>
                </a:cxn>
                <a:cxn ang="0">
                  <a:pos x="10" y="116"/>
                </a:cxn>
                <a:cxn ang="0">
                  <a:pos x="2" y="143"/>
                </a:cxn>
                <a:cxn ang="0">
                  <a:pos x="0" y="169"/>
                </a:cxn>
                <a:cxn ang="0">
                  <a:pos x="2" y="194"/>
                </a:cxn>
                <a:cxn ang="0">
                  <a:pos x="12" y="219"/>
                </a:cxn>
                <a:cxn ang="0">
                  <a:pos x="23" y="243"/>
                </a:cxn>
                <a:cxn ang="0">
                  <a:pos x="43" y="264"/>
                </a:cxn>
                <a:cxn ang="0">
                  <a:pos x="66" y="285"/>
                </a:cxn>
                <a:cxn ang="0">
                  <a:pos x="97" y="307"/>
                </a:cxn>
                <a:cxn ang="0">
                  <a:pos x="130" y="326"/>
                </a:cxn>
              </a:cxnLst>
              <a:rect l="0" t="0" r="r" b="b"/>
              <a:pathLst>
                <a:path w="130" h="326">
                  <a:moveTo>
                    <a:pt x="93" y="0"/>
                  </a:moveTo>
                  <a:lnTo>
                    <a:pt x="64" y="31"/>
                  </a:lnTo>
                  <a:lnTo>
                    <a:pt x="41" y="60"/>
                  </a:lnTo>
                  <a:lnTo>
                    <a:pt x="23" y="89"/>
                  </a:lnTo>
                  <a:lnTo>
                    <a:pt x="10" y="116"/>
                  </a:lnTo>
                  <a:lnTo>
                    <a:pt x="2" y="143"/>
                  </a:lnTo>
                  <a:lnTo>
                    <a:pt x="0" y="169"/>
                  </a:lnTo>
                  <a:lnTo>
                    <a:pt x="2" y="194"/>
                  </a:lnTo>
                  <a:lnTo>
                    <a:pt x="12" y="219"/>
                  </a:lnTo>
                  <a:lnTo>
                    <a:pt x="23" y="243"/>
                  </a:lnTo>
                  <a:lnTo>
                    <a:pt x="43" y="264"/>
                  </a:lnTo>
                  <a:lnTo>
                    <a:pt x="66" y="285"/>
                  </a:lnTo>
                  <a:lnTo>
                    <a:pt x="97" y="307"/>
                  </a:lnTo>
                  <a:lnTo>
                    <a:pt x="130" y="326"/>
                  </a:lnTo>
                </a:path>
              </a:pathLst>
            </a:custGeom>
            <a:noFill/>
            <a:ln w="12700">
              <a:solidFill>
                <a:srgbClr val="000000"/>
              </a:solidFill>
              <a:prstDash val="solid"/>
              <a:round/>
              <a:headEnd/>
              <a:tailEnd/>
            </a:ln>
          </p:spPr>
          <p:txBody>
            <a:bodyPr/>
            <a:lstStyle/>
            <a:p>
              <a:endParaRPr lang="es-ES"/>
            </a:p>
          </p:txBody>
        </p:sp>
        <p:sp>
          <p:nvSpPr>
            <p:cNvPr id="34" name="Freeform 34"/>
            <p:cNvSpPr>
              <a:spLocks/>
            </p:cNvSpPr>
            <p:nvPr/>
          </p:nvSpPr>
          <p:spPr bwMode="auto">
            <a:xfrm>
              <a:off x="3300" y="2261"/>
              <a:ext cx="70" cy="56"/>
            </a:xfrm>
            <a:custGeom>
              <a:avLst/>
              <a:gdLst/>
              <a:ahLst/>
              <a:cxnLst>
                <a:cxn ang="0">
                  <a:pos x="25" y="0"/>
                </a:cxn>
                <a:cxn ang="0">
                  <a:pos x="70" y="54"/>
                </a:cxn>
                <a:cxn ang="0">
                  <a:pos x="0" y="56"/>
                </a:cxn>
                <a:cxn ang="0">
                  <a:pos x="25" y="0"/>
                </a:cxn>
              </a:cxnLst>
              <a:rect l="0" t="0" r="r" b="b"/>
              <a:pathLst>
                <a:path w="70" h="56">
                  <a:moveTo>
                    <a:pt x="25" y="0"/>
                  </a:moveTo>
                  <a:lnTo>
                    <a:pt x="70" y="54"/>
                  </a:lnTo>
                  <a:lnTo>
                    <a:pt x="0" y="56"/>
                  </a:lnTo>
                  <a:lnTo>
                    <a:pt x="25" y="0"/>
                  </a:lnTo>
                  <a:close/>
                </a:path>
              </a:pathLst>
            </a:custGeom>
            <a:solidFill>
              <a:srgbClr val="000000"/>
            </a:solidFill>
            <a:ln w="9525">
              <a:noFill/>
              <a:round/>
              <a:headEnd/>
              <a:tailEnd/>
            </a:ln>
          </p:spPr>
          <p:txBody>
            <a:bodyPr/>
            <a:lstStyle/>
            <a:p>
              <a:endParaRPr lang="es-ES"/>
            </a:p>
          </p:txBody>
        </p:sp>
        <p:sp>
          <p:nvSpPr>
            <p:cNvPr id="35" name="Freeform 35"/>
            <p:cNvSpPr>
              <a:spLocks/>
            </p:cNvSpPr>
            <p:nvPr/>
          </p:nvSpPr>
          <p:spPr bwMode="auto">
            <a:xfrm>
              <a:off x="3276" y="2315"/>
              <a:ext cx="131" cy="327"/>
            </a:xfrm>
            <a:custGeom>
              <a:avLst/>
              <a:gdLst/>
              <a:ahLst/>
              <a:cxnLst>
                <a:cxn ang="0">
                  <a:pos x="94" y="0"/>
                </a:cxn>
                <a:cxn ang="0">
                  <a:pos x="64" y="31"/>
                </a:cxn>
                <a:cxn ang="0">
                  <a:pos x="41" y="61"/>
                </a:cxn>
                <a:cxn ang="0">
                  <a:pos x="24" y="90"/>
                </a:cxn>
                <a:cxn ang="0">
                  <a:pos x="10" y="117"/>
                </a:cxn>
                <a:cxn ang="0">
                  <a:pos x="2" y="144"/>
                </a:cxn>
                <a:cxn ang="0">
                  <a:pos x="0" y="169"/>
                </a:cxn>
                <a:cxn ang="0">
                  <a:pos x="2" y="195"/>
                </a:cxn>
                <a:cxn ang="0">
                  <a:pos x="12" y="220"/>
                </a:cxn>
                <a:cxn ang="0">
                  <a:pos x="24" y="243"/>
                </a:cxn>
                <a:cxn ang="0">
                  <a:pos x="43" y="264"/>
                </a:cxn>
                <a:cxn ang="0">
                  <a:pos x="66" y="286"/>
                </a:cxn>
                <a:cxn ang="0">
                  <a:pos x="98" y="307"/>
                </a:cxn>
                <a:cxn ang="0">
                  <a:pos x="131" y="327"/>
                </a:cxn>
              </a:cxnLst>
              <a:rect l="0" t="0" r="r" b="b"/>
              <a:pathLst>
                <a:path w="131" h="327">
                  <a:moveTo>
                    <a:pt x="94" y="0"/>
                  </a:moveTo>
                  <a:lnTo>
                    <a:pt x="64" y="31"/>
                  </a:lnTo>
                  <a:lnTo>
                    <a:pt x="41" y="61"/>
                  </a:lnTo>
                  <a:lnTo>
                    <a:pt x="24" y="90"/>
                  </a:lnTo>
                  <a:lnTo>
                    <a:pt x="10" y="117"/>
                  </a:lnTo>
                  <a:lnTo>
                    <a:pt x="2" y="144"/>
                  </a:lnTo>
                  <a:lnTo>
                    <a:pt x="0" y="169"/>
                  </a:lnTo>
                  <a:lnTo>
                    <a:pt x="2" y="195"/>
                  </a:lnTo>
                  <a:lnTo>
                    <a:pt x="12" y="220"/>
                  </a:lnTo>
                  <a:lnTo>
                    <a:pt x="24" y="243"/>
                  </a:lnTo>
                  <a:lnTo>
                    <a:pt x="43" y="264"/>
                  </a:lnTo>
                  <a:lnTo>
                    <a:pt x="66" y="286"/>
                  </a:lnTo>
                  <a:lnTo>
                    <a:pt x="98" y="307"/>
                  </a:lnTo>
                  <a:lnTo>
                    <a:pt x="131" y="327"/>
                  </a:lnTo>
                </a:path>
              </a:pathLst>
            </a:custGeom>
            <a:noFill/>
            <a:ln w="12700">
              <a:solidFill>
                <a:srgbClr val="000000"/>
              </a:solidFill>
              <a:prstDash val="solid"/>
              <a:round/>
              <a:headEnd/>
              <a:tailEnd/>
            </a:ln>
          </p:spPr>
          <p:txBody>
            <a:bodyPr/>
            <a:lstStyle/>
            <a:p>
              <a:endParaRPr lang="es-ES"/>
            </a:p>
          </p:txBody>
        </p:sp>
        <p:sp>
          <p:nvSpPr>
            <p:cNvPr id="36" name="Freeform 36"/>
            <p:cNvSpPr>
              <a:spLocks/>
            </p:cNvSpPr>
            <p:nvPr/>
          </p:nvSpPr>
          <p:spPr bwMode="auto">
            <a:xfrm>
              <a:off x="3387" y="2611"/>
              <a:ext cx="70" cy="56"/>
            </a:xfrm>
            <a:custGeom>
              <a:avLst/>
              <a:gdLst/>
              <a:ahLst/>
              <a:cxnLst>
                <a:cxn ang="0">
                  <a:pos x="25" y="0"/>
                </a:cxn>
                <a:cxn ang="0">
                  <a:pos x="70" y="54"/>
                </a:cxn>
                <a:cxn ang="0">
                  <a:pos x="0" y="56"/>
                </a:cxn>
                <a:cxn ang="0">
                  <a:pos x="25" y="0"/>
                </a:cxn>
              </a:cxnLst>
              <a:rect l="0" t="0" r="r" b="b"/>
              <a:pathLst>
                <a:path w="70" h="56">
                  <a:moveTo>
                    <a:pt x="25" y="0"/>
                  </a:moveTo>
                  <a:lnTo>
                    <a:pt x="70" y="54"/>
                  </a:lnTo>
                  <a:lnTo>
                    <a:pt x="0" y="56"/>
                  </a:lnTo>
                  <a:lnTo>
                    <a:pt x="25" y="0"/>
                  </a:lnTo>
                  <a:close/>
                </a:path>
              </a:pathLst>
            </a:custGeom>
            <a:solidFill>
              <a:srgbClr val="000000"/>
            </a:solidFill>
            <a:ln w="9525">
              <a:noFill/>
              <a:round/>
              <a:headEnd/>
              <a:tailEnd/>
            </a:ln>
          </p:spPr>
          <p:txBody>
            <a:bodyPr/>
            <a:lstStyle/>
            <a:p>
              <a:endParaRPr lang="es-ES"/>
            </a:p>
          </p:txBody>
        </p:sp>
        <p:sp>
          <p:nvSpPr>
            <p:cNvPr id="37" name="Freeform 37"/>
            <p:cNvSpPr>
              <a:spLocks/>
            </p:cNvSpPr>
            <p:nvPr/>
          </p:nvSpPr>
          <p:spPr bwMode="auto">
            <a:xfrm>
              <a:off x="3364" y="2665"/>
              <a:ext cx="130" cy="326"/>
            </a:xfrm>
            <a:custGeom>
              <a:avLst/>
              <a:gdLst/>
              <a:ahLst/>
              <a:cxnLst>
                <a:cxn ang="0">
                  <a:pos x="93" y="0"/>
                </a:cxn>
                <a:cxn ang="0">
                  <a:pos x="64" y="31"/>
                </a:cxn>
                <a:cxn ang="0">
                  <a:pos x="41" y="60"/>
                </a:cxn>
                <a:cxn ang="0">
                  <a:pos x="23" y="89"/>
                </a:cxn>
                <a:cxn ang="0">
                  <a:pos x="10" y="116"/>
                </a:cxn>
                <a:cxn ang="0">
                  <a:pos x="2" y="144"/>
                </a:cxn>
                <a:cxn ang="0">
                  <a:pos x="0" y="169"/>
                </a:cxn>
                <a:cxn ang="0">
                  <a:pos x="2" y="194"/>
                </a:cxn>
                <a:cxn ang="0">
                  <a:pos x="11" y="219"/>
                </a:cxn>
                <a:cxn ang="0">
                  <a:pos x="23" y="243"/>
                </a:cxn>
                <a:cxn ang="0">
                  <a:pos x="43" y="264"/>
                </a:cxn>
                <a:cxn ang="0">
                  <a:pos x="66" y="285"/>
                </a:cxn>
                <a:cxn ang="0">
                  <a:pos x="97" y="307"/>
                </a:cxn>
                <a:cxn ang="0">
                  <a:pos x="130" y="326"/>
                </a:cxn>
              </a:cxnLst>
              <a:rect l="0" t="0" r="r" b="b"/>
              <a:pathLst>
                <a:path w="130" h="326">
                  <a:moveTo>
                    <a:pt x="93" y="0"/>
                  </a:moveTo>
                  <a:lnTo>
                    <a:pt x="64" y="31"/>
                  </a:lnTo>
                  <a:lnTo>
                    <a:pt x="41" y="60"/>
                  </a:lnTo>
                  <a:lnTo>
                    <a:pt x="23" y="89"/>
                  </a:lnTo>
                  <a:lnTo>
                    <a:pt x="10" y="116"/>
                  </a:lnTo>
                  <a:lnTo>
                    <a:pt x="2" y="144"/>
                  </a:lnTo>
                  <a:lnTo>
                    <a:pt x="0" y="169"/>
                  </a:lnTo>
                  <a:lnTo>
                    <a:pt x="2" y="194"/>
                  </a:lnTo>
                  <a:lnTo>
                    <a:pt x="11" y="219"/>
                  </a:lnTo>
                  <a:lnTo>
                    <a:pt x="23" y="243"/>
                  </a:lnTo>
                  <a:lnTo>
                    <a:pt x="43" y="264"/>
                  </a:lnTo>
                  <a:lnTo>
                    <a:pt x="66" y="285"/>
                  </a:lnTo>
                  <a:lnTo>
                    <a:pt x="97" y="307"/>
                  </a:lnTo>
                  <a:lnTo>
                    <a:pt x="130" y="326"/>
                  </a:lnTo>
                </a:path>
              </a:pathLst>
            </a:custGeom>
            <a:noFill/>
            <a:ln w="12700">
              <a:solidFill>
                <a:srgbClr val="000000"/>
              </a:solidFill>
              <a:prstDash val="solid"/>
              <a:round/>
              <a:headEnd/>
              <a:tailEnd/>
            </a:ln>
          </p:spPr>
          <p:txBody>
            <a:bodyPr/>
            <a:lstStyle/>
            <a:p>
              <a:endParaRPr lang="es-ES"/>
            </a:p>
          </p:txBody>
        </p:sp>
        <p:sp>
          <p:nvSpPr>
            <p:cNvPr id="38" name="Freeform 38"/>
            <p:cNvSpPr>
              <a:spLocks/>
            </p:cNvSpPr>
            <p:nvPr/>
          </p:nvSpPr>
          <p:spPr bwMode="auto">
            <a:xfrm>
              <a:off x="3475" y="2960"/>
              <a:ext cx="69" cy="56"/>
            </a:xfrm>
            <a:custGeom>
              <a:avLst/>
              <a:gdLst/>
              <a:ahLst/>
              <a:cxnLst>
                <a:cxn ang="0">
                  <a:pos x="25" y="0"/>
                </a:cxn>
                <a:cxn ang="0">
                  <a:pos x="69" y="55"/>
                </a:cxn>
                <a:cxn ang="0">
                  <a:pos x="0" y="56"/>
                </a:cxn>
                <a:cxn ang="0">
                  <a:pos x="25" y="0"/>
                </a:cxn>
              </a:cxnLst>
              <a:rect l="0" t="0" r="r" b="b"/>
              <a:pathLst>
                <a:path w="69" h="56">
                  <a:moveTo>
                    <a:pt x="25" y="0"/>
                  </a:moveTo>
                  <a:lnTo>
                    <a:pt x="69" y="55"/>
                  </a:lnTo>
                  <a:lnTo>
                    <a:pt x="0" y="56"/>
                  </a:lnTo>
                  <a:lnTo>
                    <a:pt x="25" y="0"/>
                  </a:lnTo>
                  <a:close/>
                </a:path>
              </a:pathLst>
            </a:custGeom>
            <a:solidFill>
              <a:srgbClr val="000000"/>
            </a:solidFill>
            <a:ln w="9525">
              <a:noFill/>
              <a:round/>
              <a:headEnd/>
              <a:tailEnd/>
            </a:ln>
          </p:spPr>
          <p:txBody>
            <a:bodyPr/>
            <a:lstStyle/>
            <a:p>
              <a:endParaRPr lang="es-ES"/>
            </a:p>
          </p:txBody>
        </p:sp>
        <p:sp>
          <p:nvSpPr>
            <p:cNvPr id="39" name="Freeform 39"/>
            <p:cNvSpPr>
              <a:spLocks/>
            </p:cNvSpPr>
            <p:nvPr/>
          </p:nvSpPr>
          <p:spPr bwMode="auto">
            <a:xfrm>
              <a:off x="3451" y="3015"/>
              <a:ext cx="130" cy="326"/>
            </a:xfrm>
            <a:custGeom>
              <a:avLst/>
              <a:gdLst/>
              <a:ahLst/>
              <a:cxnLst>
                <a:cxn ang="0">
                  <a:pos x="93" y="0"/>
                </a:cxn>
                <a:cxn ang="0">
                  <a:pos x="64" y="31"/>
                </a:cxn>
                <a:cxn ang="0">
                  <a:pos x="41" y="60"/>
                </a:cxn>
                <a:cxn ang="0">
                  <a:pos x="24" y="89"/>
                </a:cxn>
                <a:cxn ang="0">
                  <a:pos x="10" y="116"/>
                </a:cxn>
                <a:cxn ang="0">
                  <a:pos x="2" y="143"/>
                </a:cxn>
                <a:cxn ang="0">
                  <a:pos x="0" y="169"/>
                </a:cxn>
                <a:cxn ang="0">
                  <a:pos x="2" y="194"/>
                </a:cxn>
                <a:cxn ang="0">
                  <a:pos x="12" y="219"/>
                </a:cxn>
                <a:cxn ang="0">
                  <a:pos x="24" y="242"/>
                </a:cxn>
                <a:cxn ang="0">
                  <a:pos x="43" y="264"/>
                </a:cxn>
                <a:cxn ang="0">
                  <a:pos x="66" y="285"/>
                </a:cxn>
                <a:cxn ang="0">
                  <a:pos x="97" y="306"/>
                </a:cxn>
                <a:cxn ang="0">
                  <a:pos x="130" y="326"/>
                </a:cxn>
              </a:cxnLst>
              <a:rect l="0" t="0" r="r" b="b"/>
              <a:pathLst>
                <a:path w="130" h="326">
                  <a:moveTo>
                    <a:pt x="93" y="0"/>
                  </a:moveTo>
                  <a:lnTo>
                    <a:pt x="64" y="31"/>
                  </a:lnTo>
                  <a:lnTo>
                    <a:pt x="41" y="60"/>
                  </a:lnTo>
                  <a:lnTo>
                    <a:pt x="24" y="89"/>
                  </a:lnTo>
                  <a:lnTo>
                    <a:pt x="10" y="116"/>
                  </a:lnTo>
                  <a:lnTo>
                    <a:pt x="2" y="143"/>
                  </a:lnTo>
                  <a:lnTo>
                    <a:pt x="0" y="169"/>
                  </a:lnTo>
                  <a:lnTo>
                    <a:pt x="2" y="194"/>
                  </a:lnTo>
                  <a:lnTo>
                    <a:pt x="12" y="219"/>
                  </a:lnTo>
                  <a:lnTo>
                    <a:pt x="24" y="242"/>
                  </a:lnTo>
                  <a:lnTo>
                    <a:pt x="43" y="264"/>
                  </a:lnTo>
                  <a:lnTo>
                    <a:pt x="66" y="285"/>
                  </a:lnTo>
                  <a:lnTo>
                    <a:pt x="97" y="306"/>
                  </a:lnTo>
                  <a:lnTo>
                    <a:pt x="130" y="326"/>
                  </a:lnTo>
                </a:path>
              </a:pathLst>
            </a:custGeom>
            <a:noFill/>
            <a:ln w="12700">
              <a:solidFill>
                <a:srgbClr val="000000"/>
              </a:solidFill>
              <a:prstDash val="solid"/>
              <a:round/>
              <a:headEnd/>
              <a:tailEnd/>
            </a:ln>
          </p:spPr>
          <p:txBody>
            <a:bodyPr/>
            <a:lstStyle/>
            <a:p>
              <a:endParaRPr lang="es-ES"/>
            </a:p>
          </p:txBody>
        </p:sp>
        <p:sp>
          <p:nvSpPr>
            <p:cNvPr id="40" name="Freeform 40"/>
            <p:cNvSpPr>
              <a:spLocks/>
            </p:cNvSpPr>
            <p:nvPr/>
          </p:nvSpPr>
          <p:spPr bwMode="auto">
            <a:xfrm>
              <a:off x="3562" y="3310"/>
              <a:ext cx="70" cy="56"/>
            </a:xfrm>
            <a:custGeom>
              <a:avLst/>
              <a:gdLst/>
              <a:ahLst/>
              <a:cxnLst>
                <a:cxn ang="0">
                  <a:pos x="25" y="0"/>
                </a:cxn>
                <a:cxn ang="0">
                  <a:pos x="70" y="54"/>
                </a:cxn>
                <a:cxn ang="0">
                  <a:pos x="0" y="56"/>
                </a:cxn>
                <a:cxn ang="0">
                  <a:pos x="25" y="0"/>
                </a:cxn>
              </a:cxnLst>
              <a:rect l="0" t="0" r="r" b="b"/>
              <a:pathLst>
                <a:path w="70" h="56">
                  <a:moveTo>
                    <a:pt x="25" y="0"/>
                  </a:moveTo>
                  <a:lnTo>
                    <a:pt x="70" y="54"/>
                  </a:lnTo>
                  <a:lnTo>
                    <a:pt x="0" y="56"/>
                  </a:lnTo>
                  <a:lnTo>
                    <a:pt x="25" y="0"/>
                  </a:lnTo>
                  <a:close/>
                </a:path>
              </a:pathLst>
            </a:custGeom>
            <a:solidFill>
              <a:srgbClr val="000000"/>
            </a:solidFill>
            <a:ln w="9525">
              <a:noFill/>
              <a:round/>
              <a:headEnd/>
              <a:tailEnd/>
            </a:ln>
          </p:spPr>
          <p:txBody>
            <a:bodyPr/>
            <a:lstStyle/>
            <a:p>
              <a:endParaRPr lang="es-ES"/>
            </a:p>
          </p:txBody>
        </p:sp>
        <p:sp>
          <p:nvSpPr>
            <p:cNvPr id="41" name="Freeform 41"/>
            <p:cNvSpPr>
              <a:spLocks/>
            </p:cNvSpPr>
            <p:nvPr/>
          </p:nvSpPr>
          <p:spPr bwMode="auto">
            <a:xfrm>
              <a:off x="4067" y="3494"/>
              <a:ext cx="214" cy="264"/>
            </a:xfrm>
            <a:custGeom>
              <a:avLst/>
              <a:gdLst/>
              <a:ahLst/>
              <a:cxnLst>
                <a:cxn ang="0">
                  <a:pos x="2" y="0"/>
                </a:cxn>
                <a:cxn ang="0">
                  <a:pos x="0" y="41"/>
                </a:cxn>
                <a:cxn ang="0">
                  <a:pos x="2" y="78"/>
                </a:cxn>
                <a:cxn ang="0">
                  <a:pos x="6" y="113"/>
                </a:cxn>
                <a:cxn ang="0">
                  <a:pos x="16" y="142"/>
                </a:cxn>
                <a:cxn ang="0">
                  <a:pos x="27" y="169"/>
                </a:cxn>
                <a:cxn ang="0">
                  <a:pos x="43" y="193"/>
                </a:cxn>
                <a:cxn ang="0">
                  <a:pos x="62" y="214"/>
                </a:cxn>
                <a:cxn ang="0">
                  <a:pos x="86" y="229"/>
                </a:cxn>
                <a:cxn ang="0">
                  <a:pos x="113" y="243"/>
                </a:cxn>
                <a:cxn ang="0">
                  <a:pos x="144" y="253"/>
                </a:cxn>
                <a:cxn ang="0">
                  <a:pos x="177" y="261"/>
                </a:cxn>
                <a:cxn ang="0">
                  <a:pos x="214" y="264"/>
                </a:cxn>
              </a:cxnLst>
              <a:rect l="0" t="0" r="r" b="b"/>
              <a:pathLst>
                <a:path w="214" h="264">
                  <a:moveTo>
                    <a:pt x="2" y="0"/>
                  </a:moveTo>
                  <a:lnTo>
                    <a:pt x="0" y="41"/>
                  </a:lnTo>
                  <a:lnTo>
                    <a:pt x="2" y="78"/>
                  </a:lnTo>
                  <a:lnTo>
                    <a:pt x="6" y="113"/>
                  </a:lnTo>
                  <a:lnTo>
                    <a:pt x="16" y="142"/>
                  </a:lnTo>
                  <a:lnTo>
                    <a:pt x="27" y="169"/>
                  </a:lnTo>
                  <a:lnTo>
                    <a:pt x="43" y="193"/>
                  </a:lnTo>
                  <a:lnTo>
                    <a:pt x="62" y="214"/>
                  </a:lnTo>
                  <a:lnTo>
                    <a:pt x="86" y="229"/>
                  </a:lnTo>
                  <a:lnTo>
                    <a:pt x="113" y="243"/>
                  </a:lnTo>
                  <a:lnTo>
                    <a:pt x="144" y="253"/>
                  </a:lnTo>
                  <a:lnTo>
                    <a:pt x="177" y="261"/>
                  </a:lnTo>
                  <a:lnTo>
                    <a:pt x="214" y="264"/>
                  </a:lnTo>
                </a:path>
              </a:pathLst>
            </a:custGeom>
            <a:noFill/>
            <a:ln w="12700">
              <a:solidFill>
                <a:srgbClr val="000000"/>
              </a:solidFill>
              <a:prstDash val="solid"/>
              <a:round/>
              <a:headEnd/>
              <a:tailEnd/>
            </a:ln>
          </p:spPr>
          <p:txBody>
            <a:bodyPr/>
            <a:lstStyle/>
            <a:p>
              <a:endParaRPr lang="es-ES"/>
            </a:p>
          </p:txBody>
        </p:sp>
        <p:sp>
          <p:nvSpPr>
            <p:cNvPr id="42" name="Freeform 42"/>
            <p:cNvSpPr>
              <a:spLocks/>
            </p:cNvSpPr>
            <p:nvPr/>
          </p:nvSpPr>
          <p:spPr bwMode="auto">
            <a:xfrm>
              <a:off x="4273" y="3725"/>
              <a:ext cx="64" cy="64"/>
            </a:xfrm>
            <a:custGeom>
              <a:avLst/>
              <a:gdLst/>
              <a:ahLst/>
              <a:cxnLst>
                <a:cxn ang="0">
                  <a:pos x="0" y="0"/>
                </a:cxn>
                <a:cxn ang="0">
                  <a:pos x="64" y="31"/>
                </a:cxn>
                <a:cxn ang="0">
                  <a:pos x="2" y="64"/>
                </a:cxn>
                <a:cxn ang="0">
                  <a:pos x="0" y="0"/>
                </a:cxn>
              </a:cxnLst>
              <a:rect l="0" t="0" r="r" b="b"/>
              <a:pathLst>
                <a:path w="64" h="64">
                  <a:moveTo>
                    <a:pt x="0" y="0"/>
                  </a:moveTo>
                  <a:lnTo>
                    <a:pt x="64" y="31"/>
                  </a:lnTo>
                  <a:lnTo>
                    <a:pt x="2" y="64"/>
                  </a:lnTo>
                  <a:lnTo>
                    <a:pt x="0" y="0"/>
                  </a:lnTo>
                  <a:close/>
                </a:path>
              </a:pathLst>
            </a:custGeom>
            <a:solidFill>
              <a:srgbClr val="000000"/>
            </a:solidFill>
            <a:ln w="9525">
              <a:noFill/>
              <a:round/>
              <a:headEnd/>
              <a:tailEnd/>
            </a:ln>
          </p:spPr>
          <p:txBody>
            <a:bodyPr/>
            <a:lstStyle/>
            <a:p>
              <a:endParaRPr lang="es-ES"/>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Modelo en Cascada</a:t>
            </a:r>
            <a:endParaRPr lang="en-US" dirty="0"/>
          </a:p>
        </p:txBody>
      </p:sp>
      <p:sp>
        <p:nvSpPr>
          <p:cNvPr id="770" name="Rectangle 2"/>
          <p:cNvSpPr txBox="1">
            <a:spLocks noChangeArrowheads="1"/>
          </p:cNvSpPr>
          <p:nvPr/>
        </p:nvSpPr>
        <p:spPr bwMode="auto">
          <a:xfrm>
            <a:off x="509588" y="2144714"/>
            <a:ext cx="2733675" cy="366767"/>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spAutoFit/>
          </a:bodyPr>
          <a:lstStyle/>
          <a:p>
            <a:pPr marL="0" marR="0" lvl="0" indent="0" algn="just" defTabSz="914400" rtl="0" eaLnBrk="1" fontAlgn="base" latinLnBrk="0" hangingPunct="1">
              <a:lnSpc>
                <a:spcPct val="100000"/>
              </a:lnSpc>
              <a:spcBef>
                <a:spcPct val="20000"/>
              </a:spcBef>
              <a:spcAft>
                <a:spcPct val="0"/>
              </a:spcAft>
              <a:buClr>
                <a:srgbClr val="7399B9"/>
              </a:buClr>
              <a:buSzTx/>
              <a:buFont typeface="Wingdings" pitchFamily="2" charset="2"/>
              <a:buNone/>
              <a:tabLst/>
              <a:defRPr/>
            </a:pPr>
            <a:r>
              <a:rPr kumimoji="0" lang="es-CL" b="0" i="0" u="none" strike="noStrike" kern="0" cap="none" spc="0" normalizeH="0" baseline="0" noProof="0" dirty="0" smtClean="0">
                <a:ln>
                  <a:noFill/>
                </a:ln>
                <a:solidFill>
                  <a:srgbClr val="002060"/>
                </a:solidFill>
                <a:effectLst/>
                <a:uLnTx/>
                <a:uFillTx/>
                <a:ea typeface="+mn-ea"/>
                <a:cs typeface="+mn-cs"/>
              </a:rPr>
              <a:t>En la práctica…</a:t>
            </a:r>
          </a:p>
        </p:txBody>
      </p:sp>
      <p:sp>
        <p:nvSpPr>
          <p:cNvPr id="771" name="AutoShape 3"/>
          <p:cNvSpPr>
            <a:spLocks noChangeAspect="1" noChangeArrowheads="1" noTextEdit="1"/>
          </p:cNvSpPr>
          <p:nvPr/>
        </p:nvSpPr>
        <p:spPr bwMode="auto">
          <a:xfrm>
            <a:off x="5075671" y="1796102"/>
            <a:ext cx="6248400" cy="4330700"/>
          </a:xfrm>
          <a:prstGeom prst="rect">
            <a:avLst/>
          </a:prstGeom>
          <a:noFill/>
          <a:ln w="9525">
            <a:no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72" name="Rectangle 4"/>
          <p:cNvSpPr>
            <a:spLocks noChangeArrowheads="1"/>
          </p:cNvSpPr>
          <p:nvPr/>
        </p:nvSpPr>
        <p:spPr bwMode="auto">
          <a:xfrm>
            <a:off x="7474384" y="1877065"/>
            <a:ext cx="1577975" cy="473075"/>
          </a:xfrm>
          <a:prstGeom prst="rect">
            <a:avLst/>
          </a:prstGeom>
          <a:solidFill>
            <a:srgbClr val="FFCC66"/>
          </a:solidFill>
          <a:ln w="14288">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73" name="Rectangle 5"/>
          <p:cNvSpPr>
            <a:spLocks noChangeArrowheads="1"/>
          </p:cNvSpPr>
          <p:nvPr/>
        </p:nvSpPr>
        <p:spPr bwMode="auto">
          <a:xfrm>
            <a:off x="7807759" y="1908815"/>
            <a:ext cx="881062" cy="182562"/>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ANÁLISIS DE</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74" name="Rectangle 6"/>
          <p:cNvSpPr>
            <a:spLocks noChangeArrowheads="1"/>
          </p:cNvSpPr>
          <p:nvPr/>
        </p:nvSpPr>
        <p:spPr bwMode="auto">
          <a:xfrm>
            <a:off x="7602971" y="2099315"/>
            <a:ext cx="1270000" cy="182562"/>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REQUERIMIENTOS</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75" name="Rectangle 7"/>
          <p:cNvSpPr>
            <a:spLocks noChangeArrowheads="1"/>
          </p:cNvSpPr>
          <p:nvPr/>
        </p:nvSpPr>
        <p:spPr bwMode="auto">
          <a:xfrm>
            <a:off x="8895196" y="2824802"/>
            <a:ext cx="1577975" cy="473075"/>
          </a:xfrm>
          <a:prstGeom prst="rect">
            <a:avLst/>
          </a:prstGeom>
          <a:solidFill>
            <a:srgbClr val="FFCC66"/>
          </a:solidFill>
          <a:ln w="14288">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76" name="Rectangle 8"/>
          <p:cNvSpPr>
            <a:spLocks noChangeArrowheads="1"/>
          </p:cNvSpPr>
          <p:nvPr/>
        </p:nvSpPr>
        <p:spPr bwMode="auto">
          <a:xfrm>
            <a:off x="9241271" y="2856552"/>
            <a:ext cx="852488" cy="182563"/>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DISEÑO DEL</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77" name="Rectangle 9"/>
          <p:cNvSpPr>
            <a:spLocks noChangeArrowheads="1"/>
          </p:cNvSpPr>
          <p:nvPr/>
        </p:nvSpPr>
        <p:spPr bwMode="auto">
          <a:xfrm>
            <a:off x="9368271" y="3047052"/>
            <a:ext cx="609600" cy="182563"/>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SISTEMA</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78" name="Rectangle 10"/>
          <p:cNvSpPr>
            <a:spLocks noChangeArrowheads="1"/>
          </p:cNvSpPr>
          <p:nvPr/>
        </p:nvSpPr>
        <p:spPr bwMode="auto">
          <a:xfrm>
            <a:off x="9368271" y="3772540"/>
            <a:ext cx="1577975" cy="476250"/>
          </a:xfrm>
          <a:prstGeom prst="rect">
            <a:avLst/>
          </a:prstGeom>
          <a:solidFill>
            <a:srgbClr val="FFCC66"/>
          </a:solidFill>
          <a:ln w="14288">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79" name="Rectangle 11"/>
          <p:cNvSpPr>
            <a:spLocks noChangeArrowheads="1"/>
          </p:cNvSpPr>
          <p:nvPr/>
        </p:nvSpPr>
        <p:spPr bwMode="auto">
          <a:xfrm>
            <a:off x="9754034" y="3804290"/>
            <a:ext cx="776287" cy="182562"/>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DISEÑO DE</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80" name="Rectangle 12"/>
          <p:cNvSpPr>
            <a:spLocks noChangeArrowheads="1"/>
          </p:cNvSpPr>
          <p:nvPr/>
        </p:nvSpPr>
        <p:spPr bwMode="auto">
          <a:xfrm>
            <a:off x="9704821" y="3997965"/>
            <a:ext cx="869950" cy="182562"/>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PROGRAMAS</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81" name="Rectangle 13"/>
          <p:cNvSpPr>
            <a:spLocks noChangeArrowheads="1"/>
          </p:cNvSpPr>
          <p:nvPr/>
        </p:nvSpPr>
        <p:spPr bwMode="auto">
          <a:xfrm>
            <a:off x="8895196" y="4723452"/>
            <a:ext cx="1577975" cy="473075"/>
          </a:xfrm>
          <a:prstGeom prst="rect">
            <a:avLst/>
          </a:prstGeom>
          <a:solidFill>
            <a:srgbClr val="FFCC66"/>
          </a:solidFill>
          <a:ln w="14288">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82" name="Rectangle 14"/>
          <p:cNvSpPr>
            <a:spLocks noChangeArrowheads="1"/>
          </p:cNvSpPr>
          <p:nvPr/>
        </p:nvSpPr>
        <p:spPr bwMode="auto">
          <a:xfrm>
            <a:off x="9144434" y="4850452"/>
            <a:ext cx="1039812" cy="182563"/>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CODIFICACIÓN</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83" name="Rectangle 15"/>
          <p:cNvSpPr>
            <a:spLocks noChangeArrowheads="1"/>
          </p:cNvSpPr>
          <p:nvPr/>
        </p:nvSpPr>
        <p:spPr bwMode="auto">
          <a:xfrm>
            <a:off x="7474384" y="5671190"/>
            <a:ext cx="1577975" cy="473075"/>
          </a:xfrm>
          <a:prstGeom prst="rect">
            <a:avLst/>
          </a:prstGeom>
          <a:solidFill>
            <a:srgbClr val="FFCC66"/>
          </a:solidFill>
          <a:ln w="14288">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84" name="Rectangle 16"/>
          <p:cNvSpPr>
            <a:spLocks noChangeArrowheads="1"/>
          </p:cNvSpPr>
          <p:nvPr/>
        </p:nvSpPr>
        <p:spPr bwMode="auto">
          <a:xfrm>
            <a:off x="7561696" y="5702940"/>
            <a:ext cx="1355725" cy="182562"/>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TESTING UNITARIO</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85" name="Rectangle 17"/>
          <p:cNvSpPr>
            <a:spLocks noChangeArrowheads="1"/>
          </p:cNvSpPr>
          <p:nvPr/>
        </p:nvSpPr>
        <p:spPr bwMode="auto">
          <a:xfrm>
            <a:off x="7761721" y="5891852"/>
            <a:ext cx="966788" cy="182563"/>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E INTEGRADO</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86" name="Rectangle 18"/>
          <p:cNvSpPr>
            <a:spLocks noChangeArrowheads="1"/>
          </p:cNvSpPr>
          <p:nvPr/>
        </p:nvSpPr>
        <p:spPr bwMode="auto">
          <a:xfrm>
            <a:off x="6048809" y="4723452"/>
            <a:ext cx="1582737" cy="473075"/>
          </a:xfrm>
          <a:prstGeom prst="rect">
            <a:avLst/>
          </a:prstGeom>
          <a:solidFill>
            <a:srgbClr val="FFCC66"/>
          </a:solidFill>
          <a:ln w="14288">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87" name="Rectangle 19"/>
          <p:cNvSpPr>
            <a:spLocks noChangeArrowheads="1"/>
          </p:cNvSpPr>
          <p:nvPr/>
        </p:nvSpPr>
        <p:spPr bwMode="auto">
          <a:xfrm>
            <a:off x="6364721" y="4755202"/>
            <a:ext cx="920750" cy="182563"/>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TESTING DEL</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88" name="Rectangle 20"/>
          <p:cNvSpPr>
            <a:spLocks noChangeArrowheads="1"/>
          </p:cNvSpPr>
          <p:nvPr/>
        </p:nvSpPr>
        <p:spPr bwMode="auto">
          <a:xfrm>
            <a:off x="6523471" y="4945702"/>
            <a:ext cx="609600" cy="182563"/>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SISTEMA</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89" name="Rectangle 21"/>
          <p:cNvSpPr>
            <a:spLocks noChangeArrowheads="1"/>
          </p:cNvSpPr>
          <p:nvPr/>
        </p:nvSpPr>
        <p:spPr bwMode="auto">
          <a:xfrm>
            <a:off x="5575734" y="3772540"/>
            <a:ext cx="1582737" cy="476250"/>
          </a:xfrm>
          <a:prstGeom prst="rect">
            <a:avLst/>
          </a:prstGeom>
          <a:solidFill>
            <a:srgbClr val="FFCC66"/>
          </a:solidFill>
          <a:ln w="14288">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90" name="Rectangle 22"/>
          <p:cNvSpPr>
            <a:spLocks noChangeArrowheads="1"/>
          </p:cNvSpPr>
          <p:nvPr/>
        </p:nvSpPr>
        <p:spPr bwMode="auto">
          <a:xfrm>
            <a:off x="5929746" y="3804290"/>
            <a:ext cx="844550" cy="182562"/>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TESTING DE</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91" name="Rectangle 23"/>
          <p:cNvSpPr>
            <a:spLocks noChangeArrowheads="1"/>
          </p:cNvSpPr>
          <p:nvPr/>
        </p:nvSpPr>
        <p:spPr bwMode="auto">
          <a:xfrm>
            <a:off x="5905934" y="3997965"/>
            <a:ext cx="893762" cy="182562"/>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ACEPTACIÓN</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92" name="Rectangle 24"/>
          <p:cNvSpPr>
            <a:spLocks noChangeArrowheads="1"/>
          </p:cNvSpPr>
          <p:nvPr/>
        </p:nvSpPr>
        <p:spPr bwMode="auto">
          <a:xfrm>
            <a:off x="6048809" y="2824802"/>
            <a:ext cx="1582737" cy="473075"/>
          </a:xfrm>
          <a:prstGeom prst="rect">
            <a:avLst/>
          </a:prstGeom>
          <a:solidFill>
            <a:srgbClr val="FFCC66"/>
          </a:solidFill>
          <a:ln w="14288">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93" name="Rectangle 25"/>
          <p:cNvSpPr>
            <a:spLocks noChangeArrowheads="1"/>
          </p:cNvSpPr>
          <p:nvPr/>
        </p:nvSpPr>
        <p:spPr bwMode="auto">
          <a:xfrm>
            <a:off x="6344084" y="2856552"/>
            <a:ext cx="958850" cy="182563"/>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OPERACIÓN Y</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94" name="Rectangle 26"/>
          <p:cNvSpPr>
            <a:spLocks noChangeArrowheads="1"/>
          </p:cNvSpPr>
          <p:nvPr/>
        </p:nvSpPr>
        <p:spPr bwMode="auto">
          <a:xfrm>
            <a:off x="6350434" y="3047052"/>
            <a:ext cx="946150" cy="182563"/>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200" b="0" i="0" u="none" strike="noStrike" kern="0" cap="none" spc="0" normalizeH="0" baseline="0" noProof="0" smtClean="0">
                <a:ln>
                  <a:noFill/>
                </a:ln>
                <a:solidFill>
                  <a:srgbClr val="000000"/>
                </a:solidFill>
                <a:effectLst/>
                <a:uLnTx/>
                <a:uFillTx/>
                <a:latin typeface="Tahoma" pitchFamily="34" charset="0"/>
              </a:rPr>
              <a:t>MANTENCIÓN</a:t>
            </a:r>
            <a:endParaRPr kumimoji="0" lang="es-ES" sz="1800" b="0" i="0" u="none" strike="noStrike" kern="0" cap="none" spc="0" normalizeH="0" baseline="0" noProof="0" smtClean="0">
              <a:ln>
                <a:noFill/>
              </a:ln>
              <a:solidFill>
                <a:sysClr val="windowText" lastClr="000000"/>
              </a:solidFill>
              <a:effectLst/>
              <a:uLnTx/>
              <a:uFillTx/>
            </a:endParaRPr>
          </a:p>
        </p:txBody>
      </p:sp>
      <p:sp>
        <p:nvSpPr>
          <p:cNvPr id="795" name="Freeform 27"/>
          <p:cNvSpPr>
            <a:spLocks/>
          </p:cNvSpPr>
          <p:nvPr/>
        </p:nvSpPr>
        <p:spPr bwMode="auto">
          <a:xfrm>
            <a:off x="9052359" y="2115190"/>
            <a:ext cx="638175" cy="611187"/>
          </a:xfrm>
          <a:custGeom>
            <a:avLst/>
            <a:gdLst/>
            <a:ahLst/>
            <a:cxnLst>
              <a:cxn ang="0">
                <a:pos x="0" y="0"/>
              </a:cxn>
              <a:cxn ang="0">
                <a:pos x="62" y="7"/>
              </a:cxn>
              <a:cxn ang="0">
                <a:pos x="117" y="18"/>
              </a:cxn>
              <a:cxn ang="0">
                <a:pos x="170" y="33"/>
              </a:cxn>
              <a:cxn ang="0">
                <a:pos x="217" y="53"/>
              </a:cxn>
              <a:cxn ang="0">
                <a:pos x="256" y="75"/>
              </a:cxn>
              <a:cxn ang="0">
                <a:pos x="294" y="102"/>
              </a:cxn>
              <a:cxn ang="0">
                <a:pos x="325" y="131"/>
              </a:cxn>
              <a:cxn ang="0">
                <a:pos x="349" y="164"/>
              </a:cxn>
              <a:cxn ang="0">
                <a:pos x="371" y="201"/>
              </a:cxn>
              <a:cxn ang="0">
                <a:pos x="387" y="241"/>
              </a:cxn>
              <a:cxn ang="0">
                <a:pos x="398" y="285"/>
              </a:cxn>
              <a:cxn ang="0">
                <a:pos x="402" y="334"/>
              </a:cxn>
              <a:cxn ang="0">
                <a:pos x="402" y="385"/>
              </a:cxn>
            </a:cxnLst>
            <a:rect l="0" t="0" r="r" b="b"/>
            <a:pathLst>
              <a:path w="402" h="385">
                <a:moveTo>
                  <a:pt x="0" y="0"/>
                </a:moveTo>
                <a:lnTo>
                  <a:pt x="62" y="7"/>
                </a:lnTo>
                <a:lnTo>
                  <a:pt x="117" y="18"/>
                </a:lnTo>
                <a:lnTo>
                  <a:pt x="170" y="33"/>
                </a:lnTo>
                <a:lnTo>
                  <a:pt x="217" y="53"/>
                </a:lnTo>
                <a:lnTo>
                  <a:pt x="256" y="75"/>
                </a:lnTo>
                <a:lnTo>
                  <a:pt x="294" y="102"/>
                </a:lnTo>
                <a:lnTo>
                  <a:pt x="325" y="131"/>
                </a:lnTo>
                <a:lnTo>
                  <a:pt x="349" y="164"/>
                </a:lnTo>
                <a:lnTo>
                  <a:pt x="371" y="201"/>
                </a:lnTo>
                <a:lnTo>
                  <a:pt x="387" y="241"/>
                </a:lnTo>
                <a:lnTo>
                  <a:pt x="398" y="285"/>
                </a:lnTo>
                <a:lnTo>
                  <a:pt x="402" y="334"/>
                </a:lnTo>
                <a:lnTo>
                  <a:pt x="402" y="385"/>
                </a:lnTo>
              </a:path>
            </a:pathLst>
          </a:custGeom>
          <a:noFill/>
          <a:ln w="14288">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96" name="Freeform 28"/>
          <p:cNvSpPr>
            <a:spLocks/>
          </p:cNvSpPr>
          <p:nvPr/>
        </p:nvSpPr>
        <p:spPr bwMode="auto">
          <a:xfrm>
            <a:off x="9638146" y="2708915"/>
            <a:ext cx="112713" cy="115887"/>
          </a:xfrm>
          <a:custGeom>
            <a:avLst/>
            <a:gdLst/>
            <a:ahLst/>
            <a:cxnLst>
              <a:cxn ang="0">
                <a:pos x="71" y="6"/>
              </a:cxn>
              <a:cxn ang="0">
                <a:pos x="29" y="73"/>
              </a:cxn>
              <a:cxn ang="0">
                <a:pos x="0" y="0"/>
              </a:cxn>
              <a:cxn ang="0">
                <a:pos x="71" y="6"/>
              </a:cxn>
            </a:cxnLst>
            <a:rect l="0" t="0" r="r" b="b"/>
            <a:pathLst>
              <a:path w="71" h="73">
                <a:moveTo>
                  <a:pt x="71" y="6"/>
                </a:moveTo>
                <a:lnTo>
                  <a:pt x="29" y="73"/>
                </a:lnTo>
                <a:lnTo>
                  <a:pt x="0" y="0"/>
                </a:lnTo>
                <a:lnTo>
                  <a:pt x="71" y="6"/>
                </a:lnTo>
                <a:close/>
              </a:path>
            </a:pathLst>
          </a:custGeom>
          <a:solidFill>
            <a:srgbClr val="0000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97" name="Freeform 29"/>
          <p:cNvSpPr>
            <a:spLocks/>
          </p:cNvSpPr>
          <p:nvPr/>
        </p:nvSpPr>
        <p:spPr bwMode="auto">
          <a:xfrm>
            <a:off x="10473171" y="3062927"/>
            <a:ext cx="547688" cy="852488"/>
          </a:xfrm>
          <a:custGeom>
            <a:avLst/>
            <a:gdLst/>
            <a:ahLst/>
            <a:cxnLst>
              <a:cxn ang="0">
                <a:pos x="0" y="0"/>
              </a:cxn>
              <a:cxn ang="0">
                <a:pos x="60" y="20"/>
              </a:cxn>
              <a:cxn ang="0">
                <a:pos x="115" y="44"/>
              </a:cxn>
              <a:cxn ang="0">
                <a:pos x="164" y="71"/>
              </a:cxn>
              <a:cxn ang="0">
                <a:pos x="206" y="100"/>
              </a:cxn>
              <a:cxn ang="0">
                <a:pos x="243" y="131"/>
              </a:cxn>
              <a:cxn ang="0">
                <a:pos x="274" y="166"/>
              </a:cxn>
              <a:cxn ang="0">
                <a:pos x="301" y="203"/>
              </a:cxn>
              <a:cxn ang="0">
                <a:pos x="321" y="243"/>
              </a:cxn>
              <a:cxn ang="0">
                <a:pos x="334" y="285"/>
              </a:cxn>
              <a:cxn ang="0">
                <a:pos x="343" y="330"/>
              </a:cxn>
              <a:cxn ang="0">
                <a:pos x="345" y="378"/>
              </a:cxn>
              <a:cxn ang="0">
                <a:pos x="343" y="429"/>
              </a:cxn>
              <a:cxn ang="0">
                <a:pos x="334" y="482"/>
              </a:cxn>
              <a:cxn ang="0">
                <a:pos x="318" y="537"/>
              </a:cxn>
            </a:cxnLst>
            <a:rect l="0" t="0" r="r" b="b"/>
            <a:pathLst>
              <a:path w="345" h="537">
                <a:moveTo>
                  <a:pt x="0" y="0"/>
                </a:moveTo>
                <a:lnTo>
                  <a:pt x="60" y="20"/>
                </a:lnTo>
                <a:lnTo>
                  <a:pt x="115" y="44"/>
                </a:lnTo>
                <a:lnTo>
                  <a:pt x="164" y="71"/>
                </a:lnTo>
                <a:lnTo>
                  <a:pt x="206" y="100"/>
                </a:lnTo>
                <a:lnTo>
                  <a:pt x="243" y="131"/>
                </a:lnTo>
                <a:lnTo>
                  <a:pt x="274" y="166"/>
                </a:lnTo>
                <a:lnTo>
                  <a:pt x="301" y="203"/>
                </a:lnTo>
                <a:lnTo>
                  <a:pt x="321" y="243"/>
                </a:lnTo>
                <a:lnTo>
                  <a:pt x="334" y="285"/>
                </a:lnTo>
                <a:lnTo>
                  <a:pt x="343" y="330"/>
                </a:lnTo>
                <a:lnTo>
                  <a:pt x="345" y="378"/>
                </a:lnTo>
                <a:lnTo>
                  <a:pt x="343" y="429"/>
                </a:lnTo>
                <a:lnTo>
                  <a:pt x="334" y="482"/>
                </a:lnTo>
                <a:lnTo>
                  <a:pt x="318" y="537"/>
                </a:lnTo>
              </a:path>
            </a:pathLst>
          </a:custGeom>
          <a:noFill/>
          <a:ln w="14288">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98" name="Freeform 30"/>
          <p:cNvSpPr>
            <a:spLocks/>
          </p:cNvSpPr>
          <p:nvPr/>
        </p:nvSpPr>
        <p:spPr bwMode="auto">
          <a:xfrm>
            <a:off x="10928784" y="3883665"/>
            <a:ext cx="109537" cy="127000"/>
          </a:xfrm>
          <a:custGeom>
            <a:avLst/>
            <a:gdLst/>
            <a:ahLst/>
            <a:cxnLst>
              <a:cxn ang="0">
                <a:pos x="69" y="25"/>
              </a:cxn>
              <a:cxn ang="0">
                <a:pos x="11" y="80"/>
              </a:cxn>
              <a:cxn ang="0">
                <a:pos x="0" y="0"/>
              </a:cxn>
              <a:cxn ang="0">
                <a:pos x="69" y="25"/>
              </a:cxn>
            </a:cxnLst>
            <a:rect l="0" t="0" r="r" b="b"/>
            <a:pathLst>
              <a:path w="69" h="80">
                <a:moveTo>
                  <a:pt x="69" y="25"/>
                </a:moveTo>
                <a:lnTo>
                  <a:pt x="11" y="80"/>
                </a:lnTo>
                <a:lnTo>
                  <a:pt x="0" y="0"/>
                </a:lnTo>
                <a:lnTo>
                  <a:pt x="69" y="25"/>
                </a:lnTo>
                <a:close/>
              </a:path>
            </a:pathLst>
          </a:custGeom>
          <a:solidFill>
            <a:srgbClr val="0000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799" name="Freeform 31"/>
          <p:cNvSpPr>
            <a:spLocks/>
          </p:cNvSpPr>
          <p:nvPr/>
        </p:nvSpPr>
        <p:spPr bwMode="auto">
          <a:xfrm>
            <a:off x="10157259" y="4248790"/>
            <a:ext cx="446087" cy="628650"/>
          </a:xfrm>
          <a:custGeom>
            <a:avLst/>
            <a:gdLst/>
            <a:ahLst/>
            <a:cxnLst>
              <a:cxn ang="0">
                <a:pos x="0" y="0"/>
              </a:cxn>
              <a:cxn ang="0">
                <a:pos x="53" y="22"/>
              </a:cxn>
              <a:cxn ang="0">
                <a:pos x="100" y="45"/>
              </a:cxn>
              <a:cxn ang="0">
                <a:pos x="142" y="69"/>
              </a:cxn>
              <a:cxn ang="0">
                <a:pos x="179" y="93"/>
              </a:cxn>
              <a:cxn ang="0">
                <a:pos x="210" y="120"/>
              </a:cxn>
              <a:cxn ang="0">
                <a:pos x="234" y="146"/>
              </a:cxn>
              <a:cxn ang="0">
                <a:pos x="254" y="175"/>
              </a:cxn>
              <a:cxn ang="0">
                <a:pos x="268" y="204"/>
              </a:cxn>
              <a:cxn ang="0">
                <a:pos x="276" y="235"/>
              </a:cxn>
              <a:cxn ang="0">
                <a:pos x="281" y="266"/>
              </a:cxn>
              <a:cxn ang="0">
                <a:pos x="276" y="297"/>
              </a:cxn>
              <a:cxn ang="0">
                <a:pos x="270" y="330"/>
              </a:cxn>
              <a:cxn ang="0">
                <a:pos x="257" y="363"/>
              </a:cxn>
              <a:cxn ang="0">
                <a:pos x="237" y="396"/>
              </a:cxn>
            </a:cxnLst>
            <a:rect l="0" t="0" r="r" b="b"/>
            <a:pathLst>
              <a:path w="281" h="396">
                <a:moveTo>
                  <a:pt x="0" y="0"/>
                </a:moveTo>
                <a:lnTo>
                  <a:pt x="53" y="22"/>
                </a:lnTo>
                <a:lnTo>
                  <a:pt x="100" y="45"/>
                </a:lnTo>
                <a:lnTo>
                  <a:pt x="142" y="69"/>
                </a:lnTo>
                <a:lnTo>
                  <a:pt x="179" y="93"/>
                </a:lnTo>
                <a:lnTo>
                  <a:pt x="210" y="120"/>
                </a:lnTo>
                <a:lnTo>
                  <a:pt x="234" y="146"/>
                </a:lnTo>
                <a:lnTo>
                  <a:pt x="254" y="175"/>
                </a:lnTo>
                <a:lnTo>
                  <a:pt x="268" y="204"/>
                </a:lnTo>
                <a:lnTo>
                  <a:pt x="276" y="235"/>
                </a:lnTo>
                <a:lnTo>
                  <a:pt x="281" y="266"/>
                </a:lnTo>
                <a:lnTo>
                  <a:pt x="276" y="297"/>
                </a:lnTo>
                <a:lnTo>
                  <a:pt x="270" y="330"/>
                </a:lnTo>
                <a:lnTo>
                  <a:pt x="257" y="363"/>
                </a:lnTo>
                <a:lnTo>
                  <a:pt x="237" y="396"/>
                </a:lnTo>
              </a:path>
            </a:pathLst>
          </a:custGeom>
          <a:noFill/>
          <a:ln w="14288">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00" name="Freeform 32"/>
          <p:cNvSpPr>
            <a:spLocks/>
          </p:cNvSpPr>
          <p:nvPr/>
        </p:nvSpPr>
        <p:spPr bwMode="auto">
          <a:xfrm>
            <a:off x="10473171" y="4831402"/>
            <a:ext cx="112713" cy="127000"/>
          </a:xfrm>
          <a:custGeom>
            <a:avLst/>
            <a:gdLst/>
            <a:ahLst/>
            <a:cxnLst>
              <a:cxn ang="0">
                <a:pos x="71" y="45"/>
              </a:cxn>
              <a:cxn ang="0">
                <a:pos x="0" y="80"/>
              </a:cxn>
              <a:cxn ang="0">
                <a:pos x="13" y="0"/>
              </a:cxn>
              <a:cxn ang="0">
                <a:pos x="71" y="45"/>
              </a:cxn>
            </a:cxnLst>
            <a:rect l="0" t="0" r="r" b="b"/>
            <a:pathLst>
              <a:path w="71" h="80">
                <a:moveTo>
                  <a:pt x="71" y="45"/>
                </a:moveTo>
                <a:lnTo>
                  <a:pt x="0" y="80"/>
                </a:lnTo>
                <a:lnTo>
                  <a:pt x="13" y="0"/>
                </a:lnTo>
                <a:lnTo>
                  <a:pt x="71" y="45"/>
                </a:lnTo>
                <a:close/>
              </a:path>
            </a:pathLst>
          </a:custGeom>
          <a:solidFill>
            <a:srgbClr val="0000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01" name="Freeform 33"/>
          <p:cNvSpPr>
            <a:spLocks/>
          </p:cNvSpPr>
          <p:nvPr/>
        </p:nvSpPr>
        <p:spPr bwMode="auto">
          <a:xfrm>
            <a:off x="9150784" y="5196527"/>
            <a:ext cx="533400" cy="692150"/>
          </a:xfrm>
          <a:custGeom>
            <a:avLst/>
            <a:gdLst/>
            <a:ahLst/>
            <a:cxnLst>
              <a:cxn ang="0">
                <a:pos x="336" y="0"/>
              </a:cxn>
              <a:cxn ang="0">
                <a:pos x="329" y="58"/>
              </a:cxn>
              <a:cxn ang="0">
                <a:pos x="316" y="113"/>
              </a:cxn>
              <a:cxn ang="0">
                <a:pos x="303" y="164"/>
              </a:cxn>
              <a:cxn ang="0">
                <a:pos x="283" y="212"/>
              </a:cxn>
              <a:cxn ang="0">
                <a:pos x="261" y="254"/>
              </a:cxn>
              <a:cxn ang="0">
                <a:pos x="234" y="292"/>
              </a:cxn>
              <a:cxn ang="0">
                <a:pos x="205" y="327"/>
              </a:cxn>
              <a:cxn ang="0">
                <a:pos x="172" y="358"/>
              </a:cxn>
              <a:cxn ang="0">
                <a:pos x="135" y="383"/>
              </a:cxn>
              <a:cxn ang="0">
                <a:pos x="93" y="405"/>
              </a:cxn>
              <a:cxn ang="0">
                <a:pos x="49" y="422"/>
              </a:cxn>
              <a:cxn ang="0">
                <a:pos x="0" y="436"/>
              </a:cxn>
            </a:cxnLst>
            <a:rect l="0" t="0" r="r" b="b"/>
            <a:pathLst>
              <a:path w="336" h="436">
                <a:moveTo>
                  <a:pt x="336" y="0"/>
                </a:moveTo>
                <a:lnTo>
                  <a:pt x="329" y="58"/>
                </a:lnTo>
                <a:lnTo>
                  <a:pt x="316" y="113"/>
                </a:lnTo>
                <a:lnTo>
                  <a:pt x="303" y="164"/>
                </a:lnTo>
                <a:lnTo>
                  <a:pt x="283" y="212"/>
                </a:lnTo>
                <a:lnTo>
                  <a:pt x="261" y="254"/>
                </a:lnTo>
                <a:lnTo>
                  <a:pt x="234" y="292"/>
                </a:lnTo>
                <a:lnTo>
                  <a:pt x="205" y="327"/>
                </a:lnTo>
                <a:lnTo>
                  <a:pt x="172" y="358"/>
                </a:lnTo>
                <a:lnTo>
                  <a:pt x="135" y="383"/>
                </a:lnTo>
                <a:lnTo>
                  <a:pt x="93" y="405"/>
                </a:lnTo>
                <a:lnTo>
                  <a:pt x="49" y="422"/>
                </a:lnTo>
                <a:lnTo>
                  <a:pt x="0" y="436"/>
                </a:lnTo>
              </a:path>
            </a:pathLst>
          </a:custGeom>
          <a:noFill/>
          <a:ln w="14288">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02" name="Freeform 34"/>
          <p:cNvSpPr>
            <a:spLocks/>
          </p:cNvSpPr>
          <p:nvPr/>
        </p:nvSpPr>
        <p:spPr bwMode="auto">
          <a:xfrm>
            <a:off x="9052359" y="5831527"/>
            <a:ext cx="122237" cy="112713"/>
          </a:xfrm>
          <a:custGeom>
            <a:avLst/>
            <a:gdLst/>
            <a:ahLst/>
            <a:cxnLst>
              <a:cxn ang="0">
                <a:pos x="64" y="0"/>
              </a:cxn>
              <a:cxn ang="0">
                <a:pos x="0" y="47"/>
              </a:cxn>
              <a:cxn ang="0">
                <a:pos x="77" y="71"/>
              </a:cxn>
              <a:cxn ang="0">
                <a:pos x="64" y="0"/>
              </a:cxn>
            </a:cxnLst>
            <a:rect l="0" t="0" r="r" b="b"/>
            <a:pathLst>
              <a:path w="77" h="71">
                <a:moveTo>
                  <a:pt x="64" y="0"/>
                </a:moveTo>
                <a:lnTo>
                  <a:pt x="0" y="47"/>
                </a:lnTo>
                <a:lnTo>
                  <a:pt x="77" y="71"/>
                </a:lnTo>
                <a:lnTo>
                  <a:pt x="64" y="0"/>
                </a:lnTo>
                <a:close/>
              </a:path>
            </a:pathLst>
          </a:custGeom>
          <a:solidFill>
            <a:srgbClr val="0000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03" name="Freeform 35"/>
          <p:cNvSpPr>
            <a:spLocks/>
          </p:cNvSpPr>
          <p:nvPr/>
        </p:nvSpPr>
        <p:spPr bwMode="auto">
          <a:xfrm>
            <a:off x="6834621" y="5294952"/>
            <a:ext cx="639763" cy="611188"/>
          </a:xfrm>
          <a:custGeom>
            <a:avLst/>
            <a:gdLst/>
            <a:ahLst/>
            <a:cxnLst>
              <a:cxn ang="0">
                <a:pos x="403" y="385"/>
              </a:cxn>
              <a:cxn ang="0">
                <a:pos x="341" y="380"/>
              </a:cxn>
              <a:cxn ang="0">
                <a:pos x="285" y="372"/>
              </a:cxn>
              <a:cxn ang="0">
                <a:pos x="235" y="358"/>
              </a:cxn>
              <a:cxn ang="0">
                <a:pos x="188" y="341"/>
              </a:cxn>
              <a:cxn ang="0">
                <a:pos x="148" y="318"/>
              </a:cxn>
              <a:cxn ang="0">
                <a:pos x="111" y="292"/>
              </a:cxn>
              <a:cxn ang="0">
                <a:pos x="80" y="263"/>
              </a:cxn>
              <a:cxn ang="0">
                <a:pos x="56" y="230"/>
              </a:cxn>
              <a:cxn ang="0">
                <a:pos x="34" y="192"/>
              </a:cxn>
              <a:cxn ang="0">
                <a:pos x="18" y="150"/>
              </a:cxn>
              <a:cxn ang="0">
                <a:pos x="7" y="104"/>
              </a:cxn>
              <a:cxn ang="0">
                <a:pos x="0" y="53"/>
              </a:cxn>
              <a:cxn ang="0">
                <a:pos x="0" y="0"/>
              </a:cxn>
            </a:cxnLst>
            <a:rect l="0" t="0" r="r" b="b"/>
            <a:pathLst>
              <a:path w="403" h="385">
                <a:moveTo>
                  <a:pt x="403" y="385"/>
                </a:moveTo>
                <a:lnTo>
                  <a:pt x="341" y="380"/>
                </a:lnTo>
                <a:lnTo>
                  <a:pt x="285" y="372"/>
                </a:lnTo>
                <a:lnTo>
                  <a:pt x="235" y="358"/>
                </a:lnTo>
                <a:lnTo>
                  <a:pt x="188" y="341"/>
                </a:lnTo>
                <a:lnTo>
                  <a:pt x="148" y="318"/>
                </a:lnTo>
                <a:lnTo>
                  <a:pt x="111" y="292"/>
                </a:lnTo>
                <a:lnTo>
                  <a:pt x="80" y="263"/>
                </a:lnTo>
                <a:lnTo>
                  <a:pt x="56" y="230"/>
                </a:lnTo>
                <a:lnTo>
                  <a:pt x="34" y="192"/>
                </a:lnTo>
                <a:lnTo>
                  <a:pt x="18" y="150"/>
                </a:lnTo>
                <a:lnTo>
                  <a:pt x="7" y="104"/>
                </a:lnTo>
                <a:lnTo>
                  <a:pt x="0" y="53"/>
                </a:lnTo>
                <a:lnTo>
                  <a:pt x="0" y="0"/>
                </a:lnTo>
              </a:path>
            </a:pathLst>
          </a:custGeom>
          <a:noFill/>
          <a:ln w="14288">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04" name="Freeform 36"/>
          <p:cNvSpPr>
            <a:spLocks/>
          </p:cNvSpPr>
          <p:nvPr/>
        </p:nvSpPr>
        <p:spPr bwMode="auto">
          <a:xfrm>
            <a:off x="6775884" y="5196527"/>
            <a:ext cx="112712" cy="115888"/>
          </a:xfrm>
          <a:custGeom>
            <a:avLst/>
            <a:gdLst/>
            <a:ahLst/>
            <a:cxnLst>
              <a:cxn ang="0">
                <a:pos x="0" y="69"/>
              </a:cxn>
              <a:cxn ang="0">
                <a:pos x="40" y="0"/>
              </a:cxn>
              <a:cxn ang="0">
                <a:pos x="71" y="73"/>
              </a:cxn>
              <a:cxn ang="0">
                <a:pos x="0" y="69"/>
              </a:cxn>
            </a:cxnLst>
            <a:rect l="0" t="0" r="r" b="b"/>
            <a:pathLst>
              <a:path w="71" h="73">
                <a:moveTo>
                  <a:pt x="0" y="69"/>
                </a:moveTo>
                <a:lnTo>
                  <a:pt x="40" y="0"/>
                </a:lnTo>
                <a:lnTo>
                  <a:pt x="71" y="73"/>
                </a:lnTo>
                <a:lnTo>
                  <a:pt x="0" y="69"/>
                </a:lnTo>
                <a:close/>
              </a:path>
            </a:pathLst>
          </a:custGeom>
          <a:solidFill>
            <a:srgbClr val="0000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05" name="Freeform 37"/>
          <p:cNvSpPr>
            <a:spLocks/>
          </p:cNvSpPr>
          <p:nvPr/>
        </p:nvSpPr>
        <p:spPr bwMode="auto">
          <a:xfrm>
            <a:off x="5421746" y="4097977"/>
            <a:ext cx="627063" cy="860425"/>
          </a:xfrm>
          <a:custGeom>
            <a:avLst/>
            <a:gdLst/>
            <a:ahLst/>
            <a:cxnLst>
              <a:cxn ang="0">
                <a:pos x="395" y="542"/>
              </a:cxn>
              <a:cxn ang="0">
                <a:pos x="333" y="533"/>
              </a:cxn>
              <a:cxn ang="0">
                <a:pos x="276" y="520"/>
              </a:cxn>
              <a:cxn ang="0">
                <a:pos x="223" y="504"/>
              </a:cxn>
              <a:cxn ang="0">
                <a:pos x="177" y="487"/>
              </a:cxn>
              <a:cxn ang="0">
                <a:pos x="135" y="465"/>
              </a:cxn>
              <a:cxn ang="0">
                <a:pos x="99" y="442"/>
              </a:cxn>
              <a:cxn ang="0">
                <a:pos x="68" y="416"/>
              </a:cxn>
              <a:cxn ang="0">
                <a:pos x="44" y="387"/>
              </a:cxn>
              <a:cxn ang="0">
                <a:pos x="24" y="354"/>
              </a:cxn>
              <a:cxn ang="0">
                <a:pos x="11" y="321"/>
              </a:cxn>
              <a:cxn ang="0">
                <a:pos x="2" y="283"/>
              </a:cxn>
              <a:cxn ang="0">
                <a:pos x="0" y="241"/>
              </a:cxn>
              <a:cxn ang="0">
                <a:pos x="2" y="199"/>
              </a:cxn>
              <a:cxn ang="0">
                <a:pos x="11" y="153"/>
              </a:cxn>
              <a:cxn ang="0">
                <a:pos x="24" y="106"/>
              </a:cxn>
              <a:cxn ang="0">
                <a:pos x="44" y="53"/>
              </a:cxn>
              <a:cxn ang="0">
                <a:pos x="68" y="0"/>
              </a:cxn>
            </a:cxnLst>
            <a:rect l="0" t="0" r="r" b="b"/>
            <a:pathLst>
              <a:path w="395" h="542">
                <a:moveTo>
                  <a:pt x="395" y="542"/>
                </a:moveTo>
                <a:lnTo>
                  <a:pt x="333" y="533"/>
                </a:lnTo>
                <a:lnTo>
                  <a:pt x="276" y="520"/>
                </a:lnTo>
                <a:lnTo>
                  <a:pt x="223" y="504"/>
                </a:lnTo>
                <a:lnTo>
                  <a:pt x="177" y="487"/>
                </a:lnTo>
                <a:lnTo>
                  <a:pt x="135" y="465"/>
                </a:lnTo>
                <a:lnTo>
                  <a:pt x="99" y="442"/>
                </a:lnTo>
                <a:lnTo>
                  <a:pt x="68" y="416"/>
                </a:lnTo>
                <a:lnTo>
                  <a:pt x="44" y="387"/>
                </a:lnTo>
                <a:lnTo>
                  <a:pt x="24" y="354"/>
                </a:lnTo>
                <a:lnTo>
                  <a:pt x="11" y="321"/>
                </a:lnTo>
                <a:lnTo>
                  <a:pt x="2" y="283"/>
                </a:lnTo>
                <a:lnTo>
                  <a:pt x="0" y="241"/>
                </a:lnTo>
                <a:lnTo>
                  <a:pt x="2" y="199"/>
                </a:lnTo>
                <a:lnTo>
                  <a:pt x="11" y="153"/>
                </a:lnTo>
                <a:lnTo>
                  <a:pt x="24" y="106"/>
                </a:lnTo>
                <a:lnTo>
                  <a:pt x="44" y="53"/>
                </a:lnTo>
                <a:lnTo>
                  <a:pt x="68" y="0"/>
                </a:lnTo>
              </a:path>
            </a:pathLst>
          </a:custGeom>
          <a:noFill/>
          <a:ln w="14288">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06" name="Freeform 38"/>
          <p:cNvSpPr>
            <a:spLocks/>
          </p:cNvSpPr>
          <p:nvPr/>
        </p:nvSpPr>
        <p:spPr bwMode="auto">
          <a:xfrm>
            <a:off x="5474134" y="4010665"/>
            <a:ext cx="101600" cy="127000"/>
          </a:xfrm>
          <a:custGeom>
            <a:avLst/>
            <a:gdLst/>
            <a:ahLst/>
            <a:cxnLst>
              <a:cxn ang="0">
                <a:pos x="0" y="46"/>
              </a:cxn>
              <a:cxn ang="0">
                <a:pos x="64" y="0"/>
              </a:cxn>
              <a:cxn ang="0">
                <a:pos x="62" y="80"/>
              </a:cxn>
              <a:cxn ang="0">
                <a:pos x="0" y="46"/>
              </a:cxn>
            </a:cxnLst>
            <a:rect l="0" t="0" r="r" b="b"/>
            <a:pathLst>
              <a:path w="64" h="80">
                <a:moveTo>
                  <a:pt x="0" y="46"/>
                </a:moveTo>
                <a:lnTo>
                  <a:pt x="64" y="0"/>
                </a:lnTo>
                <a:lnTo>
                  <a:pt x="62" y="80"/>
                </a:lnTo>
                <a:lnTo>
                  <a:pt x="0" y="46"/>
                </a:lnTo>
                <a:close/>
              </a:path>
            </a:pathLst>
          </a:custGeom>
          <a:solidFill>
            <a:srgbClr val="0000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07" name="Freeform 39"/>
          <p:cNvSpPr>
            <a:spLocks/>
          </p:cNvSpPr>
          <p:nvPr/>
        </p:nvSpPr>
        <p:spPr bwMode="auto">
          <a:xfrm>
            <a:off x="5772584" y="3112140"/>
            <a:ext cx="592137" cy="660400"/>
          </a:xfrm>
          <a:custGeom>
            <a:avLst/>
            <a:gdLst/>
            <a:ahLst/>
            <a:cxnLst>
              <a:cxn ang="0">
                <a:pos x="373" y="416"/>
              </a:cxn>
              <a:cxn ang="0">
                <a:pos x="309" y="391"/>
              </a:cxn>
              <a:cxn ang="0">
                <a:pos x="249" y="367"/>
              </a:cxn>
              <a:cxn ang="0">
                <a:pos x="196" y="343"/>
              </a:cxn>
              <a:cxn ang="0">
                <a:pos x="150" y="318"/>
              </a:cxn>
              <a:cxn ang="0">
                <a:pos x="108" y="292"/>
              </a:cxn>
              <a:cxn ang="0">
                <a:pos x="75" y="268"/>
              </a:cxn>
              <a:cxn ang="0">
                <a:pos x="48" y="243"/>
              </a:cxn>
              <a:cxn ang="0">
                <a:pos x="26" y="219"/>
              </a:cxn>
              <a:cxn ang="0">
                <a:pos x="11" y="195"/>
              </a:cxn>
              <a:cxn ang="0">
                <a:pos x="2" y="170"/>
              </a:cxn>
              <a:cxn ang="0">
                <a:pos x="0" y="146"/>
              </a:cxn>
              <a:cxn ang="0">
                <a:pos x="4" y="122"/>
              </a:cxn>
              <a:cxn ang="0">
                <a:pos x="15" y="97"/>
              </a:cxn>
              <a:cxn ang="0">
                <a:pos x="33" y="73"/>
              </a:cxn>
              <a:cxn ang="0">
                <a:pos x="55" y="49"/>
              </a:cxn>
              <a:cxn ang="0">
                <a:pos x="84" y="24"/>
              </a:cxn>
              <a:cxn ang="0">
                <a:pos x="121" y="0"/>
              </a:cxn>
            </a:cxnLst>
            <a:rect l="0" t="0" r="r" b="b"/>
            <a:pathLst>
              <a:path w="373" h="416">
                <a:moveTo>
                  <a:pt x="373" y="416"/>
                </a:moveTo>
                <a:lnTo>
                  <a:pt x="309" y="391"/>
                </a:lnTo>
                <a:lnTo>
                  <a:pt x="249" y="367"/>
                </a:lnTo>
                <a:lnTo>
                  <a:pt x="196" y="343"/>
                </a:lnTo>
                <a:lnTo>
                  <a:pt x="150" y="318"/>
                </a:lnTo>
                <a:lnTo>
                  <a:pt x="108" y="292"/>
                </a:lnTo>
                <a:lnTo>
                  <a:pt x="75" y="268"/>
                </a:lnTo>
                <a:lnTo>
                  <a:pt x="48" y="243"/>
                </a:lnTo>
                <a:lnTo>
                  <a:pt x="26" y="219"/>
                </a:lnTo>
                <a:lnTo>
                  <a:pt x="11" y="195"/>
                </a:lnTo>
                <a:lnTo>
                  <a:pt x="2" y="170"/>
                </a:lnTo>
                <a:lnTo>
                  <a:pt x="0" y="146"/>
                </a:lnTo>
                <a:lnTo>
                  <a:pt x="4" y="122"/>
                </a:lnTo>
                <a:lnTo>
                  <a:pt x="15" y="97"/>
                </a:lnTo>
                <a:lnTo>
                  <a:pt x="33" y="73"/>
                </a:lnTo>
                <a:lnTo>
                  <a:pt x="55" y="49"/>
                </a:lnTo>
                <a:lnTo>
                  <a:pt x="84" y="24"/>
                </a:lnTo>
                <a:lnTo>
                  <a:pt x="121" y="0"/>
                </a:lnTo>
              </a:path>
            </a:pathLst>
          </a:custGeom>
          <a:noFill/>
          <a:ln w="14288">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08" name="Freeform 40"/>
          <p:cNvSpPr>
            <a:spLocks/>
          </p:cNvSpPr>
          <p:nvPr/>
        </p:nvSpPr>
        <p:spPr bwMode="auto">
          <a:xfrm>
            <a:off x="5923396" y="3062927"/>
            <a:ext cx="125413" cy="104775"/>
          </a:xfrm>
          <a:custGeom>
            <a:avLst/>
            <a:gdLst/>
            <a:ahLst/>
            <a:cxnLst>
              <a:cxn ang="0">
                <a:pos x="0" y="5"/>
              </a:cxn>
              <a:cxn ang="0">
                <a:pos x="79" y="0"/>
              </a:cxn>
              <a:cxn ang="0">
                <a:pos x="35" y="66"/>
              </a:cxn>
              <a:cxn ang="0">
                <a:pos x="0" y="5"/>
              </a:cxn>
            </a:cxnLst>
            <a:rect l="0" t="0" r="r" b="b"/>
            <a:pathLst>
              <a:path w="79" h="66">
                <a:moveTo>
                  <a:pt x="0" y="5"/>
                </a:moveTo>
                <a:lnTo>
                  <a:pt x="79" y="0"/>
                </a:lnTo>
                <a:lnTo>
                  <a:pt x="35" y="66"/>
                </a:lnTo>
                <a:lnTo>
                  <a:pt x="0" y="5"/>
                </a:lnTo>
                <a:close/>
              </a:path>
            </a:pathLst>
          </a:custGeom>
          <a:solidFill>
            <a:srgbClr val="0000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09" name="Freeform 41"/>
          <p:cNvSpPr>
            <a:spLocks/>
          </p:cNvSpPr>
          <p:nvPr/>
        </p:nvSpPr>
        <p:spPr bwMode="auto">
          <a:xfrm>
            <a:off x="6839384" y="2140590"/>
            <a:ext cx="536575" cy="684212"/>
          </a:xfrm>
          <a:custGeom>
            <a:avLst/>
            <a:gdLst/>
            <a:ahLst/>
            <a:cxnLst>
              <a:cxn ang="0">
                <a:pos x="0" y="431"/>
              </a:cxn>
              <a:cxn ang="0">
                <a:pos x="2" y="378"/>
              </a:cxn>
              <a:cxn ang="0">
                <a:pos x="6" y="327"/>
              </a:cxn>
              <a:cxn ang="0">
                <a:pos x="17" y="280"/>
              </a:cxn>
              <a:cxn ang="0">
                <a:pos x="33" y="236"/>
              </a:cxn>
              <a:cxn ang="0">
                <a:pos x="55" y="196"/>
              </a:cxn>
              <a:cxn ang="0">
                <a:pos x="79" y="159"/>
              </a:cxn>
              <a:cxn ang="0">
                <a:pos x="110" y="123"/>
              </a:cxn>
              <a:cxn ang="0">
                <a:pos x="145" y="93"/>
              </a:cxn>
              <a:cxn ang="0">
                <a:pos x="185" y="64"/>
              </a:cxn>
              <a:cxn ang="0">
                <a:pos x="232" y="39"/>
              </a:cxn>
              <a:cxn ang="0">
                <a:pos x="282" y="17"/>
              </a:cxn>
              <a:cxn ang="0">
                <a:pos x="338" y="0"/>
              </a:cxn>
            </a:cxnLst>
            <a:rect l="0" t="0" r="r" b="b"/>
            <a:pathLst>
              <a:path w="338" h="431">
                <a:moveTo>
                  <a:pt x="0" y="431"/>
                </a:moveTo>
                <a:lnTo>
                  <a:pt x="2" y="378"/>
                </a:lnTo>
                <a:lnTo>
                  <a:pt x="6" y="327"/>
                </a:lnTo>
                <a:lnTo>
                  <a:pt x="17" y="280"/>
                </a:lnTo>
                <a:lnTo>
                  <a:pt x="33" y="236"/>
                </a:lnTo>
                <a:lnTo>
                  <a:pt x="55" y="196"/>
                </a:lnTo>
                <a:lnTo>
                  <a:pt x="79" y="159"/>
                </a:lnTo>
                <a:lnTo>
                  <a:pt x="110" y="123"/>
                </a:lnTo>
                <a:lnTo>
                  <a:pt x="145" y="93"/>
                </a:lnTo>
                <a:lnTo>
                  <a:pt x="185" y="64"/>
                </a:lnTo>
                <a:lnTo>
                  <a:pt x="232" y="39"/>
                </a:lnTo>
                <a:lnTo>
                  <a:pt x="282" y="17"/>
                </a:lnTo>
                <a:lnTo>
                  <a:pt x="338" y="0"/>
                </a:lnTo>
              </a:path>
            </a:pathLst>
          </a:custGeom>
          <a:noFill/>
          <a:ln w="14288">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10" name="Freeform 42"/>
          <p:cNvSpPr>
            <a:spLocks/>
          </p:cNvSpPr>
          <p:nvPr/>
        </p:nvSpPr>
        <p:spPr bwMode="auto">
          <a:xfrm>
            <a:off x="7347384" y="2088202"/>
            <a:ext cx="127000" cy="107950"/>
          </a:xfrm>
          <a:custGeom>
            <a:avLst/>
            <a:gdLst/>
            <a:ahLst/>
            <a:cxnLst>
              <a:cxn ang="0">
                <a:pos x="18" y="68"/>
              </a:cxn>
              <a:cxn ang="0">
                <a:pos x="80" y="17"/>
              </a:cxn>
              <a:cxn ang="0">
                <a:pos x="0" y="0"/>
              </a:cxn>
              <a:cxn ang="0">
                <a:pos x="18" y="68"/>
              </a:cxn>
            </a:cxnLst>
            <a:rect l="0" t="0" r="r" b="b"/>
            <a:pathLst>
              <a:path w="80" h="68">
                <a:moveTo>
                  <a:pt x="18" y="68"/>
                </a:moveTo>
                <a:lnTo>
                  <a:pt x="80" y="17"/>
                </a:lnTo>
                <a:lnTo>
                  <a:pt x="0" y="0"/>
                </a:lnTo>
                <a:lnTo>
                  <a:pt x="18" y="68"/>
                </a:lnTo>
                <a:close/>
              </a:path>
            </a:pathLst>
          </a:custGeom>
          <a:solidFill>
            <a:srgbClr val="0000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11" name="Line 43"/>
          <p:cNvSpPr>
            <a:spLocks noChangeShapeType="1"/>
          </p:cNvSpPr>
          <p:nvPr/>
        </p:nvSpPr>
        <p:spPr bwMode="auto">
          <a:xfrm>
            <a:off x="8263371" y="2350140"/>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12" name="Line 44"/>
          <p:cNvSpPr>
            <a:spLocks noChangeShapeType="1"/>
          </p:cNvSpPr>
          <p:nvPr/>
        </p:nvSpPr>
        <p:spPr bwMode="auto">
          <a:xfrm>
            <a:off x="8263371" y="2427927"/>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13" name="Line 45"/>
          <p:cNvSpPr>
            <a:spLocks noChangeShapeType="1"/>
          </p:cNvSpPr>
          <p:nvPr/>
        </p:nvSpPr>
        <p:spPr bwMode="auto">
          <a:xfrm>
            <a:off x="8263371" y="2505715"/>
            <a:ext cx="1588" cy="1270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14" name="Line 46"/>
          <p:cNvSpPr>
            <a:spLocks noChangeShapeType="1"/>
          </p:cNvSpPr>
          <p:nvPr/>
        </p:nvSpPr>
        <p:spPr bwMode="auto">
          <a:xfrm>
            <a:off x="8263371" y="2581915"/>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15" name="Line 47"/>
          <p:cNvSpPr>
            <a:spLocks noChangeShapeType="1"/>
          </p:cNvSpPr>
          <p:nvPr/>
        </p:nvSpPr>
        <p:spPr bwMode="auto">
          <a:xfrm>
            <a:off x="8263371" y="2659702"/>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16" name="Line 48"/>
          <p:cNvSpPr>
            <a:spLocks noChangeShapeType="1"/>
          </p:cNvSpPr>
          <p:nvPr/>
        </p:nvSpPr>
        <p:spPr bwMode="auto">
          <a:xfrm>
            <a:off x="8263371" y="2737490"/>
            <a:ext cx="1588" cy="1270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17" name="Line 49"/>
          <p:cNvSpPr>
            <a:spLocks noChangeShapeType="1"/>
          </p:cNvSpPr>
          <p:nvPr/>
        </p:nvSpPr>
        <p:spPr bwMode="auto">
          <a:xfrm>
            <a:off x="8263371" y="2813690"/>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18" name="Line 50"/>
          <p:cNvSpPr>
            <a:spLocks noChangeShapeType="1"/>
          </p:cNvSpPr>
          <p:nvPr/>
        </p:nvSpPr>
        <p:spPr bwMode="auto">
          <a:xfrm>
            <a:off x="8263371" y="2891477"/>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19" name="Line 51"/>
          <p:cNvSpPr>
            <a:spLocks noChangeShapeType="1"/>
          </p:cNvSpPr>
          <p:nvPr/>
        </p:nvSpPr>
        <p:spPr bwMode="auto">
          <a:xfrm>
            <a:off x="8263371" y="2967677"/>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20" name="Line 52"/>
          <p:cNvSpPr>
            <a:spLocks noChangeShapeType="1"/>
          </p:cNvSpPr>
          <p:nvPr/>
        </p:nvSpPr>
        <p:spPr bwMode="auto">
          <a:xfrm>
            <a:off x="8263371" y="3045465"/>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21" name="Line 53"/>
          <p:cNvSpPr>
            <a:spLocks noChangeShapeType="1"/>
          </p:cNvSpPr>
          <p:nvPr/>
        </p:nvSpPr>
        <p:spPr bwMode="auto">
          <a:xfrm>
            <a:off x="8263371" y="3123252"/>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22" name="Line 54"/>
          <p:cNvSpPr>
            <a:spLocks noChangeShapeType="1"/>
          </p:cNvSpPr>
          <p:nvPr/>
        </p:nvSpPr>
        <p:spPr bwMode="auto">
          <a:xfrm>
            <a:off x="8263371" y="3199452"/>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23" name="Line 55"/>
          <p:cNvSpPr>
            <a:spLocks noChangeShapeType="1"/>
          </p:cNvSpPr>
          <p:nvPr/>
        </p:nvSpPr>
        <p:spPr bwMode="auto">
          <a:xfrm>
            <a:off x="8263371" y="3277240"/>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24" name="Line 56"/>
          <p:cNvSpPr>
            <a:spLocks noChangeShapeType="1"/>
          </p:cNvSpPr>
          <p:nvPr/>
        </p:nvSpPr>
        <p:spPr bwMode="auto">
          <a:xfrm>
            <a:off x="8263371" y="3355027"/>
            <a:ext cx="1588" cy="1270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25" name="Line 57"/>
          <p:cNvSpPr>
            <a:spLocks noChangeShapeType="1"/>
          </p:cNvSpPr>
          <p:nvPr/>
        </p:nvSpPr>
        <p:spPr bwMode="auto">
          <a:xfrm>
            <a:off x="8263371" y="3431227"/>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26" name="Line 58"/>
          <p:cNvSpPr>
            <a:spLocks noChangeShapeType="1"/>
          </p:cNvSpPr>
          <p:nvPr/>
        </p:nvSpPr>
        <p:spPr bwMode="auto">
          <a:xfrm>
            <a:off x="8263371" y="3509015"/>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27" name="Line 59"/>
          <p:cNvSpPr>
            <a:spLocks noChangeShapeType="1"/>
          </p:cNvSpPr>
          <p:nvPr/>
        </p:nvSpPr>
        <p:spPr bwMode="auto">
          <a:xfrm>
            <a:off x="8263371" y="3586802"/>
            <a:ext cx="1588" cy="1270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28" name="Line 60"/>
          <p:cNvSpPr>
            <a:spLocks noChangeShapeType="1"/>
          </p:cNvSpPr>
          <p:nvPr/>
        </p:nvSpPr>
        <p:spPr bwMode="auto">
          <a:xfrm>
            <a:off x="8263371" y="3663002"/>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29" name="Line 61"/>
          <p:cNvSpPr>
            <a:spLocks noChangeShapeType="1"/>
          </p:cNvSpPr>
          <p:nvPr/>
        </p:nvSpPr>
        <p:spPr bwMode="auto">
          <a:xfrm>
            <a:off x="8263371" y="3740790"/>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30" name="Line 62"/>
          <p:cNvSpPr>
            <a:spLocks noChangeShapeType="1"/>
          </p:cNvSpPr>
          <p:nvPr/>
        </p:nvSpPr>
        <p:spPr bwMode="auto">
          <a:xfrm>
            <a:off x="8263371" y="3816990"/>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31" name="Line 63"/>
          <p:cNvSpPr>
            <a:spLocks noChangeShapeType="1"/>
          </p:cNvSpPr>
          <p:nvPr/>
        </p:nvSpPr>
        <p:spPr bwMode="auto">
          <a:xfrm>
            <a:off x="8263371" y="3894777"/>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32" name="Line 64"/>
          <p:cNvSpPr>
            <a:spLocks noChangeShapeType="1"/>
          </p:cNvSpPr>
          <p:nvPr/>
        </p:nvSpPr>
        <p:spPr bwMode="auto">
          <a:xfrm>
            <a:off x="8263371" y="3972565"/>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33" name="Line 65"/>
          <p:cNvSpPr>
            <a:spLocks noChangeShapeType="1"/>
          </p:cNvSpPr>
          <p:nvPr/>
        </p:nvSpPr>
        <p:spPr bwMode="auto">
          <a:xfrm>
            <a:off x="8263371" y="4048765"/>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34" name="Line 66"/>
          <p:cNvSpPr>
            <a:spLocks noChangeShapeType="1"/>
          </p:cNvSpPr>
          <p:nvPr/>
        </p:nvSpPr>
        <p:spPr bwMode="auto">
          <a:xfrm>
            <a:off x="8263371" y="4126552"/>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35" name="Line 67"/>
          <p:cNvSpPr>
            <a:spLocks noChangeShapeType="1"/>
          </p:cNvSpPr>
          <p:nvPr/>
        </p:nvSpPr>
        <p:spPr bwMode="auto">
          <a:xfrm>
            <a:off x="8263371" y="4204340"/>
            <a:ext cx="1588" cy="1270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36" name="Line 68"/>
          <p:cNvSpPr>
            <a:spLocks noChangeShapeType="1"/>
          </p:cNvSpPr>
          <p:nvPr/>
        </p:nvSpPr>
        <p:spPr bwMode="auto">
          <a:xfrm>
            <a:off x="8263371" y="4280540"/>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37" name="Line 69"/>
          <p:cNvSpPr>
            <a:spLocks noChangeShapeType="1"/>
          </p:cNvSpPr>
          <p:nvPr/>
        </p:nvSpPr>
        <p:spPr bwMode="auto">
          <a:xfrm>
            <a:off x="8263371" y="4358327"/>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38" name="Line 70"/>
          <p:cNvSpPr>
            <a:spLocks noChangeShapeType="1"/>
          </p:cNvSpPr>
          <p:nvPr/>
        </p:nvSpPr>
        <p:spPr bwMode="auto">
          <a:xfrm>
            <a:off x="8263371" y="4434527"/>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39" name="Line 71"/>
          <p:cNvSpPr>
            <a:spLocks noChangeShapeType="1"/>
          </p:cNvSpPr>
          <p:nvPr/>
        </p:nvSpPr>
        <p:spPr bwMode="auto">
          <a:xfrm>
            <a:off x="8263371" y="4512315"/>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40" name="Line 72"/>
          <p:cNvSpPr>
            <a:spLocks noChangeShapeType="1"/>
          </p:cNvSpPr>
          <p:nvPr/>
        </p:nvSpPr>
        <p:spPr bwMode="auto">
          <a:xfrm>
            <a:off x="8263371" y="4590102"/>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41" name="Line 73"/>
          <p:cNvSpPr>
            <a:spLocks noChangeShapeType="1"/>
          </p:cNvSpPr>
          <p:nvPr/>
        </p:nvSpPr>
        <p:spPr bwMode="auto">
          <a:xfrm>
            <a:off x="8263371" y="4666302"/>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42" name="Line 74"/>
          <p:cNvSpPr>
            <a:spLocks noChangeShapeType="1"/>
          </p:cNvSpPr>
          <p:nvPr/>
        </p:nvSpPr>
        <p:spPr bwMode="auto">
          <a:xfrm>
            <a:off x="8263371" y="4744090"/>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43" name="Line 75"/>
          <p:cNvSpPr>
            <a:spLocks noChangeShapeType="1"/>
          </p:cNvSpPr>
          <p:nvPr/>
        </p:nvSpPr>
        <p:spPr bwMode="auto">
          <a:xfrm>
            <a:off x="8263371" y="4821877"/>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44" name="Line 76"/>
          <p:cNvSpPr>
            <a:spLocks noChangeShapeType="1"/>
          </p:cNvSpPr>
          <p:nvPr/>
        </p:nvSpPr>
        <p:spPr bwMode="auto">
          <a:xfrm>
            <a:off x="8263371" y="4898077"/>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45" name="Line 77"/>
          <p:cNvSpPr>
            <a:spLocks noChangeShapeType="1"/>
          </p:cNvSpPr>
          <p:nvPr/>
        </p:nvSpPr>
        <p:spPr bwMode="auto">
          <a:xfrm>
            <a:off x="8263371" y="4975865"/>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46" name="Line 78"/>
          <p:cNvSpPr>
            <a:spLocks noChangeShapeType="1"/>
          </p:cNvSpPr>
          <p:nvPr/>
        </p:nvSpPr>
        <p:spPr bwMode="auto">
          <a:xfrm>
            <a:off x="8263371" y="5053652"/>
            <a:ext cx="1588" cy="1270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47" name="Line 79"/>
          <p:cNvSpPr>
            <a:spLocks noChangeShapeType="1"/>
          </p:cNvSpPr>
          <p:nvPr/>
        </p:nvSpPr>
        <p:spPr bwMode="auto">
          <a:xfrm>
            <a:off x="8263371" y="5129852"/>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48" name="Line 80"/>
          <p:cNvSpPr>
            <a:spLocks noChangeShapeType="1"/>
          </p:cNvSpPr>
          <p:nvPr/>
        </p:nvSpPr>
        <p:spPr bwMode="auto">
          <a:xfrm>
            <a:off x="8263371" y="5207640"/>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49" name="Line 81"/>
          <p:cNvSpPr>
            <a:spLocks noChangeShapeType="1"/>
          </p:cNvSpPr>
          <p:nvPr/>
        </p:nvSpPr>
        <p:spPr bwMode="auto">
          <a:xfrm>
            <a:off x="8263371" y="5283840"/>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50" name="Line 82"/>
          <p:cNvSpPr>
            <a:spLocks noChangeShapeType="1"/>
          </p:cNvSpPr>
          <p:nvPr/>
        </p:nvSpPr>
        <p:spPr bwMode="auto">
          <a:xfrm>
            <a:off x="8263371" y="5361627"/>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51" name="Line 83"/>
          <p:cNvSpPr>
            <a:spLocks noChangeShapeType="1"/>
          </p:cNvSpPr>
          <p:nvPr/>
        </p:nvSpPr>
        <p:spPr bwMode="auto">
          <a:xfrm>
            <a:off x="8263371" y="5439415"/>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52" name="Line 84"/>
          <p:cNvSpPr>
            <a:spLocks noChangeShapeType="1"/>
          </p:cNvSpPr>
          <p:nvPr/>
        </p:nvSpPr>
        <p:spPr bwMode="auto">
          <a:xfrm>
            <a:off x="8263371" y="5515615"/>
            <a:ext cx="1588" cy="142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53" name="Line 85"/>
          <p:cNvSpPr>
            <a:spLocks noChangeShapeType="1"/>
          </p:cNvSpPr>
          <p:nvPr/>
        </p:nvSpPr>
        <p:spPr bwMode="auto">
          <a:xfrm>
            <a:off x="8263371" y="5593402"/>
            <a:ext cx="1588" cy="142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54" name="Line 86"/>
          <p:cNvSpPr>
            <a:spLocks noChangeShapeType="1"/>
          </p:cNvSpPr>
          <p:nvPr/>
        </p:nvSpPr>
        <p:spPr bwMode="auto">
          <a:xfrm>
            <a:off x="7631546" y="306292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55" name="Line 87"/>
          <p:cNvSpPr>
            <a:spLocks noChangeShapeType="1"/>
          </p:cNvSpPr>
          <p:nvPr/>
        </p:nvSpPr>
        <p:spPr bwMode="auto">
          <a:xfrm>
            <a:off x="7674409" y="312642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56" name="Line 88"/>
          <p:cNvSpPr>
            <a:spLocks noChangeShapeType="1"/>
          </p:cNvSpPr>
          <p:nvPr/>
        </p:nvSpPr>
        <p:spPr bwMode="auto">
          <a:xfrm>
            <a:off x="7715684" y="3189927"/>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57" name="Line 89"/>
          <p:cNvSpPr>
            <a:spLocks noChangeShapeType="1"/>
          </p:cNvSpPr>
          <p:nvPr/>
        </p:nvSpPr>
        <p:spPr bwMode="auto">
          <a:xfrm>
            <a:off x="7758546" y="325184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58" name="Line 90"/>
          <p:cNvSpPr>
            <a:spLocks noChangeShapeType="1"/>
          </p:cNvSpPr>
          <p:nvPr/>
        </p:nvSpPr>
        <p:spPr bwMode="auto">
          <a:xfrm>
            <a:off x="7799821" y="3315340"/>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59" name="Line 91"/>
          <p:cNvSpPr>
            <a:spLocks noChangeShapeType="1"/>
          </p:cNvSpPr>
          <p:nvPr/>
        </p:nvSpPr>
        <p:spPr bwMode="auto">
          <a:xfrm>
            <a:off x="7842684" y="337884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60" name="Line 92"/>
          <p:cNvSpPr>
            <a:spLocks noChangeShapeType="1"/>
          </p:cNvSpPr>
          <p:nvPr/>
        </p:nvSpPr>
        <p:spPr bwMode="auto">
          <a:xfrm>
            <a:off x="7883959" y="3442340"/>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61" name="Line 93"/>
          <p:cNvSpPr>
            <a:spLocks noChangeShapeType="1"/>
          </p:cNvSpPr>
          <p:nvPr/>
        </p:nvSpPr>
        <p:spPr bwMode="auto">
          <a:xfrm>
            <a:off x="7926821" y="3505840"/>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62" name="Line 94"/>
          <p:cNvSpPr>
            <a:spLocks noChangeShapeType="1"/>
          </p:cNvSpPr>
          <p:nvPr/>
        </p:nvSpPr>
        <p:spPr bwMode="auto">
          <a:xfrm>
            <a:off x="7968096" y="3567752"/>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63" name="Line 95"/>
          <p:cNvSpPr>
            <a:spLocks noChangeShapeType="1"/>
          </p:cNvSpPr>
          <p:nvPr/>
        </p:nvSpPr>
        <p:spPr bwMode="auto">
          <a:xfrm>
            <a:off x="8010959" y="363125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64" name="Line 96"/>
          <p:cNvSpPr>
            <a:spLocks noChangeShapeType="1"/>
          </p:cNvSpPr>
          <p:nvPr/>
        </p:nvSpPr>
        <p:spPr bwMode="auto">
          <a:xfrm>
            <a:off x="8052234" y="3694752"/>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65" name="Line 97"/>
          <p:cNvSpPr>
            <a:spLocks noChangeShapeType="1"/>
          </p:cNvSpPr>
          <p:nvPr/>
        </p:nvSpPr>
        <p:spPr bwMode="auto">
          <a:xfrm>
            <a:off x="8095096" y="3758252"/>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66" name="Line 98"/>
          <p:cNvSpPr>
            <a:spLocks noChangeShapeType="1"/>
          </p:cNvSpPr>
          <p:nvPr/>
        </p:nvSpPr>
        <p:spPr bwMode="auto">
          <a:xfrm>
            <a:off x="8136371" y="3821752"/>
            <a:ext cx="7938"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67" name="Line 99"/>
          <p:cNvSpPr>
            <a:spLocks noChangeShapeType="1"/>
          </p:cNvSpPr>
          <p:nvPr/>
        </p:nvSpPr>
        <p:spPr bwMode="auto">
          <a:xfrm>
            <a:off x="8179234" y="388366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68" name="Line 100"/>
          <p:cNvSpPr>
            <a:spLocks noChangeShapeType="1"/>
          </p:cNvSpPr>
          <p:nvPr/>
        </p:nvSpPr>
        <p:spPr bwMode="auto">
          <a:xfrm>
            <a:off x="8220509" y="3947165"/>
            <a:ext cx="7937"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69" name="Line 101"/>
          <p:cNvSpPr>
            <a:spLocks noChangeShapeType="1"/>
          </p:cNvSpPr>
          <p:nvPr/>
        </p:nvSpPr>
        <p:spPr bwMode="auto">
          <a:xfrm>
            <a:off x="8263371" y="401066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70" name="Line 102"/>
          <p:cNvSpPr>
            <a:spLocks noChangeShapeType="1"/>
          </p:cNvSpPr>
          <p:nvPr/>
        </p:nvSpPr>
        <p:spPr bwMode="auto">
          <a:xfrm>
            <a:off x="8304646" y="4074165"/>
            <a:ext cx="7938"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71" name="Line 103"/>
          <p:cNvSpPr>
            <a:spLocks noChangeShapeType="1"/>
          </p:cNvSpPr>
          <p:nvPr/>
        </p:nvSpPr>
        <p:spPr bwMode="auto">
          <a:xfrm>
            <a:off x="8347509" y="4137665"/>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72" name="Line 104"/>
          <p:cNvSpPr>
            <a:spLocks noChangeShapeType="1"/>
          </p:cNvSpPr>
          <p:nvPr/>
        </p:nvSpPr>
        <p:spPr bwMode="auto">
          <a:xfrm>
            <a:off x="8388784" y="4199577"/>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73" name="Line 105"/>
          <p:cNvSpPr>
            <a:spLocks noChangeShapeType="1"/>
          </p:cNvSpPr>
          <p:nvPr/>
        </p:nvSpPr>
        <p:spPr bwMode="auto">
          <a:xfrm>
            <a:off x="8431646" y="426307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74" name="Line 106"/>
          <p:cNvSpPr>
            <a:spLocks noChangeShapeType="1"/>
          </p:cNvSpPr>
          <p:nvPr/>
        </p:nvSpPr>
        <p:spPr bwMode="auto">
          <a:xfrm>
            <a:off x="8472921" y="4326577"/>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75" name="Line 107"/>
          <p:cNvSpPr>
            <a:spLocks noChangeShapeType="1"/>
          </p:cNvSpPr>
          <p:nvPr/>
        </p:nvSpPr>
        <p:spPr bwMode="auto">
          <a:xfrm>
            <a:off x="8515784" y="4390077"/>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76" name="Line 108"/>
          <p:cNvSpPr>
            <a:spLocks noChangeShapeType="1"/>
          </p:cNvSpPr>
          <p:nvPr/>
        </p:nvSpPr>
        <p:spPr bwMode="auto">
          <a:xfrm>
            <a:off x="8557059" y="4453577"/>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77" name="Line 109"/>
          <p:cNvSpPr>
            <a:spLocks noChangeShapeType="1"/>
          </p:cNvSpPr>
          <p:nvPr/>
        </p:nvSpPr>
        <p:spPr bwMode="auto">
          <a:xfrm>
            <a:off x="8599921" y="451549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78" name="Line 110"/>
          <p:cNvSpPr>
            <a:spLocks noChangeShapeType="1"/>
          </p:cNvSpPr>
          <p:nvPr/>
        </p:nvSpPr>
        <p:spPr bwMode="auto">
          <a:xfrm>
            <a:off x="8642784" y="457899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79" name="Line 111"/>
          <p:cNvSpPr>
            <a:spLocks noChangeShapeType="1"/>
          </p:cNvSpPr>
          <p:nvPr/>
        </p:nvSpPr>
        <p:spPr bwMode="auto">
          <a:xfrm>
            <a:off x="8684059" y="464249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80" name="Line 112"/>
          <p:cNvSpPr>
            <a:spLocks noChangeShapeType="1"/>
          </p:cNvSpPr>
          <p:nvPr/>
        </p:nvSpPr>
        <p:spPr bwMode="auto">
          <a:xfrm>
            <a:off x="8726921" y="4705990"/>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81" name="Line 113"/>
          <p:cNvSpPr>
            <a:spLocks noChangeShapeType="1"/>
          </p:cNvSpPr>
          <p:nvPr/>
        </p:nvSpPr>
        <p:spPr bwMode="auto">
          <a:xfrm>
            <a:off x="8768196" y="4769490"/>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82" name="Line 114"/>
          <p:cNvSpPr>
            <a:spLocks noChangeShapeType="1"/>
          </p:cNvSpPr>
          <p:nvPr/>
        </p:nvSpPr>
        <p:spPr bwMode="auto">
          <a:xfrm>
            <a:off x="8811059" y="483140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83" name="Line 115"/>
          <p:cNvSpPr>
            <a:spLocks noChangeShapeType="1"/>
          </p:cNvSpPr>
          <p:nvPr/>
        </p:nvSpPr>
        <p:spPr bwMode="auto">
          <a:xfrm>
            <a:off x="8852334" y="4894902"/>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84" name="Line 116"/>
          <p:cNvSpPr>
            <a:spLocks noChangeShapeType="1"/>
          </p:cNvSpPr>
          <p:nvPr/>
        </p:nvSpPr>
        <p:spPr bwMode="auto">
          <a:xfrm>
            <a:off x="7158471"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85" name="Line 117"/>
          <p:cNvSpPr>
            <a:spLocks noChangeShapeType="1"/>
          </p:cNvSpPr>
          <p:nvPr/>
        </p:nvSpPr>
        <p:spPr bwMode="auto">
          <a:xfrm>
            <a:off x="7234671"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86" name="Line 118"/>
          <p:cNvSpPr>
            <a:spLocks noChangeShapeType="1"/>
          </p:cNvSpPr>
          <p:nvPr/>
        </p:nvSpPr>
        <p:spPr bwMode="auto">
          <a:xfrm>
            <a:off x="7312459"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87" name="Line 119"/>
          <p:cNvSpPr>
            <a:spLocks noChangeShapeType="1"/>
          </p:cNvSpPr>
          <p:nvPr/>
        </p:nvSpPr>
        <p:spPr bwMode="auto">
          <a:xfrm>
            <a:off x="7390246" y="4010665"/>
            <a:ext cx="12700"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88" name="Line 120"/>
          <p:cNvSpPr>
            <a:spLocks noChangeShapeType="1"/>
          </p:cNvSpPr>
          <p:nvPr/>
        </p:nvSpPr>
        <p:spPr bwMode="auto">
          <a:xfrm>
            <a:off x="7466446"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89" name="Line 121"/>
          <p:cNvSpPr>
            <a:spLocks noChangeShapeType="1"/>
          </p:cNvSpPr>
          <p:nvPr/>
        </p:nvSpPr>
        <p:spPr bwMode="auto">
          <a:xfrm>
            <a:off x="7544234"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90" name="Line 122"/>
          <p:cNvSpPr>
            <a:spLocks noChangeShapeType="1"/>
          </p:cNvSpPr>
          <p:nvPr/>
        </p:nvSpPr>
        <p:spPr bwMode="auto">
          <a:xfrm>
            <a:off x="7620434"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91" name="Line 123"/>
          <p:cNvSpPr>
            <a:spLocks noChangeShapeType="1"/>
          </p:cNvSpPr>
          <p:nvPr/>
        </p:nvSpPr>
        <p:spPr bwMode="auto">
          <a:xfrm>
            <a:off x="7698221"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92" name="Line 124"/>
          <p:cNvSpPr>
            <a:spLocks noChangeShapeType="1"/>
          </p:cNvSpPr>
          <p:nvPr/>
        </p:nvSpPr>
        <p:spPr bwMode="auto">
          <a:xfrm>
            <a:off x="7776009" y="4010665"/>
            <a:ext cx="12700"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93" name="Line 125"/>
          <p:cNvSpPr>
            <a:spLocks noChangeShapeType="1"/>
          </p:cNvSpPr>
          <p:nvPr/>
        </p:nvSpPr>
        <p:spPr bwMode="auto">
          <a:xfrm>
            <a:off x="7852209"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94" name="Line 126"/>
          <p:cNvSpPr>
            <a:spLocks noChangeShapeType="1"/>
          </p:cNvSpPr>
          <p:nvPr/>
        </p:nvSpPr>
        <p:spPr bwMode="auto">
          <a:xfrm>
            <a:off x="7929996"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95" name="Line 127"/>
          <p:cNvSpPr>
            <a:spLocks noChangeShapeType="1"/>
          </p:cNvSpPr>
          <p:nvPr/>
        </p:nvSpPr>
        <p:spPr bwMode="auto">
          <a:xfrm>
            <a:off x="8007784" y="4010665"/>
            <a:ext cx="12700"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96" name="Line 128"/>
          <p:cNvSpPr>
            <a:spLocks noChangeShapeType="1"/>
          </p:cNvSpPr>
          <p:nvPr/>
        </p:nvSpPr>
        <p:spPr bwMode="auto">
          <a:xfrm>
            <a:off x="8083984"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97" name="Line 129"/>
          <p:cNvSpPr>
            <a:spLocks noChangeShapeType="1"/>
          </p:cNvSpPr>
          <p:nvPr/>
        </p:nvSpPr>
        <p:spPr bwMode="auto">
          <a:xfrm>
            <a:off x="8161771"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98" name="Line 130"/>
          <p:cNvSpPr>
            <a:spLocks noChangeShapeType="1"/>
          </p:cNvSpPr>
          <p:nvPr/>
        </p:nvSpPr>
        <p:spPr bwMode="auto">
          <a:xfrm>
            <a:off x="8237971"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899" name="Line 131"/>
          <p:cNvSpPr>
            <a:spLocks noChangeShapeType="1"/>
          </p:cNvSpPr>
          <p:nvPr/>
        </p:nvSpPr>
        <p:spPr bwMode="auto">
          <a:xfrm>
            <a:off x="8315759"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00" name="Line 132"/>
          <p:cNvSpPr>
            <a:spLocks noChangeShapeType="1"/>
          </p:cNvSpPr>
          <p:nvPr/>
        </p:nvSpPr>
        <p:spPr bwMode="auto">
          <a:xfrm>
            <a:off x="8393546" y="4010665"/>
            <a:ext cx="12700"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01" name="Line 133"/>
          <p:cNvSpPr>
            <a:spLocks noChangeShapeType="1"/>
          </p:cNvSpPr>
          <p:nvPr/>
        </p:nvSpPr>
        <p:spPr bwMode="auto">
          <a:xfrm>
            <a:off x="8469746"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02" name="Line 134"/>
          <p:cNvSpPr>
            <a:spLocks noChangeShapeType="1"/>
          </p:cNvSpPr>
          <p:nvPr/>
        </p:nvSpPr>
        <p:spPr bwMode="auto">
          <a:xfrm>
            <a:off x="8547534"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03" name="Line 135"/>
          <p:cNvSpPr>
            <a:spLocks noChangeShapeType="1"/>
          </p:cNvSpPr>
          <p:nvPr/>
        </p:nvSpPr>
        <p:spPr bwMode="auto">
          <a:xfrm>
            <a:off x="8623734"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04" name="Line 136"/>
          <p:cNvSpPr>
            <a:spLocks noChangeShapeType="1"/>
          </p:cNvSpPr>
          <p:nvPr/>
        </p:nvSpPr>
        <p:spPr bwMode="auto">
          <a:xfrm>
            <a:off x="8701521"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05" name="Line 137"/>
          <p:cNvSpPr>
            <a:spLocks noChangeShapeType="1"/>
          </p:cNvSpPr>
          <p:nvPr/>
        </p:nvSpPr>
        <p:spPr bwMode="auto">
          <a:xfrm>
            <a:off x="8779309"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06" name="Line 138"/>
          <p:cNvSpPr>
            <a:spLocks noChangeShapeType="1"/>
          </p:cNvSpPr>
          <p:nvPr/>
        </p:nvSpPr>
        <p:spPr bwMode="auto">
          <a:xfrm>
            <a:off x="8855509"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07" name="Line 139"/>
          <p:cNvSpPr>
            <a:spLocks noChangeShapeType="1"/>
          </p:cNvSpPr>
          <p:nvPr/>
        </p:nvSpPr>
        <p:spPr bwMode="auto">
          <a:xfrm>
            <a:off x="8933296"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08" name="Line 140"/>
          <p:cNvSpPr>
            <a:spLocks noChangeShapeType="1"/>
          </p:cNvSpPr>
          <p:nvPr/>
        </p:nvSpPr>
        <p:spPr bwMode="auto">
          <a:xfrm>
            <a:off x="9011084" y="4010665"/>
            <a:ext cx="12700"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09" name="Line 141"/>
          <p:cNvSpPr>
            <a:spLocks noChangeShapeType="1"/>
          </p:cNvSpPr>
          <p:nvPr/>
        </p:nvSpPr>
        <p:spPr bwMode="auto">
          <a:xfrm>
            <a:off x="9087284"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10" name="Line 142"/>
          <p:cNvSpPr>
            <a:spLocks noChangeShapeType="1"/>
          </p:cNvSpPr>
          <p:nvPr/>
        </p:nvSpPr>
        <p:spPr bwMode="auto">
          <a:xfrm>
            <a:off x="9165071"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11" name="Line 143"/>
          <p:cNvSpPr>
            <a:spLocks noChangeShapeType="1"/>
          </p:cNvSpPr>
          <p:nvPr/>
        </p:nvSpPr>
        <p:spPr bwMode="auto">
          <a:xfrm>
            <a:off x="9241271" y="4010665"/>
            <a:ext cx="14288"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12" name="Line 144"/>
          <p:cNvSpPr>
            <a:spLocks noChangeShapeType="1"/>
          </p:cNvSpPr>
          <p:nvPr/>
        </p:nvSpPr>
        <p:spPr bwMode="auto">
          <a:xfrm>
            <a:off x="9319059" y="4010665"/>
            <a:ext cx="14287" cy="158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13" name="Line 145"/>
          <p:cNvSpPr>
            <a:spLocks noChangeShapeType="1"/>
          </p:cNvSpPr>
          <p:nvPr/>
        </p:nvSpPr>
        <p:spPr bwMode="auto">
          <a:xfrm flipV="1">
            <a:off x="7631546" y="494729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14" name="Line 146"/>
          <p:cNvSpPr>
            <a:spLocks noChangeShapeType="1"/>
          </p:cNvSpPr>
          <p:nvPr/>
        </p:nvSpPr>
        <p:spPr bwMode="auto">
          <a:xfrm flipV="1">
            <a:off x="7674409" y="488379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15" name="Line 147"/>
          <p:cNvSpPr>
            <a:spLocks noChangeShapeType="1"/>
          </p:cNvSpPr>
          <p:nvPr/>
        </p:nvSpPr>
        <p:spPr bwMode="auto">
          <a:xfrm flipV="1">
            <a:off x="7715684" y="4821877"/>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16" name="Line 148"/>
          <p:cNvSpPr>
            <a:spLocks noChangeShapeType="1"/>
          </p:cNvSpPr>
          <p:nvPr/>
        </p:nvSpPr>
        <p:spPr bwMode="auto">
          <a:xfrm flipV="1">
            <a:off x="7758546" y="475837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17" name="Line 149"/>
          <p:cNvSpPr>
            <a:spLocks noChangeShapeType="1"/>
          </p:cNvSpPr>
          <p:nvPr/>
        </p:nvSpPr>
        <p:spPr bwMode="auto">
          <a:xfrm flipV="1">
            <a:off x="7799821" y="4694877"/>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18" name="Line 150"/>
          <p:cNvSpPr>
            <a:spLocks noChangeShapeType="1"/>
          </p:cNvSpPr>
          <p:nvPr/>
        </p:nvSpPr>
        <p:spPr bwMode="auto">
          <a:xfrm flipV="1">
            <a:off x="7842684" y="463137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19" name="Line 151"/>
          <p:cNvSpPr>
            <a:spLocks noChangeShapeType="1"/>
          </p:cNvSpPr>
          <p:nvPr/>
        </p:nvSpPr>
        <p:spPr bwMode="auto">
          <a:xfrm flipV="1">
            <a:off x="7883959" y="4569465"/>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20" name="Line 152"/>
          <p:cNvSpPr>
            <a:spLocks noChangeShapeType="1"/>
          </p:cNvSpPr>
          <p:nvPr/>
        </p:nvSpPr>
        <p:spPr bwMode="auto">
          <a:xfrm flipV="1">
            <a:off x="7926821" y="4505965"/>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21" name="Line 153"/>
          <p:cNvSpPr>
            <a:spLocks noChangeShapeType="1"/>
          </p:cNvSpPr>
          <p:nvPr/>
        </p:nvSpPr>
        <p:spPr bwMode="auto">
          <a:xfrm flipV="1">
            <a:off x="7968096" y="4442465"/>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22" name="Line 154"/>
          <p:cNvSpPr>
            <a:spLocks noChangeShapeType="1"/>
          </p:cNvSpPr>
          <p:nvPr/>
        </p:nvSpPr>
        <p:spPr bwMode="auto">
          <a:xfrm flipV="1">
            <a:off x="8010959" y="437896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23" name="Line 155"/>
          <p:cNvSpPr>
            <a:spLocks noChangeShapeType="1"/>
          </p:cNvSpPr>
          <p:nvPr/>
        </p:nvSpPr>
        <p:spPr bwMode="auto">
          <a:xfrm flipV="1">
            <a:off x="8052234" y="4315465"/>
            <a:ext cx="7937"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24" name="Line 156"/>
          <p:cNvSpPr>
            <a:spLocks noChangeShapeType="1"/>
          </p:cNvSpPr>
          <p:nvPr/>
        </p:nvSpPr>
        <p:spPr bwMode="auto">
          <a:xfrm flipV="1">
            <a:off x="8095096" y="4253552"/>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25" name="Line 157"/>
          <p:cNvSpPr>
            <a:spLocks noChangeShapeType="1"/>
          </p:cNvSpPr>
          <p:nvPr/>
        </p:nvSpPr>
        <p:spPr bwMode="auto">
          <a:xfrm flipV="1">
            <a:off x="8136371" y="4190052"/>
            <a:ext cx="7938"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26" name="Line 158"/>
          <p:cNvSpPr>
            <a:spLocks noChangeShapeType="1"/>
          </p:cNvSpPr>
          <p:nvPr/>
        </p:nvSpPr>
        <p:spPr bwMode="auto">
          <a:xfrm flipV="1">
            <a:off x="8179234" y="412655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27" name="Line 159"/>
          <p:cNvSpPr>
            <a:spLocks noChangeShapeType="1"/>
          </p:cNvSpPr>
          <p:nvPr/>
        </p:nvSpPr>
        <p:spPr bwMode="auto">
          <a:xfrm flipV="1">
            <a:off x="8220509" y="4063052"/>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28" name="Line 160"/>
          <p:cNvSpPr>
            <a:spLocks noChangeShapeType="1"/>
          </p:cNvSpPr>
          <p:nvPr/>
        </p:nvSpPr>
        <p:spPr bwMode="auto">
          <a:xfrm flipV="1">
            <a:off x="8263371" y="399955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29" name="Line 161"/>
          <p:cNvSpPr>
            <a:spLocks noChangeShapeType="1"/>
          </p:cNvSpPr>
          <p:nvPr/>
        </p:nvSpPr>
        <p:spPr bwMode="auto">
          <a:xfrm flipV="1">
            <a:off x="8304646" y="3937640"/>
            <a:ext cx="7938"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30" name="Line 162"/>
          <p:cNvSpPr>
            <a:spLocks noChangeShapeType="1"/>
          </p:cNvSpPr>
          <p:nvPr/>
        </p:nvSpPr>
        <p:spPr bwMode="auto">
          <a:xfrm flipV="1">
            <a:off x="8347509" y="3874140"/>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31" name="Line 163"/>
          <p:cNvSpPr>
            <a:spLocks noChangeShapeType="1"/>
          </p:cNvSpPr>
          <p:nvPr/>
        </p:nvSpPr>
        <p:spPr bwMode="auto">
          <a:xfrm flipV="1">
            <a:off x="8388784" y="3810640"/>
            <a:ext cx="7937"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32" name="Line 164"/>
          <p:cNvSpPr>
            <a:spLocks noChangeShapeType="1"/>
          </p:cNvSpPr>
          <p:nvPr/>
        </p:nvSpPr>
        <p:spPr bwMode="auto">
          <a:xfrm flipV="1">
            <a:off x="8431646" y="374714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33" name="Line 165"/>
          <p:cNvSpPr>
            <a:spLocks noChangeShapeType="1"/>
          </p:cNvSpPr>
          <p:nvPr/>
        </p:nvSpPr>
        <p:spPr bwMode="auto">
          <a:xfrm flipV="1">
            <a:off x="8472921" y="3683640"/>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34" name="Line 166"/>
          <p:cNvSpPr>
            <a:spLocks noChangeShapeType="1"/>
          </p:cNvSpPr>
          <p:nvPr/>
        </p:nvSpPr>
        <p:spPr bwMode="auto">
          <a:xfrm flipV="1">
            <a:off x="8515784" y="3621727"/>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35" name="Line 167"/>
          <p:cNvSpPr>
            <a:spLocks noChangeShapeType="1"/>
          </p:cNvSpPr>
          <p:nvPr/>
        </p:nvSpPr>
        <p:spPr bwMode="auto">
          <a:xfrm flipV="1">
            <a:off x="8557059" y="3558227"/>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36" name="Line 168"/>
          <p:cNvSpPr>
            <a:spLocks noChangeShapeType="1"/>
          </p:cNvSpPr>
          <p:nvPr/>
        </p:nvSpPr>
        <p:spPr bwMode="auto">
          <a:xfrm flipV="1">
            <a:off x="8599921" y="349472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37" name="Line 169"/>
          <p:cNvSpPr>
            <a:spLocks noChangeShapeType="1"/>
          </p:cNvSpPr>
          <p:nvPr/>
        </p:nvSpPr>
        <p:spPr bwMode="auto">
          <a:xfrm flipV="1">
            <a:off x="8642784" y="343122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38" name="Line 170"/>
          <p:cNvSpPr>
            <a:spLocks noChangeShapeType="1"/>
          </p:cNvSpPr>
          <p:nvPr/>
        </p:nvSpPr>
        <p:spPr bwMode="auto">
          <a:xfrm flipV="1">
            <a:off x="8684059" y="336772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39" name="Line 171"/>
          <p:cNvSpPr>
            <a:spLocks noChangeShapeType="1"/>
          </p:cNvSpPr>
          <p:nvPr/>
        </p:nvSpPr>
        <p:spPr bwMode="auto">
          <a:xfrm flipV="1">
            <a:off x="8726921" y="3305815"/>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40" name="Line 172"/>
          <p:cNvSpPr>
            <a:spLocks noChangeShapeType="1"/>
          </p:cNvSpPr>
          <p:nvPr/>
        </p:nvSpPr>
        <p:spPr bwMode="auto">
          <a:xfrm flipV="1">
            <a:off x="8768196" y="3242315"/>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41" name="Line 173"/>
          <p:cNvSpPr>
            <a:spLocks noChangeShapeType="1"/>
          </p:cNvSpPr>
          <p:nvPr/>
        </p:nvSpPr>
        <p:spPr bwMode="auto">
          <a:xfrm flipV="1">
            <a:off x="8811059" y="317881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42" name="Line 174"/>
          <p:cNvSpPr>
            <a:spLocks noChangeShapeType="1"/>
          </p:cNvSpPr>
          <p:nvPr/>
        </p:nvSpPr>
        <p:spPr bwMode="auto">
          <a:xfrm flipV="1">
            <a:off x="8852334" y="3115315"/>
            <a:ext cx="7937"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43" name="Line 175"/>
          <p:cNvSpPr>
            <a:spLocks noChangeShapeType="1"/>
          </p:cNvSpPr>
          <p:nvPr/>
        </p:nvSpPr>
        <p:spPr bwMode="auto">
          <a:xfrm flipV="1">
            <a:off x="7158471" y="4004315"/>
            <a:ext cx="9525"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44" name="Line 176"/>
          <p:cNvSpPr>
            <a:spLocks noChangeShapeType="1"/>
          </p:cNvSpPr>
          <p:nvPr/>
        </p:nvSpPr>
        <p:spPr bwMode="auto">
          <a:xfrm flipV="1">
            <a:off x="7225146" y="3967802"/>
            <a:ext cx="9525" cy="793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45" name="Line 177"/>
          <p:cNvSpPr>
            <a:spLocks noChangeShapeType="1"/>
          </p:cNvSpPr>
          <p:nvPr/>
        </p:nvSpPr>
        <p:spPr bwMode="auto">
          <a:xfrm flipV="1">
            <a:off x="7291821" y="3929702"/>
            <a:ext cx="9525" cy="793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46" name="Line 178"/>
          <p:cNvSpPr>
            <a:spLocks noChangeShapeType="1"/>
          </p:cNvSpPr>
          <p:nvPr/>
        </p:nvSpPr>
        <p:spPr bwMode="auto">
          <a:xfrm flipV="1">
            <a:off x="7358496" y="3894777"/>
            <a:ext cx="9525"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47" name="Line 179"/>
          <p:cNvSpPr>
            <a:spLocks noChangeShapeType="1"/>
          </p:cNvSpPr>
          <p:nvPr/>
        </p:nvSpPr>
        <p:spPr bwMode="auto">
          <a:xfrm flipV="1">
            <a:off x="7425171" y="3859852"/>
            <a:ext cx="9525"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48" name="Line 180"/>
          <p:cNvSpPr>
            <a:spLocks noChangeShapeType="1"/>
          </p:cNvSpPr>
          <p:nvPr/>
        </p:nvSpPr>
        <p:spPr bwMode="auto">
          <a:xfrm flipV="1">
            <a:off x="7491846" y="3821752"/>
            <a:ext cx="9525"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49" name="Line 181"/>
          <p:cNvSpPr>
            <a:spLocks noChangeShapeType="1"/>
          </p:cNvSpPr>
          <p:nvPr/>
        </p:nvSpPr>
        <p:spPr bwMode="auto">
          <a:xfrm flipV="1">
            <a:off x="7558521" y="3786827"/>
            <a:ext cx="9525"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50" name="Line 182"/>
          <p:cNvSpPr>
            <a:spLocks noChangeShapeType="1"/>
          </p:cNvSpPr>
          <p:nvPr/>
        </p:nvSpPr>
        <p:spPr bwMode="auto">
          <a:xfrm flipV="1">
            <a:off x="7625196" y="3750315"/>
            <a:ext cx="9525" cy="793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51" name="Line 183"/>
          <p:cNvSpPr>
            <a:spLocks noChangeShapeType="1"/>
          </p:cNvSpPr>
          <p:nvPr/>
        </p:nvSpPr>
        <p:spPr bwMode="auto">
          <a:xfrm flipV="1">
            <a:off x="7691871" y="3712215"/>
            <a:ext cx="9525" cy="793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52" name="Line 184"/>
          <p:cNvSpPr>
            <a:spLocks noChangeShapeType="1"/>
          </p:cNvSpPr>
          <p:nvPr/>
        </p:nvSpPr>
        <p:spPr bwMode="auto">
          <a:xfrm flipV="1">
            <a:off x="7758546" y="3677290"/>
            <a:ext cx="9525"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53" name="Line 185"/>
          <p:cNvSpPr>
            <a:spLocks noChangeShapeType="1"/>
          </p:cNvSpPr>
          <p:nvPr/>
        </p:nvSpPr>
        <p:spPr bwMode="auto">
          <a:xfrm flipV="1">
            <a:off x="7825221" y="3642365"/>
            <a:ext cx="9525" cy="317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54" name="Line 186"/>
          <p:cNvSpPr>
            <a:spLocks noChangeShapeType="1"/>
          </p:cNvSpPr>
          <p:nvPr/>
        </p:nvSpPr>
        <p:spPr bwMode="auto">
          <a:xfrm flipV="1">
            <a:off x="7891896" y="3604265"/>
            <a:ext cx="9525"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55" name="Line 187"/>
          <p:cNvSpPr>
            <a:spLocks noChangeShapeType="1"/>
          </p:cNvSpPr>
          <p:nvPr/>
        </p:nvSpPr>
        <p:spPr bwMode="auto">
          <a:xfrm flipV="1">
            <a:off x="7958571" y="3567752"/>
            <a:ext cx="9525" cy="793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56" name="Line 188"/>
          <p:cNvSpPr>
            <a:spLocks noChangeShapeType="1"/>
          </p:cNvSpPr>
          <p:nvPr/>
        </p:nvSpPr>
        <p:spPr bwMode="auto">
          <a:xfrm flipV="1">
            <a:off x="8025246" y="3529652"/>
            <a:ext cx="9525" cy="793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57" name="Line 189"/>
          <p:cNvSpPr>
            <a:spLocks noChangeShapeType="1"/>
          </p:cNvSpPr>
          <p:nvPr/>
        </p:nvSpPr>
        <p:spPr bwMode="auto">
          <a:xfrm flipV="1">
            <a:off x="8091921" y="3494727"/>
            <a:ext cx="9525"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58" name="Line 190"/>
          <p:cNvSpPr>
            <a:spLocks noChangeShapeType="1"/>
          </p:cNvSpPr>
          <p:nvPr/>
        </p:nvSpPr>
        <p:spPr bwMode="auto">
          <a:xfrm flipV="1">
            <a:off x="8158596" y="3459802"/>
            <a:ext cx="9525"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59" name="Line 191"/>
          <p:cNvSpPr>
            <a:spLocks noChangeShapeType="1"/>
          </p:cNvSpPr>
          <p:nvPr/>
        </p:nvSpPr>
        <p:spPr bwMode="auto">
          <a:xfrm flipV="1">
            <a:off x="8225271" y="3421702"/>
            <a:ext cx="9525"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60" name="Line 192"/>
          <p:cNvSpPr>
            <a:spLocks noChangeShapeType="1"/>
          </p:cNvSpPr>
          <p:nvPr/>
        </p:nvSpPr>
        <p:spPr bwMode="auto">
          <a:xfrm flipV="1">
            <a:off x="8291946" y="3385190"/>
            <a:ext cx="9525" cy="793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61" name="Line 193"/>
          <p:cNvSpPr>
            <a:spLocks noChangeShapeType="1"/>
          </p:cNvSpPr>
          <p:nvPr/>
        </p:nvSpPr>
        <p:spPr bwMode="auto">
          <a:xfrm flipV="1">
            <a:off x="8358621" y="3350265"/>
            <a:ext cx="9525" cy="793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62" name="Line 194"/>
          <p:cNvSpPr>
            <a:spLocks noChangeShapeType="1"/>
          </p:cNvSpPr>
          <p:nvPr/>
        </p:nvSpPr>
        <p:spPr bwMode="auto">
          <a:xfrm flipV="1">
            <a:off x="8423709" y="3312165"/>
            <a:ext cx="11112"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63" name="Line 195"/>
          <p:cNvSpPr>
            <a:spLocks noChangeShapeType="1"/>
          </p:cNvSpPr>
          <p:nvPr/>
        </p:nvSpPr>
        <p:spPr bwMode="auto">
          <a:xfrm flipV="1">
            <a:off x="8490384" y="3277240"/>
            <a:ext cx="11112"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64" name="Line 196"/>
          <p:cNvSpPr>
            <a:spLocks noChangeShapeType="1"/>
          </p:cNvSpPr>
          <p:nvPr/>
        </p:nvSpPr>
        <p:spPr bwMode="auto">
          <a:xfrm flipV="1">
            <a:off x="8557059" y="3242315"/>
            <a:ext cx="11112" cy="317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65" name="Line 197"/>
          <p:cNvSpPr>
            <a:spLocks noChangeShapeType="1"/>
          </p:cNvSpPr>
          <p:nvPr/>
        </p:nvSpPr>
        <p:spPr bwMode="auto">
          <a:xfrm flipV="1">
            <a:off x="8623734" y="3204215"/>
            <a:ext cx="11112"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66" name="Line 198"/>
          <p:cNvSpPr>
            <a:spLocks noChangeShapeType="1"/>
          </p:cNvSpPr>
          <p:nvPr/>
        </p:nvSpPr>
        <p:spPr bwMode="auto">
          <a:xfrm flipV="1">
            <a:off x="8690409" y="3167702"/>
            <a:ext cx="11112" cy="793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67" name="Line 199"/>
          <p:cNvSpPr>
            <a:spLocks noChangeShapeType="1"/>
          </p:cNvSpPr>
          <p:nvPr/>
        </p:nvSpPr>
        <p:spPr bwMode="auto">
          <a:xfrm flipV="1">
            <a:off x="8757084" y="3129602"/>
            <a:ext cx="11112" cy="793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68" name="Line 200"/>
          <p:cNvSpPr>
            <a:spLocks noChangeShapeType="1"/>
          </p:cNvSpPr>
          <p:nvPr/>
        </p:nvSpPr>
        <p:spPr bwMode="auto">
          <a:xfrm flipV="1">
            <a:off x="8823759" y="3094677"/>
            <a:ext cx="11112" cy="6350"/>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69" name="Line 201"/>
          <p:cNvSpPr>
            <a:spLocks noChangeShapeType="1"/>
          </p:cNvSpPr>
          <p:nvPr/>
        </p:nvSpPr>
        <p:spPr bwMode="auto">
          <a:xfrm flipV="1">
            <a:off x="8890434" y="3062927"/>
            <a:ext cx="4762" cy="317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70" name="Line 202"/>
          <p:cNvSpPr>
            <a:spLocks noChangeShapeType="1"/>
          </p:cNvSpPr>
          <p:nvPr/>
        </p:nvSpPr>
        <p:spPr bwMode="auto">
          <a:xfrm>
            <a:off x="7631546" y="3062927"/>
            <a:ext cx="14288" cy="15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71" name="Line 203"/>
          <p:cNvSpPr>
            <a:spLocks noChangeShapeType="1"/>
          </p:cNvSpPr>
          <p:nvPr/>
        </p:nvSpPr>
        <p:spPr bwMode="auto">
          <a:xfrm>
            <a:off x="7709334" y="3062927"/>
            <a:ext cx="12700" cy="158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grpSp>
        <p:nvGrpSpPr>
          <p:cNvPr id="972" name="Group 204"/>
          <p:cNvGrpSpPr>
            <a:grpSpLocks/>
          </p:cNvGrpSpPr>
          <p:nvPr/>
        </p:nvGrpSpPr>
        <p:grpSpPr bwMode="auto">
          <a:xfrm>
            <a:off x="7158471" y="2350140"/>
            <a:ext cx="2209800" cy="3313112"/>
            <a:chOff x="2310" y="1443"/>
            <a:chExt cx="1392" cy="2087"/>
          </a:xfrm>
        </p:grpSpPr>
        <p:sp>
          <p:nvSpPr>
            <p:cNvPr id="973" name="Line 205"/>
            <p:cNvSpPr>
              <a:spLocks noChangeShapeType="1"/>
            </p:cNvSpPr>
            <p:nvPr/>
          </p:nvSpPr>
          <p:spPr bwMode="auto">
            <a:xfrm>
              <a:off x="2705"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74" name="Line 206"/>
            <p:cNvSpPr>
              <a:spLocks noChangeShapeType="1"/>
            </p:cNvSpPr>
            <p:nvPr/>
          </p:nvSpPr>
          <p:spPr bwMode="auto">
            <a:xfrm>
              <a:off x="2754"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75" name="Line 207"/>
            <p:cNvSpPr>
              <a:spLocks noChangeShapeType="1"/>
            </p:cNvSpPr>
            <p:nvPr/>
          </p:nvSpPr>
          <p:spPr bwMode="auto">
            <a:xfrm>
              <a:off x="2803" y="1892"/>
              <a:ext cx="8"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76" name="Line 208"/>
            <p:cNvSpPr>
              <a:spLocks noChangeShapeType="1"/>
            </p:cNvSpPr>
            <p:nvPr/>
          </p:nvSpPr>
          <p:spPr bwMode="auto">
            <a:xfrm>
              <a:off x="2851"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77" name="Line 209"/>
            <p:cNvSpPr>
              <a:spLocks noChangeShapeType="1"/>
            </p:cNvSpPr>
            <p:nvPr/>
          </p:nvSpPr>
          <p:spPr bwMode="auto">
            <a:xfrm>
              <a:off x="2900"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78" name="Line 210"/>
            <p:cNvSpPr>
              <a:spLocks noChangeShapeType="1"/>
            </p:cNvSpPr>
            <p:nvPr/>
          </p:nvSpPr>
          <p:spPr bwMode="auto">
            <a:xfrm>
              <a:off x="2948"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79" name="Line 211"/>
            <p:cNvSpPr>
              <a:spLocks noChangeShapeType="1"/>
            </p:cNvSpPr>
            <p:nvPr/>
          </p:nvSpPr>
          <p:spPr bwMode="auto">
            <a:xfrm>
              <a:off x="2997"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80" name="Line 212"/>
            <p:cNvSpPr>
              <a:spLocks noChangeShapeType="1"/>
            </p:cNvSpPr>
            <p:nvPr/>
          </p:nvSpPr>
          <p:spPr bwMode="auto">
            <a:xfrm>
              <a:off x="3046" y="1892"/>
              <a:ext cx="8"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81" name="Line 213"/>
            <p:cNvSpPr>
              <a:spLocks noChangeShapeType="1"/>
            </p:cNvSpPr>
            <p:nvPr/>
          </p:nvSpPr>
          <p:spPr bwMode="auto">
            <a:xfrm>
              <a:off x="3094"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82" name="Line 214"/>
            <p:cNvSpPr>
              <a:spLocks noChangeShapeType="1"/>
            </p:cNvSpPr>
            <p:nvPr/>
          </p:nvSpPr>
          <p:spPr bwMode="auto">
            <a:xfrm>
              <a:off x="3143"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83" name="Line 215"/>
            <p:cNvSpPr>
              <a:spLocks noChangeShapeType="1"/>
            </p:cNvSpPr>
            <p:nvPr/>
          </p:nvSpPr>
          <p:spPr bwMode="auto">
            <a:xfrm>
              <a:off x="3191"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84" name="Line 216"/>
            <p:cNvSpPr>
              <a:spLocks noChangeShapeType="1"/>
            </p:cNvSpPr>
            <p:nvPr/>
          </p:nvSpPr>
          <p:spPr bwMode="auto">
            <a:xfrm>
              <a:off x="3240"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85" name="Line 217"/>
            <p:cNvSpPr>
              <a:spLocks noChangeShapeType="1"/>
            </p:cNvSpPr>
            <p:nvPr/>
          </p:nvSpPr>
          <p:spPr bwMode="auto">
            <a:xfrm>
              <a:off x="3289"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86" name="Line 218"/>
            <p:cNvSpPr>
              <a:spLocks noChangeShapeType="1"/>
            </p:cNvSpPr>
            <p:nvPr/>
          </p:nvSpPr>
          <p:spPr bwMode="auto">
            <a:xfrm>
              <a:off x="3337"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87" name="Line 219"/>
            <p:cNvSpPr>
              <a:spLocks noChangeShapeType="1"/>
            </p:cNvSpPr>
            <p:nvPr/>
          </p:nvSpPr>
          <p:spPr bwMode="auto">
            <a:xfrm>
              <a:off x="3386" y="1892"/>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88" name="Line 220"/>
            <p:cNvSpPr>
              <a:spLocks noChangeShapeType="1"/>
            </p:cNvSpPr>
            <p:nvPr/>
          </p:nvSpPr>
          <p:spPr bwMode="auto">
            <a:xfrm>
              <a:off x="3006" y="1443"/>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89" name="Line 221"/>
            <p:cNvSpPr>
              <a:spLocks noChangeShapeType="1"/>
            </p:cNvSpPr>
            <p:nvPr/>
          </p:nvSpPr>
          <p:spPr bwMode="auto">
            <a:xfrm>
              <a:off x="3037" y="1479"/>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90" name="Line 222"/>
            <p:cNvSpPr>
              <a:spLocks noChangeShapeType="1"/>
            </p:cNvSpPr>
            <p:nvPr/>
          </p:nvSpPr>
          <p:spPr bwMode="auto">
            <a:xfrm>
              <a:off x="3068" y="1514"/>
              <a:ext cx="6"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91" name="Line 223"/>
            <p:cNvSpPr>
              <a:spLocks noChangeShapeType="1"/>
            </p:cNvSpPr>
            <p:nvPr/>
          </p:nvSpPr>
          <p:spPr bwMode="auto">
            <a:xfrm>
              <a:off x="3101" y="1549"/>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92" name="Line 224"/>
            <p:cNvSpPr>
              <a:spLocks noChangeShapeType="1"/>
            </p:cNvSpPr>
            <p:nvPr/>
          </p:nvSpPr>
          <p:spPr bwMode="auto">
            <a:xfrm>
              <a:off x="3132" y="1585"/>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93" name="Line 225"/>
            <p:cNvSpPr>
              <a:spLocks noChangeShapeType="1"/>
            </p:cNvSpPr>
            <p:nvPr/>
          </p:nvSpPr>
          <p:spPr bwMode="auto">
            <a:xfrm>
              <a:off x="3163" y="1620"/>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94" name="Line 226"/>
            <p:cNvSpPr>
              <a:spLocks noChangeShapeType="1"/>
            </p:cNvSpPr>
            <p:nvPr/>
          </p:nvSpPr>
          <p:spPr bwMode="auto">
            <a:xfrm>
              <a:off x="3194" y="1656"/>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95" name="Line 227"/>
            <p:cNvSpPr>
              <a:spLocks noChangeShapeType="1"/>
            </p:cNvSpPr>
            <p:nvPr/>
          </p:nvSpPr>
          <p:spPr bwMode="auto">
            <a:xfrm>
              <a:off x="3225" y="1691"/>
              <a:ext cx="6"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96" name="Line 228"/>
            <p:cNvSpPr>
              <a:spLocks noChangeShapeType="1"/>
            </p:cNvSpPr>
            <p:nvPr/>
          </p:nvSpPr>
          <p:spPr bwMode="auto">
            <a:xfrm>
              <a:off x="3258" y="1726"/>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97" name="Line 229"/>
            <p:cNvSpPr>
              <a:spLocks noChangeShapeType="1"/>
            </p:cNvSpPr>
            <p:nvPr/>
          </p:nvSpPr>
          <p:spPr bwMode="auto">
            <a:xfrm>
              <a:off x="3289" y="1762"/>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98" name="Line 230"/>
            <p:cNvSpPr>
              <a:spLocks noChangeShapeType="1"/>
            </p:cNvSpPr>
            <p:nvPr/>
          </p:nvSpPr>
          <p:spPr bwMode="auto">
            <a:xfrm>
              <a:off x="3320" y="1797"/>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999" name="Line 231"/>
            <p:cNvSpPr>
              <a:spLocks noChangeShapeType="1"/>
            </p:cNvSpPr>
            <p:nvPr/>
          </p:nvSpPr>
          <p:spPr bwMode="auto">
            <a:xfrm>
              <a:off x="3351" y="1832"/>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00" name="Line 232"/>
            <p:cNvSpPr>
              <a:spLocks noChangeShapeType="1"/>
            </p:cNvSpPr>
            <p:nvPr/>
          </p:nvSpPr>
          <p:spPr bwMode="auto">
            <a:xfrm>
              <a:off x="3382" y="1868"/>
              <a:ext cx="6"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01" name="Line 233"/>
            <p:cNvSpPr>
              <a:spLocks noChangeShapeType="1"/>
            </p:cNvSpPr>
            <p:nvPr/>
          </p:nvSpPr>
          <p:spPr bwMode="auto">
            <a:xfrm flipH="1">
              <a:off x="3001" y="1443"/>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02" name="Line 234"/>
            <p:cNvSpPr>
              <a:spLocks noChangeShapeType="1"/>
            </p:cNvSpPr>
            <p:nvPr/>
          </p:nvSpPr>
          <p:spPr bwMode="auto">
            <a:xfrm flipH="1">
              <a:off x="2970" y="1479"/>
              <a:ext cx="5"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03" name="Line 235"/>
            <p:cNvSpPr>
              <a:spLocks noChangeShapeType="1"/>
            </p:cNvSpPr>
            <p:nvPr/>
          </p:nvSpPr>
          <p:spPr bwMode="auto">
            <a:xfrm flipH="1">
              <a:off x="2937" y="1514"/>
              <a:ext cx="7"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04" name="Line 236"/>
            <p:cNvSpPr>
              <a:spLocks noChangeShapeType="1"/>
            </p:cNvSpPr>
            <p:nvPr/>
          </p:nvSpPr>
          <p:spPr bwMode="auto">
            <a:xfrm flipH="1">
              <a:off x="2906" y="1549"/>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05" name="Line 237"/>
            <p:cNvSpPr>
              <a:spLocks noChangeShapeType="1"/>
            </p:cNvSpPr>
            <p:nvPr/>
          </p:nvSpPr>
          <p:spPr bwMode="auto">
            <a:xfrm flipH="1">
              <a:off x="2875" y="1585"/>
              <a:ext cx="5"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06" name="Line 238"/>
            <p:cNvSpPr>
              <a:spLocks noChangeShapeType="1"/>
            </p:cNvSpPr>
            <p:nvPr/>
          </p:nvSpPr>
          <p:spPr bwMode="auto">
            <a:xfrm flipH="1">
              <a:off x="2845" y="1620"/>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07" name="Line 239"/>
            <p:cNvSpPr>
              <a:spLocks noChangeShapeType="1"/>
            </p:cNvSpPr>
            <p:nvPr/>
          </p:nvSpPr>
          <p:spPr bwMode="auto">
            <a:xfrm flipH="1">
              <a:off x="2814" y="1656"/>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08" name="Line 240"/>
            <p:cNvSpPr>
              <a:spLocks noChangeShapeType="1"/>
            </p:cNvSpPr>
            <p:nvPr/>
          </p:nvSpPr>
          <p:spPr bwMode="auto">
            <a:xfrm flipH="1">
              <a:off x="2780" y="1691"/>
              <a:ext cx="7"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09" name="Line 241"/>
            <p:cNvSpPr>
              <a:spLocks noChangeShapeType="1"/>
            </p:cNvSpPr>
            <p:nvPr/>
          </p:nvSpPr>
          <p:spPr bwMode="auto">
            <a:xfrm flipH="1">
              <a:off x="2749" y="1726"/>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10" name="Line 242"/>
            <p:cNvSpPr>
              <a:spLocks noChangeShapeType="1"/>
            </p:cNvSpPr>
            <p:nvPr/>
          </p:nvSpPr>
          <p:spPr bwMode="auto">
            <a:xfrm flipH="1">
              <a:off x="2719" y="1762"/>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11" name="Line 243"/>
            <p:cNvSpPr>
              <a:spLocks noChangeShapeType="1"/>
            </p:cNvSpPr>
            <p:nvPr/>
          </p:nvSpPr>
          <p:spPr bwMode="auto">
            <a:xfrm flipH="1">
              <a:off x="2688" y="1797"/>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12" name="Line 244"/>
            <p:cNvSpPr>
              <a:spLocks noChangeShapeType="1"/>
            </p:cNvSpPr>
            <p:nvPr/>
          </p:nvSpPr>
          <p:spPr bwMode="auto">
            <a:xfrm flipH="1">
              <a:off x="2657" y="1832"/>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13" name="Line 245"/>
            <p:cNvSpPr>
              <a:spLocks noChangeShapeType="1"/>
            </p:cNvSpPr>
            <p:nvPr/>
          </p:nvSpPr>
          <p:spPr bwMode="auto">
            <a:xfrm flipH="1">
              <a:off x="2624" y="1868"/>
              <a:ext cx="6"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14" name="Line 246"/>
            <p:cNvSpPr>
              <a:spLocks noChangeShapeType="1"/>
            </p:cNvSpPr>
            <p:nvPr/>
          </p:nvSpPr>
          <p:spPr bwMode="auto">
            <a:xfrm flipH="1">
              <a:off x="3698" y="2489"/>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15" name="Line 247"/>
            <p:cNvSpPr>
              <a:spLocks noChangeShapeType="1"/>
            </p:cNvSpPr>
            <p:nvPr/>
          </p:nvSpPr>
          <p:spPr bwMode="auto">
            <a:xfrm flipH="1">
              <a:off x="3671" y="2529"/>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16" name="Line 248"/>
            <p:cNvSpPr>
              <a:spLocks noChangeShapeType="1"/>
            </p:cNvSpPr>
            <p:nvPr/>
          </p:nvSpPr>
          <p:spPr bwMode="auto">
            <a:xfrm flipH="1">
              <a:off x="3645" y="2569"/>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17" name="Line 249"/>
            <p:cNvSpPr>
              <a:spLocks noChangeShapeType="1"/>
            </p:cNvSpPr>
            <p:nvPr/>
          </p:nvSpPr>
          <p:spPr bwMode="auto">
            <a:xfrm flipH="1">
              <a:off x="3618" y="2608"/>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18" name="Line 250"/>
            <p:cNvSpPr>
              <a:spLocks noChangeShapeType="1"/>
            </p:cNvSpPr>
            <p:nvPr/>
          </p:nvSpPr>
          <p:spPr bwMode="auto">
            <a:xfrm flipH="1">
              <a:off x="3591" y="2648"/>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19" name="Line 251"/>
            <p:cNvSpPr>
              <a:spLocks noChangeShapeType="1"/>
            </p:cNvSpPr>
            <p:nvPr/>
          </p:nvSpPr>
          <p:spPr bwMode="auto">
            <a:xfrm flipH="1">
              <a:off x="3565" y="2688"/>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20" name="Line 252"/>
            <p:cNvSpPr>
              <a:spLocks noChangeShapeType="1"/>
            </p:cNvSpPr>
            <p:nvPr/>
          </p:nvSpPr>
          <p:spPr bwMode="auto">
            <a:xfrm flipH="1">
              <a:off x="3538" y="2728"/>
              <a:ext cx="5"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21" name="Line 253"/>
            <p:cNvSpPr>
              <a:spLocks noChangeShapeType="1"/>
            </p:cNvSpPr>
            <p:nvPr/>
          </p:nvSpPr>
          <p:spPr bwMode="auto">
            <a:xfrm flipH="1">
              <a:off x="3512" y="2768"/>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22" name="Line 254"/>
            <p:cNvSpPr>
              <a:spLocks noChangeShapeType="1"/>
            </p:cNvSpPr>
            <p:nvPr/>
          </p:nvSpPr>
          <p:spPr bwMode="auto">
            <a:xfrm flipH="1">
              <a:off x="3485" y="2807"/>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23" name="Line 255"/>
            <p:cNvSpPr>
              <a:spLocks noChangeShapeType="1"/>
            </p:cNvSpPr>
            <p:nvPr/>
          </p:nvSpPr>
          <p:spPr bwMode="auto">
            <a:xfrm flipH="1">
              <a:off x="3459" y="2847"/>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24" name="Line 256"/>
            <p:cNvSpPr>
              <a:spLocks noChangeShapeType="1"/>
            </p:cNvSpPr>
            <p:nvPr/>
          </p:nvSpPr>
          <p:spPr bwMode="auto">
            <a:xfrm flipH="1">
              <a:off x="3432" y="2887"/>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25" name="Line 257"/>
            <p:cNvSpPr>
              <a:spLocks noChangeShapeType="1"/>
            </p:cNvSpPr>
            <p:nvPr/>
          </p:nvSpPr>
          <p:spPr bwMode="auto">
            <a:xfrm flipH="1">
              <a:off x="3406" y="2927"/>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26" name="Line 258"/>
            <p:cNvSpPr>
              <a:spLocks noChangeShapeType="1"/>
            </p:cNvSpPr>
            <p:nvPr/>
          </p:nvSpPr>
          <p:spPr bwMode="auto">
            <a:xfrm flipH="1">
              <a:off x="3379" y="2967"/>
              <a:ext cx="5"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27" name="Line 259"/>
            <p:cNvSpPr>
              <a:spLocks noChangeShapeType="1"/>
            </p:cNvSpPr>
            <p:nvPr/>
          </p:nvSpPr>
          <p:spPr bwMode="auto">
            <a:xfrm flipH="1">
              <a:off x="3353" y="3006"/>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28" name="Line 260"/>
            <p:cNvSpPr>
              <a:spLocks noChangeShapeType="1"/>
            </p:cNvSpPr>
            <p:nvPr/>
          </p:nvSpPr>
          <p:spPr bwMode="auto">
            <a:xfrm flipH="1">
              <a:off x="3326" y="3046"/>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29" name="Line 261"/>
            <p:cNvSpPr>
              <a:spLocks noChangeShapeType="1"/>
            </p:cNvSpPr>
            <p:nvPr/>
          </p:nvSpPr>
          <p:spPr bwMode="auto">
            <a:xfrm flipH="1">
              <a:off x="3300" y="3086"/>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30" name="Line 262"/>
            <p:cNvSpPr>
              <a:spLocks noChangeShapeType="1"/>
            </p:cNvSpPr>
            <p:nvPr/>
          </p:nvSpPr>
          <p:spPr bwMode="auto">
            <a:xfrm flipH="1">
              <a:off x="3273" y="3126"/>
              <a:ext cx="5"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31" name="Line 263"/>
            <p:cNvSpPr>
              <a:spLocks noChangeShapeType="1"/>
            </p:cNvSpPr>
            <p:nvPr/>
          </p:nvSpPr>
          <p:spPr bwMode="auto">
            <a:xfrm flipH="1">
              <a:off x="3247" y="3165"/>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32" name="Line 264"/>
            <p:cNvSpPr>
              <a:spLocks noChangeShapeType="1"/>
            </p:cNvSpPr>
            <p:nvPr/>
          </p:nvSpPr>
          <p:spPr bwMode="auto">
            <a:xfrm flipH="1">
              <a:off x="3220" y="3205"/>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33" name="Line 265"/>
            <p:cNvSpPr>
              <a:spLocks noChangeShapeType="1"/>
            </p:cNvSpPr>
            <p:nvPr/>
          </p:nvSpPr>
          <p:spPr bwMode="auto">
            <a:xfrm flipH="1">
              <a:off x="3194" y="3245"/>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34" name="Line 266"/>
            <p:cNvSpPr>
              <a:spLocks noChangeShapeType="1"/>
            </p:cNvSpPr>
            <p:nvPr/>
          </p:nvSpPr>
          <p:spPr bwMode="auto">
            <a:xfrm flipH="1">
              <a:off x="3167" y="3285"/>
              <a:ext cx="5"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35" name="Line 267"/>
            <p:cNvSpPr>
              <a:spLocks noChangeShapeType="1"/>
            </p:cNvSpPr>
            <p:nvPr/>
          </p:nvSpPr>
          <p:spPr bwMode="auto">
            <a:xfrm flipH="1">
              <a:off x="3141" y="3325"/>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36" name="Line 268"/>
            <p:cNvSpPr>
              <a:spLocks noChangeShapeType="1"/>
            </p:cNvSpPr>
            <p:nvPr/>
          </p:nvSpPr>
          <p:spPr bwMode="auto">
            <a:xfrm flipH="1">
              <a:off x="3114" y="3364"/>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37" name="Line 269"/>
            <p:cNvSpPr>
              <a:spLocks noChangeShapeType="1"/>
            </p:cNvSpPr>
            <p:nvPr/>
          </p:nvSpPr>
          <p:spPr bwMode="auto">
            <a:xfrm flipH="1">
              <a:off x="3088" y="3404"/>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38" name="Line 270"/>
            <p:cNvSpPr>
              <a:spLocks noChangeShapeType="1"/>
            </p:cNvSpPr>
            <p:nvPr/>
          </p:nvSpPr>
          <p:spPr bwMode="auto">
            <a:xfrm flipH="1">
              <a:off x="3061" y="3444"/>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39" name="Line 271"/>
            <p:cNvSpPr>
              <a:spLocks noChangeShapeType="1"/>
            </p:cNvSpPr>
            <p:nvPr/>
          </p:nvSpPr>
          <p:spPr bwMode="auto">
            <a:xfrm flipH="1">
              <a:off x="3035" y="3484"/>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40" name="Line 272"/>
            <p:cNvSpPr>
              <a:spLocks noChangeShapeType="1"/>
            </p:cNvSpPr>
            <p:nvPr/>
          </p:nvSpPr>
          <p:spPr bwMode="auto">
            <a:xfrm flipH="1">
              <a:off x="3008" y="3524"/>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41" name="Line 273"/>
            <p:cNvSpPr>
              <a:spLocks noChangeShapeType="1"/>
            </p:cNvSpPr>
            <p:nvPr/>
          </p:nvSpPr>
          <p:spPr bwMode="auto">
            <a:xfrm flipH="1" flipV="1">
              <a:off x="2977" y="3504"/>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42" name="Line 274"/>
            <p:cNvSpPr>
              <a:spLocks noChangeShapeType="1"/>
            </p:cNvSpPr>
            <p:nvPr/>
          </p:nvSpPr>
          <p:spPr bwMode="auto">
            <a:xfrm flipH="1" flipV="1">
              <a:off x="2946" y="3466"/>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43" name="Line 275"/>
            <p:cNvSpPr>
              <a:spLocks noChangeShapeType="1"/>
            </p:cNvSpPr>
            <p:nvPr/>
          </p:nvSpPr>
          <p:spPr bwMode="auto">
            <a:xfrm flipH="1" flipV="1">
              <a:off x="2915" y="3431"/>
              <a:ext cx="5"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44" name="Line 276"/>
            <p:cNvSpPr>
              <a:spLocks noChangeShapeType="1"/>
            </p:cNvSpPr>
            <p:nvPr/>
          </p:nvSpPr>
          <p:spPr bwMode="auto">
            <a:xfrm flipH="1" flipV="1">
              <a:off x="2882" y="3395"/>
              <a:ext cx="7"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45" name="Line 277"/>
            <p:cNvSpPr>
              <a:spLocks noChangeShapeType="1"/>
            </p:cNvSpPr>
            <p:nvPr/>
          </p:nvSpPr>
          <p:spPr bwMode="auto">
            <a:xfrm flipH="1" flipV="1">
              <a:off x="2849" y="3358"/>
              <a:ext cx="7"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46" name="Line 278"/>
            <p:cNvSpPr>
              <a:spLocks noChangeShapeType="1"/>
            </p:cNvSpPr>
            <p:nvPr/>
          </p:nvSpPr>
          <p:spPr bwMode="auto">
            <a:xfrm flipH="1" flipV="1">
              <a:off x="2816" y="3320"/>
              <a:ext cx="6"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47" name="Line 279"/>
            <p:cNvSpPr>
              <a:spLocks noChangeShapeType="1"/>
            </p:cNvSpPr>
            <p:nvPr/>
          </p:nvSpPr>
          <p:spPr bwMode="auto">
            <a:xfrm flipH="1" flipV="1">
              <a:off x="2785" y="3285"/>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48" name="Line 280"/>
            <p:cNvSpPr>
              <a:spLocks noChangeShapeType="1"/>
            </p:cNvSpPr>
            <p:nvPr/>
          </p:nvSpPr>
          <p:spPr bwMode="auto">
            <a:xfrm flipH="1" flipV="1">
              <a:off x="2754" y="3249"/>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49" name="Line 281"/>
            <p:cNvSpPr>
              <a:spLocks noChangeShapeType="1"/>
            </p:cNvSpPr>
            <p:nvPr/>
          </p:nvSpPr>
          <p:spPr bwMode="auto">
            <a:xfrm flipH="1" flipV="1">
              <a:off x="2723" y="3214"/>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50" name="Line 282"/>
            <p:cNvSpPr>
              <a:spLocks noChangeShapeType="1"/>
            </p:cNvSpPr>
            <p:nvPr/>
          </p:nvSpPr>
          <p:spPr bwMode="auto">
            <a:xfrm flipH="1" flipV="1">
              <a:off x="2692" y="3179"/>
              <a:ext cx="4"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51" name="Line 283"/>
            <p:cNvSpPr>
              <a:spLocks noChangeShapeType="1"/>
            </p:cNvSpPr>
            <p:nvPr/>
          </p:nvSpPr>
          <p:spPr bwMode="auto">
            <a:xfrm flipH="1" flipV="1">
              <a:off x="2659" y="3143"/>
              <a:ext cx="6"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52" name="Line 284"/>
            <p:cNvSpPr>
              <a:spLocks noChangeShapeType="1"/>
            </p:cNvSpPr>
            <p:nvPr/>
          </p:nvSpPr>
          <p:spPr bwMode="auto">
            <a:xfrm flipH="1" flipV="1">
              <a:off x="2626" y="3106"/>
              <a:ext cx="6"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53" name="Line 285"/>
            <p:cNvSpPr>
              <a:spLocks noChangeShapeType="1"/>
            </p:cNvSpPr>
            <p:nvPr/>
          </p:nvSpPr>
          <p:spPr bwMode="auto">
            <a:xfrm flipH="1" flipV="1">
              <a:off x="2599" y="3068"/>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54" name="Line 286"/>
            <p:cNvSpPr>
              <a:spLocks noChangeShapeType="1"/>
            </p:cNvSpPr>
            <p:nvPr/>
          </p:nvSpPr>
          <p:spPr bwMode="auto">
            <a:xfrm flipH="1" flipV="1">
              <a:off x="2577" y="3026"/>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55" name="Line 287"/>
            <p:cNvSpPr>
              <a:spLocks noChangeShapeType="1"/>
            </p:cNvSpPr>
            <p:nvPr/>
          </p:nvSpPr>
          <p:spPr bwMode="auto">
            <a:xfrm flipH="1" flipV="1">
              <a:off x="2557" y="2984"/>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56" name="Line 288"/>
            <p:cNvSpPr>
              <a:spLocks noChangeShapeType="1"/>
            </p:cNvSpPr>
            <p:nvPr/>
          </p:nvSpPr>
          <p:spPr bwMode="auto">
            <a:xfrm flipH="1" flipV="1">
              <a:off x="2535" y="2942"/>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57" name="Line 289"/>
            <p:cNvSpPr>
              <a:spLocks noChangeShapeType="1"/>
            </p:cNvSpPr>
            <p:nvPr/>
          </p:nvSpPr>
          <p:spPr bwMode="auto">
            <a:xfrm flipH="1" flipV="1">
              <a:off x="2515" y="290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58" name="Line 290"/>
            <p:cNvSpPr>
              <a:spLocks noChangeShapeType="1"/>
            </p:cNvSpPr>
            <p:nvPr/>
          </p:nvSpPr>
          <p:spPr bwMode="auto">
            <a:xfrm flipH="1" flipV="1">
              <a:off x="2493" y="2858"/>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59" name="Line 291"/>
            <p:cNvSpPr>
              <a:spLocks noChangeShapeType="1"/>
            </p:cNvSpPr>
            <p:nvPr/>
          </p:nvSpPr>
          <p:spPr bwMode="auto">
            <a:xfrm flipH="1" flipV="1">
              <a:off x="2473" y="281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60" name="Line 292"/>
            <p:cNvSpPr>
              <a:spLocks noChangeShapeType="1"/>
            </p:cNvSpPr>
            <p:nvPr/>
          </p:nvSpPr>
          <p:spPr bwMode="auto">
            <a:xfrm flipH="1" flipV="1">
              <a:off x="2451" y="2774"/>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61" name="Line 293"/>
            <p:cNvSpPr>
              <a:spLocks noChangeShapeType="1"/>
            </p:cNvSpPr>
            <p:nvPr/>
          </p:nvSpPr>
          <p:spPr bwMode="auto">
            <a:xfrm flipH="1" flipV="1">
              <a:off x="2431" y="2732"/>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62" name="Line 294"/>
            <p:cNvSpPr>
              <a:spLocks noChangeShapeType="1"/>
            </p:cNvSpPr>
            <p:nvPr/>
          </p:nvSpPr>
          <p:spPr bwMode="auto">
            <a:xfrm flipH="1" flipV="1">
              <a:off x="2409" y="2690"/>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63" name="Line 295"/>
            <p:cNvSpPr>
              <a:spLocks noChangeShapeType="1"/>
            </p:cNvSpPr>
            <p:nvPr/>
          </p:nvSpPr>
          <p:spPr bwMode="auto">
            <a:xfrm flipH="1" flipV="1">
              <a:off x="2389" y="2648"/>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64" name="Line 296"/>
            <p:cNvSpPr>
              <a:spLocks noChangeShapeType="1"/>
            </p:cNvSpPr>
            <p:nvPr/>
          </p:nvSpPr>
          <p:spPr bwMode="auto">
            <a:xfrm flipH="1" flipV="1">
              <a:off x="2367" y="2606"/>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65" name="Line 297"/>
            <p:cNvSpPr>
              <a:spLocks noChangeShapeType="1"/>
            </p:cNvSpPr>
            <p:nvPr/>
          </p:nvSpPr>
          <p:spPr bwMode="auto">
            <a:xfrm flipH="1" flipV="1">
              <a:off x="2347" y="2564"/>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66" name="Line 298"/>
            <p:cNvSpPr>
              <a:spLocks noChangeShapeType="1"/>
            </p:cNvSpPr>
            <p:nvPr/>
          </p:nvSpPr>
          <p:spPr bwMode="auto">
            <a:xfrm flipH="1" flipV="1">
              <a:off x="2325" y="2522"/>
              <a:ext cx="5"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67" name="Line 299"/>
            <p:cNvSpPr>
              <a:spLocks noChangeShapeType="1"/>
            </p:cNvSpPr>
            <p:nvPr/>
          </p:nvSpPr>
          <p:spPr bwMode="auto">
            <a:xfrm flipV="1">
              <a:off x="2312" y="248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68" name="Line 300"/>
            <p:cNvSpPr>
              <a:spLocks noChangeShapeType="1"/>
            </p:cNvSpPr>
            <p:nvPr/>
          </p:nvSpPr>
          <p:spPr bwMode="auto">
            <a:xfrm flipV="1">
              <a:off x="2332" y="2438"/>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69" name="Line 301"/>
            <p:cNvSpPr>
              <a:spLocks noChangeShapeType="1"/>
            </p:cNvSpPr>
            <p:nvPr/>
          </p:nvSpPr>
          <p:spPr bwMode="auto">
            <a:xfrm flipV="1">
              <a:off x="2354" y="239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70" name="Line 302"/>
            <p:cNvSpPr>
              <a:spLocks noChangeShapeType="1"/>
            </p:cNvSpPr>
            <p:nvPr/>
          </p:nvSpPr>
          <p:spPr bwMode="auto">
            <a:xfrm flipV="1">
              <a:off x="2374" y="2354"/>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71" name="Line 303"/>
            <p:cNvSpPr>
              <a:spLocks noChangeShapeType="1"/>
            </p:cNvSpPr>
            <p:nvPr/>
          </p:nvSpPr>
          <p:spPr bwMode="auto">
            <a:xfrm flipV="1">
              <a:off x="2396" y="2312"/>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72" name="Line 304"/>
            <p:cNvSpPr>
              <a:spLocks noChangeShapeType="1"/>
            </p:cNvSpPr>
            <p:nvPr/>
          </p:nvSpPr>
          <p:spPr bwMode="auto">
            <a:xfrm flipV="1">
              <a:off x="2416" y="2270"/>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73" name="Line 305"/>
            <p:cNvSpPr>
              <a:spLocks noChangeShapeType="1"/>
            </p:cNvSpPr>
            <p:nvPr/>
          </p:nvSpPr>
          <p:spPr bwMode="auto">
            <a:xfrm flipV="1">
              <a:off x="2438" y="2228"/>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74" name="Line 306"/>
            <p:cNvSpPr>
              <a:spLocks noChangeShapeType="1"/>
            </p:cNvSpPr>
            <p:nvPr/>
          </p:nvSpPr>
          <p:spPr bwMode="auto">
            <a:xfrm flipV="1">
              <a:off x="2458" y="2186"/>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75" name="Line 307"/>
            <p:cNvSpPr>
              <a:spLocks noChangeShapeType="1"/>
            </p:cNvSpPr>
            <p:nvPr/>
          </p:nvSpPr>
          <p:spPr bwMode="auto">
            <a:xfrm flipV="1">
              <a:off x="2480" y="2144"/>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76" name="Line 308"/>
            <p:cNvSpPr>
              <a:spLocks noChangeShapeType="1"/>
            </p:cNvSpPr>
            <p:nvPr/>
          </p:nvSpPr>
          <p:spPr bwMode="auto">
            <a:xfrm flipV="1">
              <a:off x="2500" y="2102"/>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77" name="Line 309"/>
            <p:cNvSpPr>
              <a:spLocks noChangeShapeType="1"/>
            </p:cNvSpPr>
            <p:nvPr/>
          </p:nvSpPr>
          <p:spPr bwMode="auto">
            <a:xfrm flipV="1">
              <a:off x="2522" y="206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78" name="Line 310"/>
            <p:cNvSpPr>
              <a:spLocks noChangeShapeType="1"/>
            </p:cNvSpPr>
            <p:nvPr/>
          </p:nvSpPr>
          <p:spPr bwMode="auto">
            <a:xfrm flipV="1">
              <a:off x="2542" y="2018"/>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79" name="Line 311"/>
            <p:cNvSpPr>
              <a:spLocks noChangeShapeType="1"/>
            </p:cNvSpPr>
            <p:nvPr/>
          </p:nvSpPr>
          <p:spPr bwMode="auto">
            <a:xfrm flipV="1">
              <a:off x="2564" y="197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80" name="Line 312"/>
            <p:cNvSpPr>
              <a:spLocks noChangeShapeType="1"/>
            </p:cNvSpPr>
            <p:nvPr/>
          </p:nvSpPr>
          <p:spPr bwMode="auto">
            <a:xfrm flipV="1">
              <a:off x="2584" y="1934"/>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81" name="Line 313"/>
            <p:cNvSpPr>
              <a:spLocks noChangeShapeType="1"/>
            </p:cNvSpPr>
            <p:nvPr/>
          </p:nvSpPr>
          <p:spPr bwMode="auto">
            <a:xfrm flipV="1">
              <a:off x="2606" y="1892"/>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82" name="Line 314"/>
            <p:cNvSpPr>
              <a:spLocks noChangeShapeType="1"/>
            </p:cNvSpPr>
            <p:nvPr/>
          </p:nvSpPr>
          <p:spPr bwMode="auto">
            <a:xfrm flipV="1">
              <a:off x="2608" y="3081"/>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83" name="Line 315"/>
            <p:cNvSpPr>
              <a:spLocks noChangeShapeType="1"/>
            </p:cNvSpPr>
            <p:nvPr/>
          </p:nvSpPr>
          <p:spPr bwMode="auto">
            <a:xfrm flipV="1">
              <a:off x="2650" y="3059"/>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84" name="Line 316"/>
            <p:cNvSpPr>
              <a:spLocks noChangeShapeType="1"/>
            </p:cNvSpPr>
            <p:nvPr/>
          </p:nvSpPr>
          <p:spPr bwMode="auto">
            <a:xfrm flipV="1">
              <a:off x="2692" y="3035"/>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85" name="Line 317"/>
            <p:cNvSpPr>
              <a:spLocks noChangeShapeType="1"/>
            </p:cNvSpPr>
            <p:nvPr/>
          </p:nvSpPr>
          <p:spPr bwMode="auto">
            <a:xfrm flipV="1">
              <a:off x="2734" y="3013"/>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86" name="Line 318"/>
            <p:cNvSpPr>
              <a:spLocks noChangeShapeType="1"/>
            </p:cNvSpPr>
            <p:nvPr/>
          </p:nvSpPr>
          <p:spPr bwMode="auto">
            <a:xfrm flipV="1">
              <a:off x="2776" y="2991"/>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87" name="Line 319"/>
            <p:cNvSpPr>
              <a:spLocks noChangeShapeType="1"/>
            </p:cNvSpPr>
            <p:nvPr/>
          </p:nvSpPr>
          <p:spPr bwMode="auto">
            <a:xfrm flipV="1">
              <a:off x="2818" y="2967"/>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88" name="Line 320"/>
            <p:cNvSpPr>
              <a:spLocks noChangeShapeType="1"/>
            </p:cNvSpPr>
            <p:nvPr/>
          </p:nvSpPr>
          <p:spPr bwMode="auto">
            <a:xfrm flipV="1">
              <a:off x="2860" y="2944"/>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89" name="Line 321"/>
            <p:cNvSpPr>
              <a:spLocks noChangeShapeType="1"/>
            </p:cNvSpPr>
            <p:nvPr/>
          </p:nvSpPr>
          <p:spPr bwMode="auto">
            <a:xfrm flipV="1">
              <a:off x="2902" y="2922"/>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90" name="Line 322"/>
            <p:cNvSpPr>
              <a:spLocks noChangeShapeType="1"/>
            </p:cNvSpPr>
            <p:nvPr/>
          </p:nvSpPr>
          <p:spPr bwMode="auto">
            <a:xfrm flipV="1">
              <a:off x="2944" y="2898"/>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91" name="Line 323"/>
            <p:cNvSpPr>
              <a:spLocks noChangeShapeType="1"/>
            </p:cNvSpPr>
            <p:nvPr/>
          </p:nvSpPr>
          <p:spPr bwMode="auto">
            <a:xfrm flipV="1">
              <a:off x="2986" y="2876"/>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92" name="Line 324"/>
            <p:cNvSpPr>
              <a:spLocks noChangeShapeType="1"/>
            </p:cNvSpPr>
            <p:nvPr/>
          </p:nvSpPr>
          <p:spPr bwMode="auto">
            <a:xfrm flipV="1">
              <a:off x="3028" y="2854"/>
              <a:ext cx="7" cy="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93" name="Line 325"/>
            <p:cNvSpPr>
              <a:spLocks noChangeShapeType="1"/>
            </p:cNvSpPr>
            <p:nvPr/>
          </p:nvSpPr>
          <p:spPr bwMode="auto">
            <a:xfrm flipV="1">
              <a:off x="3070" y="2829"/>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94" name="Line 326"/>
            <p:cNvSpPr>
              <a:spLocks noChangeShapeType="1"/>
            </p:cNvSpPr>
            <p:nvPr/>
          </p:nvSpPr>
          <p:spPr bwMode="auto">
            <a:xfrm flipV="1">
              <a:off x="3112" y="2807"/>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95" name="Line 327"/>
            <p:cNvSpPr>
              <a:spLocks noChangeShapeType="1"/>
            </p:cNvSpPr>
            <p:nvPr/>
          </p:nvSpPr>
          <p:spPr bwMode="auto">
            <a:xfrm flipV="1">
              <a:off x="3154" y="2783"/>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96" name="Line 328"/>
            <p:cNvSpPr>
              <a:spLocks noChangeShapeType="1"/>
            </p:cNvSpPr>
            <p:nvPr/>
          </p:nvSpPr>
          <p:spPr bwMode="auto">
            <a:xfrm flipV="1">
              <a:off x="3196" y="2761"/>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97" name="Line 329"/>
            <p:cNvSpPr>
              <a:spLocks noChangeShapeType="1"/>
            </p:cNvSpPr>
            <p:nvPr/>
          </p:nvSpPr>
          <p:spPr bwMode="auto">
            <a:xfrm flipV="1">
              <a:off x="3238" y="2739"/>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98" name="Line 330"/>
            <p:cNvSpPr>
              <a:spLocks noChangeShapeType="1"/>
            </p:cNvSpPr>
            <p:nvPr/>
          </p:nvSpPr>
          <p:spPr bwMode="auto">
            <a:xfrm flipV="1">
              <a:off x="3280" y="2714"/>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099" name="Line 331"/>
            <p:cNvSpPr>
              <a:spLocks noChangeShapeType="1"/>
            </p:cNvSpPr>
            <p:nvPr/>
          </p:nvSpPr>
          <p:spPr bwMode="auto">
            <a:xfrm flipV="1">
              <a:off x="3322" y="2692"/>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00" name="Line 332"/>
            <p:cNvSpPr>
              <a:spLocks noChangeShapeType="1"/>
            </p:cNvSpPr>
            <p:nvPr/>
          </p:nvSpPr>
          <p:spPr bwMode="auto">
            <a:xfrm flipV="1">
              <a:off x="3364" y="2670"/>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01" name="Line 333"/>
            <p:cNvSpPr>
              <a:spLocks noChangeShapeType="1"/>
            </p:cNvSpPr>
            <p:nvPr/>
          </p:nvSpPr>
          <p:spPr bwMode="auto">
            <a:xfrm flipV="1">
              <a:off x="3406" y="2646"/>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02" name="Line 334"/>
            <p:cNvSpPr>
              <a:spLocks noChangeShapeType="1"/>
            </p:cNvSpPr>
            <p:nvPr/>
          </p:nvSpPr>
          <p:spPr bwMode="auto">
            <a:xfrm flipV="1">
              <a:off x="3448" y="2624"/>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03" name="Line 335"/>
            <p:cNvSpPr>
              <a:spLocks noChangeShapeType="1"/>
            </p:cNvSpPr>
            <p:nvPr/>
          </p:nvSpPr>
          <p:spPr bwMode="auto">
            <a:xfrm flipV="1">
              <a:off x="3490" y="2602"/>
              <a:ext cx="6" cy="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04" name="Line 336"/>
            <p:cNvSpPr>
              <a:spLocks noChangeShapeType="1"/>
            </p:cNvSpPr>
            <p:nvPr/>
          </p:nvSpPr>
          <p:spPr bwMode="auto">
            <a:xfrm flipV="1">
              <a:off x="3532" y="2577"/>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05" name="Line 337"/>
            <p:cNvSpPr>
              <a:spLocks noChangeShapeType="1"/>
            </p:cNvSpPr>
            <p:nvPr/>
          </p:nvSpPr>
          <p:spPr bwMode="auto">
            <a:xfrm flipV="1">
              <a:off x="3574" y="2555"/>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06" name="Line 338"/>
            <p:cNvSpPr>
              <a:spLocks noChangeShapeType="1"/>
            </p:cNvSpPr>
            <p:nvPr/>
          </p:nvSpPr>
          <p:spPr bwMode="auto">
            <a:xfrm flipV="1">
              <a:off x="3616" y="2531"/>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07" name="Line 339"/>
            <p:cNvSpPr>
              <a:spLocks noChangeShapeType="1"/>
            </p:cNvSpPr>
            <p:nvPr/>
          </p:nvSpPr>
          <p:spPr bwMode="auto">
            <a:xfrm flipV="1">
              <a:off x="3658" y="2509"/>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08" name="Line 340"/>
            <p:cNvSpPr>
              <a:spLocks noChangeShapeType="1"/>
            </p:cNvSpPr>
            <p:nvPr/>
          </p:nvSpPr>
          <p:spPr bwMode="auto">
            <a:xfrm flipV="1">
              <a:off x="3700" y="2489"/>
              <a:ext cx="2" cy="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09" name="Line 341"/>
            <p:cNvSpPr>
              <a:spLocks noChangeShapeType="1"/>
            </p:cNvSpPr>
            <p:nvPr/>
          </p:nvSpPr>
          <p:spPr bwMode="auto">
            <a:xfrm>
              <a:off x="3404" y="1892"/>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10" name="Line 342"/>
            <p:cNvSpPr>
              <a:spLocks noChangeShapeType="1"/>
            </p:cNvSpPr>
            <p:nvPr/>
          </p:nvSpPr>
          <p:spPr bwMode="auto">
            <a:xfrm>
              <a:off x="3426" y="1934"/>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11" name="Line 343"/>
            <p:cNvSpPr>
              <a:spLocks noChangeShapeType="1"/>
            </p:cNvSpPr>
            <p:nvPr/>
          </p:nvSpPr>
          <p:spPr bwMode="auto">
            <a:xfrm>
              <a:off x="3446" y="1976"/>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12" name="Line 344"/>
            <p:cNvSpPr>
              <a:spLocks noChangeShapeType="1"/>
            </p:cNvSpPr>
            <p:nvPr/>
          </p:nvSpPr>
          <p:spPr bwMode="auto">
            <a:xfrm>
              <a:off x="3468" y="2018"/>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13" name="Line 345"/>
            <p:cNvSpPr>
              <a:spLocks noChangeShapeType="1"/>
            </p:cNvSpPr>
            <p:nvPr/>
          </p:nvSpPr>
          <p:spPr bwMode="auto">
            <a:xfrm>
              <a:off x="3488" y="2060"/>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14" name="Line 346"/>
            <p:cNvSpPr>
              <a:spLocks noChangeShapeType="1"/>
            </p:cNvSpPr>
            <p:nvPr/>
          </p:nvSpPr>
          <p:spPr bwMode="auto">
            <a:xfrm>
              <a:off x="3510" y="2102"/>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15" name="Line 347"/>
            <p:cNvSpPr>
              <a:spLocks noChangeShapeType="1"/>
            </p:cNvSpPr>
            <p:nvPr/>
          </p:nvSpPr>
          <p:spPr bwMode="auto">
            <a:xfrm>
              <a:off x="3530" y="2144"/>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16" name="Line 348"/>
            <p:cNvSpPr>
              <a:spLocks noChangeShapeType="1"/>
            </p:cNvSpPr>
            <p:nvPr/>
          </p:nvSpPr>
          <p:spPr bwMode="auto">
            <a:xfrm>
              <a:off x="3552" y="218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17" name="Line 349"/>
            <p:cNvSpPr>
              <a:spLocks noChangeShapeType="1"/>
            </p:cNvSpPr>
            <p:nvPr/>
          </p:nvSpPr>
          <p:spPr bwMode="auto">
            <a:xfrm>
              <a:off x="3572" y="2228"/>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18" name="Line 350"/>
            <p:cNvSpPr>
              <a:spLocks noChangeShapeType="1"/>
            </p:cNvSpPr>
            <p:nvPr/>
          </p:nvSpPr>
          <p:spPr bwMode="auto">
            <a:xfrm>
              <a:off x="3594" y="227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19" name="Line 351"/>
            <p:cNvSpPr>
              <a:spLocks noChangeShapeType="1"/>
            </p:cNvSpPr>
            <p:nvPr/>
          </p:nvSpPr>
          <p:spPr bwMode="auto">
            <a:xfrm>
              <a:off x="3614" y="2312"/>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20" name="Line 352"/>
            <p:cNvSpPr>
              <a:spLocks noChangeShapeType="1"/>
            </p:cNvSpPr>
            <p:nvPr/>
          </p:nvSpPr>
          <p:spPr bwMode="auto">
            <a:xfrm>
              <a:off x="3636" y="2354"/>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21" name="Line 353"/>
            <p:cNvSpPr>
              <a:spLocks noChangeShapeType="1"/>
            </p:cNvSpPr>
            <p:nvPr/>
          </p:nvSpPr>
          <p:spPr bwMode="auto">
            <a:xfrm>
              <a:off x="3656" y="2396"/>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22" name="Line 354"/>
            <p:cNvSpPr>
              <a:spLocks noChangeShapeType="1"/>
            </p:cNvSpPr>
            <p:nvPr/>
          </p:nvSpPr>
          <p:spPr bwMode="auto">
            <a:xfrm>
              <a:off x="3678" y="2438"/>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23" name="Line 355"/>
            <p:cNvSpPr>
              <a:spLocks noChangeShapeType="1"/>
            </p:cNvSpPr>
            <p:nvPr/>
          </p:nvSpPr>
          <p:spPr bwMode="auto">
            <a:xfrm>
              <a:off x="3698" y="2480"/>
              <a:ext cx="4"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24" name="Line 356"/>
            <p:cNvSpPr>
              <a:spLocks noChangeShapeType="1"/>
            </p:cNvSpPr>
            <p:nvPr/>
          </p:nvSpPr>
          <p:spPr bwMode="auto">
            <a:xfrm>
              <a:off x="2310" y="2489"/>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25" name="Line 357"/>
            <p:cNvSpPr>
              <a:spLocks noChangeShapeType="1"/>
            </p:cNvSpPr>
            <p:nvPr/>
          </p:nvSpPr>
          <p:spPr bwMode="auto">
            <a:xfrm>
              <a:off x="2352" y="2511"/>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26" name="Line 358"/>
            <p:cNvSpPr>
              <a:spLocks noChangeShapeType="1"/>
            </p:cNvSpPr>
            <p:nvPr/>
          </p:nvSpPr>
          <p:spPr bwMode="auto">
            <a:xfrm>
              <a:off x="2394" y="2535"/>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27" name="Line 359"/>
            <p:cNvSpPr>
              <a:spLocks noChangeShapeType="1"/>
            </p:cNvSpPr>
            <p:nvPr/>
          </p:nvSpPr>
          <p:spPr bwMode="auto">
            <a:xfrm>
              <a:off x="2436" y="2558"/>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28" name="Line 360"/>
            <p:cNvSpPr>
              <a:spLocks noChangeShapeType="1"/>
            </p:cNvSpPr>
            <p:nvPr/>
          </p:nvSpPr>
          <p:spPr bwMode="auto">
            <a:xfrm>
              <a:off x="2478" y="2580"/>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29" name="Line 361"/>
            <p:cNvSpPr>
              <a:spLocks noChangeShapeType="1"/>
            </p:cNvSpPr>
            <p:nvPr/>
          </p:nvSpPr>
          <p:spPr bwMode="auto">
            <a:xfrm>
              <a:off x="2520" y="2604"/>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30" name="Line 362"/>
            <p:cNvSpPr>
              <a:spLocks noChangeShapeType="1"/>
            </p:cNvSpPr>
            <p:nvPr/>
          </p:nvSpPr>
          <p:spPr bwMode="auto">
            <a:xfrm>
              <a:off x="2562" y="2626"/>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31" name="Line 363"/>
            <p:cNvSpPr>
              <a:spLocks noChangeShapeType="1"/>
            </p:cNvSpPr>
            <p:nvPr/>
          </p:nvSpPr>
          <p:spPr bwMode="auto">
            <a:xfrm>
              <a:off x="2604" y="2648"/>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32" name="Line 364"/>
            <p:cNvSpPr>
              <a:spLocks noChangeShapeType="1"/>
            </p:cNvSpPr>
            <p:nvPr/>
          </p:nvSpPr>
          <p:spPr bwMode="auto">
            <a:xfrm>
              <a:off x="2646" y="2672"/>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33" name="Line 365"/>
            <p:cNvSpPr>
              <a:spLocks noChangeShapeType="1"/>
            </p:cNvSpPr>
            <p:nvPr/>
          </p:nvSpPr>
          <p:spPr bwMode="auto">
            <a:xfrm>
              <a:off x="2688" y="2695"/>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34" name="Line 366"/>
            <p:cNvSpPr>
              <a:spLocks noChangeShapeType="1"/>
            </p:cNvSpPr>
            <p:nvPr/>
          </p:nvSpPr>
          <p:spPr bwMode="auto">
            <a:xfrm>
              <a:off x="2730" y="2719"/>
              <a:ext cx="6" cy="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35" name="Line 367"/>
            <p:cNvSpPr>
              <a:spLocks noChangeShapeType="1"/>
            </p:cNvSpPr>
            <p:nvPr/>
          </p:nvSpPr>
          <p:spPr bwMode="auto">
            <a:xfrm>
              <a:off x="2772" y="2741"/>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36" name="Line 368"/>
            <p:cNvSpPr>
              <a:spLocks noChangeShapeType="1"/>
            </p:cNvSpPr>
            <p:nvPr/>
          </p:nvSpPr>
          <p:spPr bwMode="auto">
            <a:xfrm>
              <a:off x="2814" y="2763"/>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37" name="Line 369"/>
            <p:cNvSpPr>
              <a:spLocks noChangeShapeType="1"/>
            </p:cNvSpPr>
            <p:nvPr/>
          </p:nvSpPr>
          <p:spPr bwMode="auto">
            <a:xfrm>
              <a:off x="2856" y="2787"/>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38" name="Line 370"/>
            <p:cNvSpPr>
              <a:spLocks noChangeShapeType="1"/>
            </p:cNvSpPr>
            <p:nvPr/>
          </p:nvSpPr>
          <p:spPr bwMode="auto">
            <a:xfrm>
              <a:off x="2898" y="2810"/>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39" name="Line 371"/>
            <p:cNvSpPr>
              <a:spLocks noChangeShapeType="1"/>
            </p:cNvSpPr>
            <p:nvPr/>
          </p:nvSpPr>
          <p:spPr bwMode="auto">
            <a:xfrm>
              <a:off x="2940" y="2832"/>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40" name="Line 372"/>
            <p:cNvSpPr>
              <a:spLocks noChangeShapeType="1"/>
            </p:cNvSpPr>
            <p:nvPr/>
          </p:nvSpPr>
          <p:spPr bwMode="auto">
            <a:xfrm>
              <a:off x="2982" y="2856"/>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41" name="Line 373"/>
            <p:cNvSpPr>
              <a:spLocks noChangeShapeType="1"/>
            </p:cNvSpPr>
            <p:nvPr/>
          </p:nvSpPr>
          <p:spPr bwMode="auto">
            <a:xfrm>
              <a:off x="3024" y="2878"/>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42" name="Line 374"/>
            <p:cNvSpPr>
              <a:spLocks noChangeShapeType="1"/>
            </p:cNvSpPr>
            <p:nvPr/>
          </p:nvSpPr>
          <p:spPr bwMode="auto">
            <a:xfrm>
              <a:off x="3066" y="2900"/>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43" name="Line 375"/>
            <p:cNvSpPr>
              <a:spLocks noChangeShapeType="1"/>
            </p:cNvSpPr>
            <p:nvPr/>
          </p:nvSpPr>
          <p:spPr bwMode="auto">
            <a:xfrm>
              <a:off x="3107" y="2925"/>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44" name="Line 376"/>
            <p:cNvSpPr>
              <a:spLocks noChangeShapeType="1"/>
            </p:cNvSpPr>
            <p:nvPr/>
          </p:nvSpPr>
          <p:spPr bwMode="auto">
            <a:xfrm>
              <a:off x="3149" y="2947"/>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45" name="Line 377"/>
            <p:cNvSpPr>
              <a:spLocks noChangeShapeType="1"/>
            </p:cNvSpPr>
            <p:nvPr/>
          </p:nvSpPr>
          <p:spPr bwMode="auto">
            <a:xfrm>
              <a:off x="3191" y="2971"/>
              <a:ext cx="7" cy="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46" name="Line 378"/>
            <p:cNvSpPr>
              <a:spLocks noChangeShapeType="1"/>
            </p:cNvSpPr>
            <p:nvPr/>
          </p:nvSpPr>
          <p:spPr bwMode="auto">
            <a:xfrm>
              <a:off x="3233" y="2993"/>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47" name="Line 379"/>
            <p:cNvSpPr>
              <a:spLocks noChangeShapeType="1"/>
            </p:cNvSpPr>
            <p:nvPr/>
          </p:nvSpPr>
          <p:spPr bwMode="auto">
            <a:xfrm>
              <a:off x="3275" y="3015"/>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48" name="Line 380"/>
            <p:cNvSpPr>
              <a:spLocks noChangeShapeType="1"/>
            </p:cNvSpPr>
            <p:nvPr/>
          </p:nvSpPr>
          <p:spPr bwMode="auto">
            <a:xfrm>
              <a:off x="3317" y="3039"/>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49" name="Line 381"/>
            <p:cNvSpPr>
              <a:spLocks noChangeShapeType="1"/>
            </p:cNvSpPr>
            <p:nvPr/>
          </p:nvSpPr>
          <p:spPr bwMode="auto">
            <a:xfrm>
              <a:off x="3359" y="3062"/>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50" name="Line 382"/>
            <p:cNvSpPr>
              <a:spLocks noChangeShapeType="1"/>
            </p:cNvSpPr>
            <p:nvPr/>
          </p:nvSpPr>
          <p:spPr bwMode="auto">
            <a:xfrm>
              <a:off x="3401" y="3084"/>
              <a:ext cx="3" cy="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51" name="Line 383"/>
            <p:cNvSpPr>
              <a:spLocks noChangeShapeType="1"/>
            </p:cNvSpPr>
            <p:nvPr/>
          </p:nvSpPr>
          <p:spPr bwMode="auto">
            <a:xfrm>
              <a:off x="3404" y="1892"/>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52" name="Line 384"/>
            <p:cNvSpPr>
              <a:spLocks noChangeShapeType="1"/>
            </p:cNvSpPr>
            <p:nvPr/>
          </p:nvSpPr>
          <p:spPr bwMode="auto">
            <a:xfrm>
              <a:off x="3404" y="1941"/>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53" name="Line 385"/>
            <p:cNvSpPr>
              <a:spLocks noChangeShapeType="1"/>
            </p:cNvSpPr>
            <p:nvPr/>
          </p:nvSpPr>
          <p:spPr bwMode="auto">
            <a:xfrm>
              <a:off x="3404" y="1989"/>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54" name="Line 386"/>
            <p:cNvSpPr>
              <a:spLocks noChangeShapeType="1"/>
            </p:cNvSpPr>
            <p:nvPr/>
          </p:nvSpPr>
          <p:spPr bwMode="auto">
            <a:xfrm>
              <a:off x="3404" y="2038"/>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55" name="Line 387"/>
            <p:cNvSpPr>
              <a:spLocks noChangeShapeType="1"/>
            </p:cNvSpPr>
            <p:nvPr/>
          </p:nvSpPr>
          <p:spPr bwMode="auto">
            <a:xfrm>
              <a:off x="3404" y="2087"/>
              <a:ext cx="1" cy="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56" name="Line 388"/>
            <p:cNvSpPr>
              <a:spLocks noChangeShapeType="1"/>
            </p:cNvSpPr>
            <p:nvPr/>
          </p:nvSpPr>
          <p:spPr bwMode="auto">
            <a:xfrm>
              <a:off x="3404" y="2135"/>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57" name="Line 389"/>
            <p:cNvSpPr>
              <a:spLocks noChangeShapeType="1"/>
            </p:cNvSpPr>
            <p:nvPr/>
          </p:nvSpPr>
          <p:spPr bwMode="auto">
            <a:xfrm>
              <a:off x="3404" y="2184"/>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58" name="Line 390"/>
            <p:cNvSpPr>
              <a:spLocks noChangeShapeType="1"/>
            </p:cNvSpPr>
            <p:nvPr/>
          </p:nvSpPr>
          <p:spPr bwMode="auto">
            <a:xfrm>
              <a:off x="3404" y="2233"/>
              <a:ext cx="1" cy="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59" name="Line 391"/>
            <p:cNvSpPr>
              <a:spLocks noChangeShapeType="1"/>
            </p:cNvSpPr>
            <p:nvPr/>
          </p:nvSpPr>
          <p:spPr bwMode="auto">
            <a:xfrm>
              <a:off x="3404" y="2281"/>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60" name="Line 392"/>
            <p:cNvSpPr>
              <a:spLocks noChangeShapeType="1"/>
            </p:cNvSpPr>
            <p:nvPr/>
          </p:nvSpPr>
          <p:spPr bwMode="auto">
            <a:xfrm>
              <a:off x="3404" y="2330"/>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61" name="Line 393"/>
            <p:cNvSpPr>
              <a:spLocks noChangeShapeType="1"/>
            </p:cNvSpPr>
            <p:nvPr/>
          </p:nvSpPr>
          <p:spPr bwMode="auto">
            <a:xfrm>
              <a:off x="3404" y="2378"/>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62" name="Line 394"/>
            <p:cNvSpPr>
              <a:spLocks noChangeShapeType="1"/>
            </p:cNvSpPr>
            <p:nvPr/>
          </p:nvSpPr>
          <p:spPr bwMode="auto">
            <a:xfrm>
              <a:off x="3404" y="2427"/>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63" name="Line 395"/>
            <p:cNvSpPr>
              <a:spLocks noChangeShapeType="1"/>
            </p:cNvSpPr>
            <p:nvPr/>
          </p:nvSpPr>
          <p:spPr bwMode="auto">
            <a:xfrm>
              <a:off x="3404" y="2476"/>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64" name="Line 396"/>
            <p:cNvSpPr>
              <a:spLocks noChangeShapeType="1"/>
            </p:cNvSpPr>
            <p:nvPr/>
          </p:nvSpPr>
          <p:spPr bwMode="auto">
            <a:xfrm>
              <a:off x="3404" y="2524"/>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65" name="Line 397"/>
            <p:cNvSpPr>
              <a:spLocks noChangeShapeType="1"/>
            </p:cNvSpPr>
            <p:nvPr/>
          </p:nvSpPr>
          <p:spPr bwMode="auto">
            <a:xfrm>
              <a:off x="3404" y="2573"/>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66" name="Line 398"/>
            <p:cNvSpPr>
              <a:spLocks noChangeShapeType="1"/>
            </p:cNvSpPr>
            <p:nvPr/>
          </p:nvSpPr>
          <p:spPr bwMode="auto">
            <a:xfrm>
              <a:off x="3404" y="2622"/>
              <a:ext cx="1" cy="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67" name="Line 399"/>
            <p:cNvSpPr>
              <a:spLocks noChangeShapeType="1"/>
            </p:cNvSpPr>
            <p:nvPr/>
          </p:nvSpPr>
          <p:spPr bwMode="auto">
            <a:xfrm>
              <a:off x="3404" y="2670"/>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68" name="Line 400"/>
            <p:cNvSpPr>
              <a:spLocks noChangeShapeType="1"/>
            </p:cNvSpPr>
            <p:nvPr/>
          </p:nvSpPr>
          <p:spPr bwMode="auto">
            <a:xfrm>
              <a:off x="3404" y="2719"/>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69" name="Line 401"/>
            <p:cNvSpPr>
              <a:spLocks noChangeShapeType="1"/>
            </p:cNvSpPr>
            <p:nvPr/>
          </p:nvSpPr>
          <p:spPr bwMode="auto">
            <a:xfrm>
              <a:off x="3404" y="2768"/>
              <a:ext cx="1" cy="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70" name="Line 402"/>
            <p:cNvSpPr>
              <a:spLocks noChangeShapeType="1"/>
            </p:cNvSpPr>
            <p:nvPr/>
          </p:nvSpPr>
          <p:spPr bwMode="auto">
            <a:xfrm>
              <a:off x="3404" y="2816"/>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71" name="Line 403"/>
            <p:cNvSpPr>
              <a:spLocks noChangeShapeType="1"/>
            </p:cNvSpPr>
            <p:nvPr/>
          </p:nvSpPr>
          <p:spPr bwMode="auto">
            <a:xfrm>
              <a:off x="3404" y="2865"/>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72" name="Line 404"/>
            <p:cNvSpPr>
              <a:spLocks noChangeShapeType="1"/>
            </p:cNvSpPr>
            <p:nvPr/>
          </p:nvSpPr>
          <p:spPr bwMode="auto">
            <a:xfrm>
              <a:off x="3404" y="2913"/>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grpSp>
      <p:grpSp>
        <p:nvGrpSpPr>
          <p:cNvPr id="1173" name="Group 405"/>
          <p:cNvGrpSpPr>
            <a:grpSpLocks/>
          </p:cNvGrpSpPr>
          <p:nvPr/>
        </p:nvGrpSpPr>
        <p:grpSpPr bwMode="auto">
          <a:xfrm>
            <a:off x="7631546" y="2410465"/>
            <a:ext cx="1736725" cy="3200400"/>
            <a:chOff x="2608" y="1481"/>
            <a:chExt cx="1094" cy="2016"/>
          </a:xfrm>
        </p:grpSpPr>
        <p:sp>
          <p:nvSpPr>
            <p:cNvPr id="1174" name="Line 406"/>
            <p:cNvSpPr>
              <a:spLocks noChangeShapeType="1"/>
            </p:cNvSpPr>
            <p:nvPr/>
          </p:nvSpPr>
          <p:spPr bwMode="auto">
            <a:xfrm>
              <a:off x="3404" y="2962"/>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75" name="Line 407"/>
            <p:cNvSpPr>
              <a:spLocks noChangeShapeType="1"/>
            </p:cNvSpPr>
            <p:nvPr/>
          </p:nvSpPr>
          <p:spPr bwMode="auto">
            <a:xfrm>
              <a:off x="3404" y="3011"/>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76" name="Line 408"/>
            <p:cNvSpPr>
              <a:spLocks noChangeShapeType="1"/>
            </p:cNvSpPr>
            <p:nvPr/>
          </p:nvSpPr>
          <p:spPr bwMode="auto">
            <a:xfrm>
              <a:off x="3404" y="3059"/>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77" name="Line 409"/>
            <p:cNvSpPr>
              <a:spLocks noChangeShapeType="1"/>
            </p:cNvSpPr>
            <p:nvPr/>
          </p:nvSpPr>
          <p:spPr bwMode="auto">
            <a:xfrm>
              <a:off x="2608" y="1892"/>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78" name="Line 410"/>
            <p:cNvSpPr>
              <a:spLocks noChangeShapeType="1"/>
            </p:cNvSpPr>
            <p:nvPr/>
          </p:nvSpPr>
          <p:spPr bwMode="auto">
            <a:xfrm>
              <a:off x="2608" y="1941"/>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79" name="Line 411"/>
            <p:cNvSpPr>
              <a:spLocks noChangeShapeType="1"/>
            </p:cNvSpPr>
            <p:nvPr/>
          </p:nvSpPr>
          <p:spPr bwMode="auto">
            <a:xfrm>
              <a:off x="2608" y="1989"/>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80" name="Line 412"/>
            <p:cNvSpPr>
              <a:spLocks noChangeShapeType="1"/>
            </p:cNvSpPr>
            <p:nvPr/>
          </p:nvSpPr>
          <p:spPr bwMode="auto">
            <a:xfrm>
              <a:off x="2608" y="2038"/>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81" name="Line 413"/>
            <p:cNvSpPr>
              <a:spLocks noChangeShapeType="1"/>
            </p:cNvSpPr>
            <p:nvPr/>
          </p:nvSpPr>
          <p:spPr bwMode="auto">
            <a:xfrm>
              <a:off x="2608" y="2087"/>
              <a:ext cx="1" cy="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82" name="Line 414"/>
            <p:cNvSpPr>
              <a:spLocks noChangeShapeType="1"/>
            </p:cNvSpPr>
            <p:nvPr/>
          </p:nvSpPr>
          <p:spPr bwMode="auto">
            <a:xfrm>
              <a:off x="2608" y="2135"/>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83" name="Line 415"/>
            <p:cNvSpPr>
              <a:spLocks noChangeShapeType="1"/>
            </p:cNvSpPr>
            <p:nvPr/>
          </p:nvSpPr>
          <p:spPr bwMode="auto">
            <a:xfrm>
              <a:off x="2608" y="2184"/>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84" name="Line 416"/>
            <p:cNvSpPr>
              <a:spLocks noChangeShapeType="1"/>
            </p:cNvSpPr>
            <p:nvPr/>
          </p:nvSpPr>
          <p:spPr bwMode="auto">
            <a:xfrm>
              <a:off x="2608" y="2233"/>
              <a:ext cx="1" cy="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85" name="Line 417"/>
            <p:cNvSpPr>
              <a:spLocks noChangeShapeType="1"/>
            </p:cNvSpPr>
            <p:nvPr/>
          </p:nvSpPr>
          <p:spPr bwMode="auto">
            <a:xfrm>
              <a:off x="2608" y="2281"/>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86" name="Line 418"/>
            <p:cNvSpPr>
              <a:spLocks noChangeShapeType="1"/>
            </p:cNvSpPr>
            <p:nvPr/>
          </p:nvSpPr>
          <p:spPr bwMode="auto">
            <a:xfrm>
              <a:off x="2608" y="2330"/>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87" name="Line 419"/>
            <p:cNvSpPr>
              <a:spLocks noChangeShapeType="1"/>
            </p:cNvSpPr>
            <p:nvPr/>
          </p:nvSpPr>
          <p:spPr bwMode="auto">
            <a:xfrm>
              <a:off x="2608" y="2378"/>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88" name="Line 420"/>
            <p:cNvSpPr>
              <a:spLocks noChangeShapeType="1"/>
            </p:cNvSpPr>
            <p:nvPr/>
          </p:nvSpPr>
          <p:spPr bwMode="auto">
            <a:xfrm>
              <a:off x="2608" y="2427"/>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89" name="Line 421"/>
            <p:cNvSpPr>
              <a:spLocks noChangeShapeType="1"/>
            </p:cNvSpPr>
            <p:nvPr/>
          </p:nvSpPr>
          <p:spPr bwMode="auto">
            <a:xfrm>
              <a:off x="2608" y="2476"/>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90" name="Line 422"/>
            <p:cNvSpPr>
              <a:spLocks noChangeShapeType="1"/>
            </p:cNvSpPr>
            <p:nvPr/>
          </p:nvSpPr>
          <p:spPr bwMode="auto">
            <a:xfrm>
              <a:off x="2608" y="2524"/>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91" name="Line 423"/>
            <p:cNvSpPr>
              <a:spLocks noChangeShapeType="1"/>
            </p:cNvSpPr>
            <p:nvPr/>
          </p:nvSpPr>
          <p:spPr bwMode="auto">
            <a:xfrm>
              <a:off x="2608" y="2573"/>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92" name="Line 424"/>
            <p:cNvSpPr>
              <a:spLocks noChangeShapeType="1"/>
            </p:cNvSpPr>
            <p:nvPr/>
          </p:nvSpPr>
          <p:spPr bwMode="auto">
            <a:xfrm>
              <a:off x="2608" y="2622"/>
              <a:ext cx="1" cy="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93" name="Line 425"/>
            <p:cNvSpPr>
              <a:spLocks noChangeShapeType="1"/>
            </p:cNvSpPr>
            <p:nvPr/>
          </p:nvSpPr>
          <p:spPr bwMode="auto">
            <a:xfrm>
              <a:off x="2608" y="2670"/>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94" name="Line 426"/>
            <p:cNvSpPr>
              <a:spLocks noChangeShapeType="1"/>
            </p:cNvSpPr>
            <p:nvPr/>
          </p:nvSpPr>
          <p:spPr bwMode="auto">
            <a:xfrm>
              <a:off x="2608" y="2719"/>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95" name="Line 427"/>
            <p:cNvSpPr>
              <a:spLocks noChangeShapeType="1"/>
            </p:cNvSpPr>
            <p:nvPr/>
          </p:nvSpPr>
          <p:spPr bwMode="auto">
            <a:xfrm>
              <a:off x="2608" y="2768"/>
              <a:ext cx="1" cy="8"/>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96" name="Line 428"/>
            <p:cNvSpPr>
              <a:spLocks noChangeShapeType="1"/>
            </p:cNvSpPr>
            <p:nvPr/>
          </p:nvSpPr>
          <p:spPr bwMode="auto">
            <a:xfrm>
              <a:off x="2608" y="2816"/>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97" name="Line 429"/>
            <p:cNvSpPr>
              <a:spLocks noChangeShapeType="1"/>
            </p:cNvSpPr>
            <p:nvPr/>
          </p:nvSpPr>
          <p:spPr bwMode="auto">
            <a:xfrm>
              <a:off x="2608" y="2865"/>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98" name="Line 430"/>
            <p:cNvSpPr>
              <a:spLocks noChangeShapeType="1"/>
            </p:cNvSpPr>
            <p:nvPr/>
          </p:nvSpPr>
          <p:spPr bwMode="auto">
            <a:xfrm>
              <a:off x="2608" y="2913"/>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199" name="Line 431"/>
            <p:cNvSpPr>
              <a:spLocks noChangeShapeType="1"/>
            </p:cNvSpPr>
            <p:nvPr/>
          </p:nvSpPr>
          <p:spPr bwMode="auto">
            <a:xfrm>
              <a:off x="2608" y="2962"/>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00" name="Line 432"/>
            <p:cNvSpPr>
              <a:spLocks noChangeShapeType="1"/>
            </p:cNvSpPr>
            <p:nvPr/>
          </p:nvSpPr>
          <p:spPr bwMode="auto">
            <a:xfrm>
              <a:off x="2608" y="3011"/>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01" name="Line 433"/>
            <p:cNvSpPr>
              <a:spLocks noChangeShapeType="1"/>
            </p:cNvSpPr>
            <p:nvPr/>
          </p:nvSpPr>
          <p:spPr bwMode="auto">
            <a:xfrm>
              <a:off x="2608" y="3059"/>
              <a:ext cx="1"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02" name="Line 434"/>
            <p:cNvSpPr>
              <a:spLocks noChangeShapeType="1"/>
            </p:cNvSpPr>
            <p:nvPr/>
          </p:nvSpPr>
          <p:spPr bwMode="auto">
            <a:xfrm flipH="1">
              <a:off x="3395"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03" name="Line 435"/>
            <p:cNvSpPr>
              <a:spLocks noChangeShapeType="1"/>
            </p:cNvSpPr>
            <p:nvPr/>
          </p:nvSpPr>
          <p:spPr bwMode="auto">
            <a:xfrm flipH="1">
              <a:off x="3346"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04" name="Line 436"/>
            <p:cNvSpPr>
              <a:spLocks noChangeShapeType="1"/>
            </p:cNvSpPr>
            <p:nvPr/>
          </p:nvSpPr>
          <p:spPr bwMode="auto">
            <a:xfrm flipH="1">
              <a:off x="3298" y="3086"/>
              <a:ext cx="8"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05" name="Line 437"/>
            <p:cNvSpPr>
              <a:spLocks noChangeShapeType="1"/>
            </p:cNvSpPr>
            <p:nvPr/>
          </p:nvSpPr>
          <p:spPr bwMode="auto">
            <a:xfrm flipH="1">
              <a:off x="3249"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06" name="Line 438"/>
            <p:cNvSpPr>
              <a:spLocks noChangeShapeType="1"/>
            </p:cNvSpPr>
            <p:nvPr/>
          </p:nvSpPr>
          <p:spPr bwMode="auto">
            <a:xfrm flipH="1">
              <a:off x="3200"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07" name="Line 439"/>
            <p:cNvSpPr>
              <a:spLocks noChangeShapeType="1"/>
            </p:cNvSpPr>
            <p:nvPr/>
          </p:nvSpPr>
          <p:spPr bwMode="auto">
            <a:xfrm flipH="1">
              <a:off x="3152"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08" name="Line 440"/>
            <p:cNvSpPr>
              <a:spLocks noChangeShapeType="1"/>
            </p:cNvSpPr>
            <p:nvPr/>
          </p:nvSpPr>
          <p:spPr bwMode="auto">
            <a:xfrm flipH="1">
              <a:off x="3103"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09" name="Line 441"/>
            <p:cNvSpPr>
              <a:spLocks noChangeShapeType="1"/>
            </p:cNvSpPr>
            <p:nvPr/>
          </p:nvSpPr>
          <p:spPr bwMode="auto">
            <a:xfrm flipH="1">
              <a:off x="3054"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10" name="Line 442"/>
            <p:cNvSpPr>
              <a:spLocks noChangeShapeType="1"/>
            </p:cNvSpPr>
            <p:nvPr/>
          </p:nvSpPr>
          <p:spPr bwMode="auto">
            <a:xfrm flipH="1">
              <a:off x="3006"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11" name="Line 443"/>
            <p:cNvSpPr>
              <a:spLocks noChangeShapeType="1"/>
            </p:cNvSpPr>
            <p:nvPr/>
          </p:nvSpPr>
          <p:spPr bwMode="auto">
            <a:xfrm flipH="1">
              <a:off x="2957"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12" name="Line 444"/>
            <p:cNvSpPr>
              <a:spLocks noChangeShapeType="1"/>
            </p:cNvSpPr>
            <p:nvPr/>
          </p:nvSpPr>
          <p:spPr bwMode="auto">
            <a:xfrm flipH="1">
              <a:off x="2909" y="3086"/>
              <a:ext cx="8"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13" name="Line 445"/>
            <p:cNvSpPr>
              <a:spLocks noChangeShapeType="1"/>
            </p:cNvSpPr>
            <p:nvPr/>
          </p:nvSpPr>
          <p:spPr bwMode="auto">
            <a:xfrm flipH="1">
              <a:off x="2860"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14" name="Line 446"/>
            <p:cNvSpPr>
              <a:spLocks noChangeShapeType="1"/>
            </p:cNvSpPr>
            <p:nvPr/>
          </p:nvSpPr>
          <p:spPr bwMode="auto">
            <a:xfrm flipH="1">
              <a:off x="2811"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15" name="Line 447"/>
            <p:cNvSpPr>
              <a:spLocks noChangeShapeType="1"/>
            </p:cNvSpPr>
            <p:nvPr/>
          </p:nvSpPr>
          <p:spPr bwMode="auto">
            <a:xfrm flipH="1">
              <a:off x="2763"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16" name="Line 448"/>
            <p:cNvSpPr>
              <a:spLocks noChangeShapeType="1"/>
            </p:cNvSpPr>
            <p:nvPr/>
          </p:nvSpPr>
          <p:spPr bwMode="auto">
            <a:xfrm flipH="1">
              <a:off x="2714"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17" name="Line 449"/>
            <p:cNvSpPr>
              <a:spLocks noChangeShapeType="1"/>
            </p:cNvSpPr>
            <p:nvPr/>
          </p:nvSpPr>
          <p:spPr bwMode="auto">
            <a:xfrm flipH="1">
              <a:off x="2665"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18" name="Line 450"/>
            <p:cNvSpPr>
              <a:spLocks noChangeShapeType="1"/>
            </p:cNvSpPr>
            <p:nvPr/>
          </p:nvSpPr>
          <p:spPr bwMode="auto">
            <a:xfrm flipH="1">
              <a:off x="2617" y="3086"/>
              <a:ext cx="9" cy="1"/>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19" name="Line 451"/>
            <p:cNvSpPr>
              <a:spLocks noChangeShapeType="1"/>
            </p:cNvSpPr>
            <p:nvPr/>
          </p:nvSpPr>
          <p:spPr bwMode="auto">
            <a:xfrm>
              <a:off x="2608" y="1892"/>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20" name="Line 452"/>
            <p:cNvSpPr>
              <a:spLocks noChangeShapeType="1"/>
            </p:cNvSpPr>
            <p:nvPr/>
          </p:nvSpPr>
          <p:spPr bwMode="auto">
            <a:xfrm>
              <a:off x="2650" y="1914"/>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21" name="Line 453"/>
            <p:cNvSpPr>
              <a:spLocks noChangeShapeType="1"/>
            </p:cNvSpPr>
            <p:nvPr/>
          </p:nvSpPr>
          <p:spPr bwMode="auto">
            <a:xfrm>
              <a:off x="2692" y="1939"/>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22" name="Line 454"/>
            <p:cNvSpPr>
              <a:spLocks noChangeShapeType="1"/>
            </p:cNvSpPr>
            <p:nvPr/>
          </p:nvSpPr>
          <p:spPr bwMode="auto">
            <a:xfrm>
              <a:off x="2734" y="1961"/>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23" name="Line 455"/>
            <p:cNvSpPr>
              <a:spLocks noChangeShapeType="1"/>
            </p:cNvSpPr>
            <p:nvPr/>
          </p:nvSpPr>
          <p:spPr bwMode="auto">
            <a:xfrm>
              <a:off x="2776" y="1983"/>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24" name="Line 456"/>
            <p:cNvSpPr>
              <a:spLocks noChangeShapeType="1"/>
            </p:cNvSpPr>
            <p:nvPr/>
          </p:nvSpPr>
          <p:spPr bwMode="auto">
            <a:xfrm>
              <a:off x="2818" y="2007"/>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25" name="Line 457"/>
            <p:cNvSpPr>
              <a:spLocks noChangeShapeType="1"/>
            </p:cNvSpPr>
            <p:nvPr/>
          </p:nvSpPr>
          <p:spPr bwMode="auto">
            <a:xfrm>
              <a:off x="2860" y="2029"/>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26" name="Line 458"/>
            <p:cNvSpPr>
              <a:spLocks noChangeShapeType="1"/>
            </p:cNvSpPr>
            <p:nvPr/>
          </p:nvSpPr>
          <p:spPr bwMode="auto">
            <a:xfrm>
              <a:off x="2902" y="2051"/>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27" name="Line 459"/>
            <p:cNvSpPr>
              <a:spLocks noChangeShapeType="1"/>
            </p:cNvSpPr>
            <p:nvPr/>
          </p:nvSpPr>
          <p:spPr bwMode="auto">
            <a:xfrm>
              <a:off x="2944" y="2076"/>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28" name="Line 460"/>
            <p:cNvSpPr>
              <a:spLocks noChangeShapeType="1"/>
            </p:cNvSpPr>
            <p:nvPr/>
          </p:nvSpPr>
          <p:spPr bwMode="auto">
            <a:xfrm>
              <a:off x="2986" y="2098"/>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29" name="Line 461"/>
            <p:cNvSpPr>
              <a:spLocks noChangeShapeType="1"/>
            </p:cNvSpPr>
            <p:nvPr/>
          </p:nvSpPr>
          <p:spPr bwMode="auto">
            <a:xfrm>
              <a:off x="3028" y="2122"/>
              <a:ext cx="7" cy="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30" name="Line 462"/>
            <p:cNvSpPr>
              <a:spLocks noChangeShapeType="1"/>
            </p:cNvSpPr>
            <p:nvPr/>
          </p:nvSpPr>
          <p:spPr bwMode="auto">
            <a:xfrm>
              <a:off x="3070" y="2144"/>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31" name="Line 463"/>
            <p:cNvSpPr>
              <a:spLocks noChangeShapeType="1"/>
            </p:cNvSpPr>
            <p:nvPr/>
          </p:nvSpPr>
          <p:spPr bwMode="auto">
            <a:xfrm>
              <a:off x="3112" y="2166"/>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32" name="Line 464"/>
            <p:cNvSpPr>
              <a:spLocks noChangeShapeType="1"/>
            </p:cNvSpPr>
            <p:nvPr/>
          </p:nvSpPr>
          <p:spPr bwMode="auto">
            <a:xfrm>
              <a:off x="3154" y="2191"/>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33" name="Line 465"/>
            <p:cNvSpPr>
              <a:spLocks noChangeShapeType="1"/>
            </p:cNvSpPr>
            <p:nvPr/>
          </p:nvSpPr>
          <p:spPr bwMode="auto">
            <a:xfrm>
              <a:off x="3196" y="2213"/>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34" name="Line 466"/>
            <p:cNvSpPr>
              <a:spLocks noChangeShapeType="1"/>
            </p:cNvSpPr>
            <p:nvPr/>
          </p:nvSpPr>
          <p:spPr bwMode="auto">
            <a:xfrm>
              <a:off x="3238" y="2235"/>
              <a:ext cx="7"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35" name="Line 467"/>
            <p:cNvSpPr>
              <a:spLocks noChangeShapeType="1"/>
            </p:cNvSpPr>
            <p:nvPr/>
          </p:nvSpPr>
          <p:spPr bwMode="auto">
            <a:xfrm>
              <a:off x="3280" y="2259"/>
              <a:ext cx="7"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36" name="Line 468"/>
            <p:cNvSpPr>
              <a:spLocks noChangeShapeType="1"/>
            </p:cNvSpPr>
            <p:nvPr/>
          </p:nvSpPr>
          <p:spPr bwMode="auto">
            <a:xfrm>
              <a:off x="3322" y="2281"/>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37" name="Line 469"/>
            <p:cNvSpPr>
              <a:spLocks noChangeShapeType="1"/>
            </p:cNvSpPr>
            <p:nvPr/>
          </p:nvSpPr>
          <p:spPr bwMode="auto">
            <a:xfrm>
              <a:off x="3364" y="2303"/>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38" name="Line 470"/>
            <p:cNvSpPr>
              <a:spLocks noChangeShapeType="1"/>
            </p:cNvSpPr>
            <p:nvPr/>
          </p:nvSpPr>
          <p:spPr bwMode="auto">
            <a:xfrm>
              <a:off x="3406" y="2328"/>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39" name="Line 471"/>
            <p:cNvSpPr>
              <a:spLocks noChangeShapeType="1"/>
            </p:cNvSpPr>
            <p:nvPr/>
          </p:nvSpPr>
          <p:spPr bwMode="auto">
            <a:xfrm>
              <a:off x="3448" y="2350"/>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40" name="Line 472"/>
            <p:cNvSpPr>
              <a:spLocks noChangeShapeType="1"/>
            </p:cNvSpPr>
            <p:nvPr/>
          </p:nvSpPr>
          <p:spPr bwMode="auto">
            <a:xfrm>
              <a:off x="3490" y="2374"/>
              <a:ext cx="6" cy="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41" name="Line 473"/>
            <p:cNvSpPr>
              <a:spLocks noChangeShapeType="1"/>
            </p:cNvSpPr>
            <p:nvPr/>
          </p:nvSpPr>
          <p:spPr bwMode="auto">
            <a:xfrm>
              <a:off x="3532" y="2396"/>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42" name="Line 474"/>
            <p:cNvSpPr>
              <a:spLocks noChangeShapeType="1"/>
            </p:cNvSpPr>
            <p:nvPr/>
          </p:nvSpPr>
          <p:spPr bwMode="auto">
            <a:xfrm>
              <a:off x="3574" y="2418"/>
              <a:ext cx="6" cy="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43" name="Line 475"/>
            <p:cNvSpPr>
              <a:spLocks noChangeShapeType="1"/>
            </p:cNvSpPr>
            <p:nvPr/>
          </p:nvSpPr>
          <p:spPr bwMode="auto">
            <a:xfrm>
              <a:off x="3616" y="2443"/>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44" name="Line 476"/>
            <p:cNvSpPr>
              <a:spLocks noChangeShapeType="1"/>
            </p:cNvSpPr>
            <p:nvPr/>
          </p:nvSpPr>
          <p:spPr bwMode="auto">
            <a:xfrm>
              <a:off x="3658" y="2465"/>
              <a:ext cx="6" cy="4"/>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45" name="Line 477"/>
            <p:cNvSpPr>
              <a:spLocks noChangeShapeType="1"/>
            </p:cNvSpPr>
            <p:nvPr/>
          </p:nvSpPr>
          <p:spPr bwMode="auto">
            <a:xfrm>
              <a:off x="3700" y="2487"/>
              <a:ext cx="2" cy="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46" name="Line 478"/>
            <p:cNvSpPr>
              <a:spLocks noChangeShapeType="1"/>
            </p:cNvSpPr>
            <p:nvPr/>
          </p:nvSpPr>
          <p:spPr bwMode="auto">
            <a:xfrm flipH="1">
              <a:off x="3401" y="1892"/>
              <a:ext cx="3"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47" name="Line 479"/>
            <p:cNvSpPr>
              <a:spLocks noChangeShapeType="1"/>
            </p:cNvSpPr>
            <p:nvPr/>
          </p:nvSpPr>
          <p:spPr bwMode="auto">
            <a:xfrm flipH="1">
              <a:off x="3390" y="1941"/>
              <a:ext cx="3"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48" name="Line 480"/>
            <p:cNvSpPr>
              <a:spLocks noChangeShapeType="1"/>
            </p:cNvSpPr>
            <p:nvPr/>
          </p:nvSpPr>
          <p:spPr bwMode="auto">
            <a:xfrm flipH="1">
              <a:off x="3379" y="1985"/>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49" name="Line 481"/>
            <p:cNvSpPr>
              <a:spLocks noChangeShapeType="1"/>
            </p:cNvSpPr>
            <p:nvPr/>
          </p:nvSpPr>
          <p:spPr bwMode="auto">
            <a:xfrm flipH="1">
              <a:off x="3368" y="2031"/>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50" name="Line 482"/>
            <p:cNvSpPr>
              <a:spLocks noChangeShapeType="1"/>
            </p:cNvSpPr>
            <p:nvPr/>
          </p:nvSpPr>
          <p:spPr bwMode="auto">
            <a:xfrm flipH="1">
              <a:off x="3357" y="2078"/>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51" name="Line 483"/>
            <p:cNvSpPr>
              <a:spLocks noChangeShapeType="1"/>
            </p:cNvSpPr>
            <p:nvPr/>
          </p:nvSpPr>
          <p:spPr bwMode="auto">
            <a:xfrm flipH="1">
              <a:off x="3346" y="2122"/>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52" name="Line 484"/>
            <p:cNvSpPr>
              <a:spLocks noChangeShapeType="1"/>
            </p:cNvSpPr>
            <p:nvPr/>
          </p:nvSpPr>
          <p:spPr bwMode="auto">
            <a:xfrm flipH="1">
              <a:off x="3335" y="2168"/>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53" name="Line 485"/>
            <p:cNvSpPr>
              <a:spLocks noChangeShapeType="1"/>
            </p:cNvSpPr>
            <p:nvPr/>
          </p:nvSpPr>
          <p:spPr bwMode="auto">
            <a:xfrm flipH="1">
              <a:off x="3324" y="2215"/>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54" name="Line 486"/>
            <p:cNvSpPr>
              <a:spLocks noChangeShapeType="1"/>
            </p:cNvSpPr>
            <p:nvPr/>
          </p:nvSpPr>
          <p:spPr bwMode="auto">
            <a:xfrm flipH="1">
              <a:off x="3313" y="2259"/>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55" name="Line 487"/>
            <p:cNvSpPr>
              <a:spLocks noChangeShapeType="1"/>
            </p:cNvSpPr>
            <p:nvPr/>
          </p:nvSpPr>
          <p:spPr bwMode="auto">
            <a:xfrm flipH="1">
              <a:off x="3302" y="2306"/>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56" name="Line 488"/>
            <p:cNvSpPr>
              <a:spLocks noChangeShapeType="1"/>
            </p:cNvSpPr>
            <p:nvPr/>
          </p:nvSpPr>
          <p:spPr bwMode="auto">
            <a:xfrm flipH="1">
              <a:off x="3291" y="2350"/>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57" name="Line 489"/>
            <p:cNvSpPr>
              <a:spLocks noChangeShapeType="1"/>
            </p:cNvSpPr>
            <p:nvPr/>
          </p:nvSpPr>
          <p:spPr bwMode="auto">
            <a:xfrm flipH="1">
              <a:off x="3280" y="239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58" name="Line 490"/>
            <p:cNvSpPr>
              <a:spLocks noChangeShapeType="1"/>
            </p:cNvSpPr>
            <p:nvPr/>
          </p:nvSpPr>
          <p:spPr bwMode="auto">
            <a:xfrm flipH="1">
              <a:off x="3269" y="2443"/>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59" name="Line 491"/>
            <p:cNvSpPr>
              <a:spLocks noChangeShapeType="1"/>
            </p:cNvSpPr>
            <p:nvPr/>
          </p:nvSpPr>
          <p:spPr bwMode="auto">
            <a:xfrm flipH="1">
              <a:off x="3258" y="2487"/>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60" name="Line 492"/>
            <p:cNvSpPr>
              <a:spLocks noChangeShapeType="1"/>
            </p:cNvSpPr>
            <p:nvPr/>
          </p:nvSpPr>
          <p:spPr bwMode="auto">
            <a:xfrm flipH="1">
              <a:off x="3247" y="2533"/>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61" name="Line 493"/>
            <p:cNvSpPr>
              <a:spLocks noChangeShapeType="1"/>
            </p:cNvSpPr>
            <p:nvPr/>
          </p:nvSpPr>
          <p:spPr bwMode="auto">
            <a:xfrm flipH="1">
              <a:off x="3236" y="2580"/>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62" name="Line 494"/>
            <p:cNvSpPr>
              <a:spLocks noChangeShapeType="1"/>
            </p:cNvSpPr>
            <p:nvPr/>
          </p:nvSpPr>
          <p:spPr bwMode="auto">
            <a:xfrm flipH="1">
              <a:off x="3225" y="2624"/>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63" name="Line 495"/>
            <p:cNvSpPr>
              <a:spLocks noChangeShapeType="1"/>
            </p:cNvSpPr>
            <p:nvPr/>
          </p:nvSpPr>
          <p:spPr bwMode="auto">
            <a:xfrm flipH="1">
              <a:off x="3214" y="267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64" name="Line 496"/>
            <p:cNvSpPr>
              <a:spLocks noChangeShapeType="1"/>
            </p:cNvSpPr>
            <p:nvPr/>
          </p:nvSpPr>
          <p:spPr bwMode="auto">
            <a:xfrm flipH="1">
              <a:off x="3203" y="2717"/>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65" name="Line 497"/>
            <p:cNvSpPr>
              <a:spLocks noChangeShapeType="1"/>
            </p:cNvSpPr>
            <p:nvPr/>
          </p:nvSpPr>
          <p:spPr bwMode="auto">
            <a:xfrm flipH="1">
              <a:off x="3191" y="2761"/>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66" name="Line 498"/>
            <p:cNvSpPr>
              <a:spLocks noChangeShapeType="1"/>
            </p:cNvSpPr>
            <p:nvPr/>
          </p:nvSpPr>
          <p:spPr bwMode="auto">
            <a:xfrm flipH="1">
              <a:off x="3180" y="2807"/>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67" name="Line 499"/>
            <p:cNvSpPr>
              <a:spLocks noChangeShapeType="1"/>
            </p:cNvSpPr>
            <p:nvPr/>
          </p:nvSpPr>
          <p:spPr bwMode="auto">
            <a:xfrm flipH="1">
              <a:off x="3169" y="2852"/>
              <a:ext cx="3"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68" name="Line 500"/>
            <p:cNvSpPr>
              <a:spLocks noChangeShapeType="1"/>
            </p:cNvSpPr>
            <p:nvPr/>
          </p:nvSpPr>
          <p:spPr bwMode="auto">
            <a:xfrm flipH="1">
              <a:off x="3158" y="2898"/>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69" name="Line 501"/>
            <p:cNvSpPr>
              <a:spLocks noChangeShapeType="1"/>
            </p:cNvSpPr>
            <p:nvPr/>
          </p:nvSpPr>
          <p:spPr bwMode="auto">
            <a:xfrm flipH="1">
              <a:off x="3147" y="2944"/>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70" name="Line 502"/>
            <p:cNvSpPr>
              <a:spLocks noChangeShapeType="1"/>
            </p:cNvSpPr>
            <p:nvPr/>
          </p:nvSpPr>
          <p:spPr bwMode="auto">
            <a:xfrm flipH="1">
              <a:off x="3136" y="2989"/>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71" name="Line 503"/>
            <p:cNvSpPr>
              <a:spLocks noChangeShapeType="1"/>
            </p:cNvSpPr>
            <p:nvPr/>
          </p:nvSpPr>
          <p:spPr bwMode="auto">
            <a:xfrm flipH="1">
              <a:off x="3125" y="3035"/>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72" name="Line 504"/>
            <p:cNvSpPr>
              <a:spLocks noChangeShapeType="1"/>
            </p:cNvSpPr>
            <p:nvPr/>
          </p:nvSpPr>
          <p:spPr bwMode="auto">
            <a:xfrm flipH="1">
              <a:off x="3114" y="3081"/>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73" name="Line 505"/>
            <p:cNvSpPr>
              <a:spLocks noChangeShapeType="1"/>
            </p:cNvSpPr>
            <p:nvPr/>
          </p:nvSpPr>
          <p:spPr bwMode="auto">
            <a:xfrm flipH="1">
              <a:off x="3103" y="3126"/>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74" name="Line 506"/>
            <p:cNvSpPr>
              <a:spLocks noChangeShapeType="1"/>
            </p:cNvSpPr>
            <p:nvPr/>
          </p:nvSpPr>
          <p:spPr bwMode="auto">
            <a:xfrm flipH="1">
              <a:off x="3092" y="3172"/>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75" name="Line 507"/>
            <p:cNvSpPr>
              <a:spLocks noChangeShapeType="1"/>
            </p:cNvSpPr>
            <p:nvPr/>
          </p:nvSpPr>
          <p:spPr bwMode="auto">
            <a:xfrm flipH="1">
              <a:off x="3081" y="3219"/>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76" name="Line 508"/>
            <p:cNvSpPr>
              <a:spLocks noChangeShapeType="1"/>
            </p:cNvSpPr>
            <p:nvPr/>
          </p:nvSpPr>
          <p:spPr bwMode="auto">
            <a:xfrm flipH="1">
              <a:off x="3070" y="3263"/>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77" name="Line 509"/>
            <p:cNvSpPr>
              <a:spLocks noChangeShapeType="1"/>
            </p:cNvSpPr>
            <p:nvPr/>
          </p:nvSpPr>
          <p:spPr bwMode="auto">
            <a:xfrm flipH="1">
              <a:off x="3059" y="3309"/>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78" name="Line 510"/>
            <p:cNvSpPr>
              <a:spLocks noChangeShapeType="1"/>
            </p:cNvSpPr>
            <p:nvPr/>
          </p:nvSpPr>
          <p:spPr bwMode="auto">
            <a:xfrm flipH="1">
              <a:off x="3048" y="3353"/>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79" name="Line 511"/>
            <p:cNvSpPr>
              <a:spLocks noChangeShapeType="1"/>
            </p:cNvSpPr>
            <p:nvPr/>
          </p:nvSpPr>
          <p:spPr bwMode="auto">
            <a:xfrm flipH="1">
              <a:off x="3037" y="3400"/>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80" name="Line 512"/>
            <p:cNvSpPr>
              <a:spLocks noChangeShapeType="1"/>
            </p:cNvSpPr>
            <p:nvPr/>
          </p:nvSpPr>
          <p:spPr bwMode="auto">
            <a:xfrm flipH="1">
              <a:off x="3026" y="344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81" name="Line 513"/>
            <p:cNvSpPr>
              <a:spLocks noChangeShapeType="1"/>
            </p:cNvSpPr>
            <p:nvPr/>
          </p:nvSpPr>
          <p:spPr bwMode="auto">
            <a:xfrm flipH="1">
              <a:off x="3015" y="349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82" name="Line 514"/>
            <p:cNvSpPr>
              <a:spLocks noChangeShapeType="1"/>
            </p:cNvSpPr>
            <p:nvPr/>
          </p:nvSpPr>
          <p:spPr bwMode="auto">
            <a:xfrm>
              <a:off x="2608" y="1892"/>
              <a:ext cx="2"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83" name="Line 515"/>
            <p:cNvSpPr>
              <a:spLocks noChangeShapeType="1"/>
            </p:cNvSpPr>
            <p:nvPr/>
          </p:nvSpPr>
          <p:spPr bwMode="auto">
            <a:xfrm>
              <a:off x="2619" y="1941"/>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84" name="Line 516"/>
            <p:cNvSpPr>
              <a:spLocks noChangeShapeType="1"/>
            </p:cNvSpPr>
            <p:nvPr/>
          </p:nvSpPr>
          <p:spPr bwMode="auto">
            <a:xfrm>
              <a:off x="2630" y="1985"/>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85" name="Line 517"/>
            <p:cNvSpPr>
              <a:spLocks noChangeShapeType="1"/>
            </p:cNvSpPr>
            <p:nvPr/>
          </p:nvSpPr>
          <p:spPr bwMode="auto">
            <a:xfrm>
              <a:off x="2641" y="2031"/>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86" name="Line 518"/>
            <p:cNvSpPr>
              <a:spLocks noChangeShapeType="1"/>
            </p:cNvSpPr>
            <p:nvPr/>
          </p:nvSpPr>
          <p:spPr bwMode="auto">
            <a:xfrm>
              <a:off x="2652" y="2078"/>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87" name="Line 519"/>
            <p:cNvSpPr>
              <a:spLocks noChangeShapeType="1"/>
            </p:cNvSpPr>
            <p:nvPr/>
          </p:nvSpPr>
          <p:spPr bwMode="auto">
            <a:xfrm>
              <a:off x="2663" y="2122"/>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88" name="Line 520"/>
            <p:cNvSpPr>
              <a:spLocks noChangeShapeType="1"/>
            </p:cNvSpPr>
            <p:nvPr/>
          </p:nvSpPr>
          <p:spPr bwMode="auto">
            <a:xfrm>
              <a:off x="2674" y="2168"/>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89" name="Line 521"/>
            <p:cNvSpPr>
              <a:spLocks noChangeShapeType="1"/>
            </p:cNvSpPr>
            <p:nvPr/>
          </p:nvSpPr>
          <p:spPr bwMode="auto">
            <a:xfrm>
              <a:off x="2685" y="2215"/>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90" name="Line 522"/>
            <p:cNvSpPr>
              <a:spLocks noChangeShapeType="1"/>
            </p:cNvSpPr>
            <p:nvPr/>
          </p:nvSpPr>
          <p:spPr bwMode="auto">
            <a:xfrm>
              <a:off x="2696" y="2259"/>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91" name="Line 523"/>
            <p:cNvSpPr>
              <a:spLocks noChangeShapeType="1"/>
            </p:cNvSpPr>
            <p:nvPr/>
          </p:nvSpPr>
          <p:spPr bwMode="auto">
            <a:xfrm>
              <a:off x="2707" y="2306"/>
              <a:ext cx="3"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92" name="Line 524"/>
            <p:cNvSpPr>
              <a:spLocks noChangeShapeType="1"/>
            </p:cNvSpPr>
            <p:nvPr/>
          </p:nvSpPr>
          <p:spPr bwMode="auto">
            <a:xfrm>
              <a:off x="2719" y="2350"/>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93" name="Line 525"/>
            <p:cNvSpPr>
              <a:spLocks noChangeShapeType="1"/>
            </p:cNvSpPr>
            <p:nvPr/>
          </p:nvSpPr>
          <p:spPr bwMode="auto">
            <a:xfrm>
              <a:off x="2730" y="239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94" name="Line 526"/>
            <p:cNvSpPr>
              <a:spLocks noChangeShapeType="1"/>
            </p:cNvSpPr>
            <p:nvPr/>
          </p:nvSpPr>
          <p:spPr bwMode="auto">
            <a:xfrm>
              <a:off x="2741" y="2443"/>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95" name="Line 527"/>
            <p:cNvSpPr>
              <a:spLocks noChangeShapeType="1"/>
            </p:cNvSpPr>
            <p:nvPr/>
          </p:nvSpPr>
          <p:spPr bwMode="auto">
            <a:xfrm>
              <a:off x="2752" y="2487"/>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96" name="Line 528"/>
            <p:cNvSpPr>
              <a:spLocks noChangeShapeType="1"/>
            </p:cNvSpPr>
            <p:nvPr/>
          </p:nvSpPr>
          <p:spPr bwMode="auto">
            <a:xfrm>
              <a:off x="2763" y="2533"/>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97" name="Line 529"/>
            <p:cNvSpPr>
              <a:spLocks noChangeShapeType="1"/>
            </p:cNvSpPr>
            <p:nvPr/>
          </p:nvSpPr>
          <p:spPr bwMode="auto">
            <a:xfrm>
              <a:off x="2774" y="2580"/>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98" name="Line 530"/>
            <p:cNvSpPr>
              <a:spLocks noChangeShapeType="1"/>
            </p:cNvSpPr>
            <p:nvPr/>
          </p:nvSpPr>
          <p:spPr bwMode="auto">
            <a:xfrm>
              <a:off x="2785" y="2624"/>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299" name="Line 531"/>
            <p:cNvSpPr>
              <a:spLocks noChangeShapeType="1"/>
            </p:cNvSpPr>
            <p:nvPr/>
          </p:nvSpPr>
          <p:spPr bwMode="auto">
            <a:xfrm>
              <a:off x="2796" y="267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00" name="Line 532"/>
            <p:cNvSpPr>
              <a:spLocks noChangeShapeType="1"/>
            </p:cNvSpPr>
            <p:nvPr/>
          </p:nvSpPr>
          <p:spPr bwMode="auto">
            <a:xfrm>
              <a:off x="2807" y="2717"/>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01" name="Line 533"/>
            <p:cNvSpPr>
              <a:spLocks noChangeShapeType="1"/>
            </p:cNvSpPr>
            <p:nvPr/>
          </p:nvSpPr>
          <p:spPr bwMode="auto">
            <a:xfrm>
              <a:off x="2818" y="2761"/>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02" name="Line 534"/>
            <p:cNvSpPr>
              <a:spLocks noChangeShapeType="1"/>
            </p:cNvSpPr>
            <p:nvPr/>
          </p:nvSpPr>
          <p:spPr bwMode="auto">
            <a:xfrm>
              <a:off x="2829" y="2807"/>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03" name="Line 535"/>
            <p:cNvSpPr>
              <a:spLocks noChangeShapeType="1"/>
            </p:cNvSpPr>
            <p:nvPr/>
          </p:nvSpPr>
          <p:spPr bwMode="auto">
            <a:xfrm>
              <a:off x="2840" y="2852"/>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04" name="Line 536"/>
            <p:cNvSpPr>
              <a:spLocks noChangeShapeType="1"/>
            </p:cNvSpPr>
            <p:nvPr/>
          </p:nvSpPr>
          <p:spPr bwMode="auto">
            <a:xfrm>
              <a:off x="2851" y="2898"/>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05" name="Line 537"/>
            <p:cNvSpPr>
              <a:spLocks noChangeShapeType="1"/>
            </p:cNvSpPr>
            <p:nvPr/>
          </p:nvSpPr>
          <p:spPr bwMode="auto">
            <a:xfrm>
              <a:off x="2862" y="2944"/>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06" name="Line 538"/>
            <p:cNvSpPr>
              <a:spLocks noChangeShapeType="1"/>
            </p:cNvSpPr>
            <p:nvPr/>
          </p:nvSpPr>
          <p:spPr bwMode="auto">
            <a:xfrm>
              <a:off x="2873" y="2989"/>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07" name="Line 539"/>
            <p:cNvSpPr>
              <a:spLocks noChangeShapeType="1"/>
            </p:cNvSpPr>
            <p:nvPr/>
          </p:nvSpPr>
          <p:spPr bwMode="auto">
            <a:xfrm>
              <a:off x="2884" y="3035"/>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08" name="Line 540"/>
            <p:cNvSpPr>
              <a:spLocks noChangeShapeType="1"/>
            </p:cNvSpPr>
            <p:nvPr/>
          </p:nvSpPr>
          <p:spPr bwMode="auto">
            <a:xfrm>
              <a:off x="2895" y="3081"/>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09" name="Line 541"/>
            <p:cNvSpPr>
              <a:spLocks noChangeShapeType="1"/>
            </p:cNvSpPr>
            <p:nvPr/>
          </p:nvSpPr>
          <p:spPr bwMode="auto">
            <a:xfrm>
              <a:off x="2906" y="3126"/>
              <a:ext cx="3"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10" name="Line 542"/>
            <p:cNvSpPr>
              <a:spLocks noChangeShapeType="1"/>
            </p:cNvSpPr>
            <p:nvPr/>
          </p:nvSpPr>
          <p:spPr bwMode="auto">
            <a:xfrm>
              <a:off x="2917" y="3172"/>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11" name="Line 543"/>
            <p:cNvSpPr>
              <a:spLocks noChangeShapeType="1"/>
            </p:cNvSpPr>
            <p:nvPr/>
          </p:nvSpPr>
          <p:spPr bwMode="auto">
            <a:xfrm>
              <a:off x="2928" y="3219"/>
              <a:ext cx="3"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12" name="Line 544"/>
            <p:cNvSpPr>
              <a:spLocks noChangeShapeType="1"/>
            </p:cNvSpPr>
            <p:nvPr/>
          </p:nvSpPr>
          <p:spPr bwMode="auto">
            <a:xfrm>
              <a:off x="2940" y="3263"/>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13" name="Line 545"/>
            <p:cNvSpPr>
              <a:spLocks noChangeShapeType="1"/>
            </p:cNvSpPr>
            <p:nvPr/>
          </p:nvSpPr>
          <p:spPr bwMode="auto">
            <a:xfrm>
              <a:off x="2951" y="3309"/>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14" name="Line 546"/>
            <p:cNvSpPr>
              <a:spLocks noChangeShapeType="1"/>
            </p:cNvSpPr>
            <p:nvPr/>
          </p:nvSpPr>
          <p:spPr bwMode="auto">
            <a:xfrm>
              <a:off x="2962" y="3353"/>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15" name="Line 547"/>
            <p:cNvSpPr>
              <a:spLocks noChangeShapeType="1"/>
            </p:cNvSpPr>
            <p:nvPr/>
          </p:nvSpPr>
          <p:spPr bwMode="auto">
            <a:xfrm>
              <a:off x="2973" y="3400"/>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16" name="Line 548"/>
            <p:cNvSpPr>
              <a:spLocks noChangeShapeType="1"/>
            </p:cNvSpPr>
            <p:nvPr/>
          </p:nvSpPr>
          <p:spPr bwMode="auto">
            <a:xfrm>
              <a:off x="2984" y="344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17" name="Line 549"/>
            <p:cNvSpPr>
              <a:spLocks noChangeShapeType="1"/>
            </p:cNvSpPr>
            <p:nvPr/>
          </p:nvSpPr>
          <p:spPr bwMode="auto">
            <a:xfrm>
              <a:off x="2995" y="349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18" name="Line 550"/>
            <p:cNvSpPr>
              <a:spLocks noChangeShapeType="1"/>
            </p:cNvSpPr>
            <p:nvPr/>
          </p:nvSpPr>
          <p:spPr bwMode="auto">
            <a:xfrm flipV="1">
              <a:off x="2608" y="3077"/>
              <a:ext cx="2"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19" name="Line 551"/>
            <p:cNvSpPr>
              <a:spLocks noChangeShapeType="1"/>
            </p:cNvSpPr>
            <p:nvPr/>
          </p:nvSpPr>
          <p:spPr bwMode="auto">
            <a:xfrm flipV="1">
              <a:off x="2619" y="3031"/>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20" name="Line 552"/>
            <p:cNvSpPr>
              <a:spLocks noChangeShapeType="1"/>
            </p:cNvSpPr>
            <p:nvPr/>
          </p:nvSpPr>
          <p:spPr bwMode="auto">
            <a:xfrm flipV="1">
              <a:off x="2630" y="298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21" name="Line 553"/>
            <p:cNvSpPr>
              <a:spLocks noChangeShapeType="1"/>
            </p:cNvSpPr>
            <p:nvPr/>
          </p:nvSpPr>
          <p:spPr bwMode="auto">
            <a:xfrm flipV="1">
              <a:off x="2641" y="294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22" name="Line 554"/>
            <p:cNvSpPr>
              <a:spLocks noChangeShapeType="1"/>
            </p:cNvSpPr>
            <p:nvPr/>
          </p:nvSpPr>
          <p:spPr bwMode="auto">
            <a:xfrm flipV="1">
              <a:off x="2652" y="2894"/>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23" name="Line 555"/>
            <p:cNvSpPr>
              <a:spLocks noChangeShapeType="1"/>
            </p:cNvSpPr>
            <p:nvPr/>
          </p:nvSpPr>
          <p:spPr bwMode="auto">
            <a:xfrm flipV="1">
              <a:off x="2663" y="2849"/>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24" name="Line 556"/>
            <p:cNvSpPr>
              <a:spLocks noChangeShapeType="1"/>
            </p:cNvSpPr>
            <p:nvPr/>
          </p:nvSpPr>
          <p:spPr bwMode="auto">
            <a:xfrm flipV="1">
              <a:off x="2674" y="2803"/>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25" name="Line 557"/>
            <p:cNvSpPr>
              <a:spLocks noChangeShapeType="1"/>
            </p:cNvSpPr>
            <p:nvPr/>
          </p:nvSpPr>
          <p:spPr bwMode="auto">
            <a:xfrm flipV="1">
              <a:off x="2685" y="2756"/>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26" name="Line 558"/>
            <p:cNvSpPr>
              <a:spLocks noChangeShapeType="1"/>
            </p:cNvSpPr>
            <p:nvPr/>
          </p:nvSpPr>
          <p:spPr bwMode="auto">
            <a:xfrm flipV="1">
              <a:off x="2696" y="2712"/>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27" name="Line 559"/>
            <p:cNvSpPr>
              <a:spLocks noChangeShapeType="1"/>
            </p:cNvSpPr>
            <p:nvPr/>
          </p:nvSpPr>
          <p:spPr bwMode="auto">
            <a:xfrm flipV="1">
              <a:off x="2707" y="2666"/>
              <a:ext cx="3"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28" name="Line 560"/>
            <p:cNvSpPr>
              <a:spLocks noChangeShapeType="1"/>
            </p:cNvSpPr>
            <p:nvPr/>
          </p:nvSpPr>
          <p:spPr bwMode="auto">
            <a:xfrm flipV="1">
              <a:off x="2719" y="2622"/>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29" name="Line 561"/>
            <p:cNvSpPr>
              <a:spLocks noChangeShapeType="1"/>
            </p:cNvSpPr>
            <p:nvPr/>
          </p:nvSpPr>
          <p:spPr bwMode="auto">
            <a:xfrm flipV="1">
              <a:off x="2730" y="2575"/>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30" name="Line 562"/>
            <p:cNvSpPr>
              <a:spLocks noChangeShapeType="1"/>
            </p:cNvSpPr>
            <p:nvPr/>
          </p:nvSpPr>
          <p:spPr bwMode="auto">
            <a:xfrm flipV="1">
              <a:off x="2741" y="2529"/>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31" name="Line 563"/>
            <p:cNvSpPr>
              <a:spLocks noChangeShapeType="1"/>
            </p:cNvSpPr>
            <p:nvPr/>
          </p:nvSpPr>
          <p:spPr bwMode="auto">
            <a:xfrm flipV="1">
              <a:off x="2752" y="2485"/>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32" name="Line 564"/>
            <p:cNvSpPr>
              <a:spLocks noChangeShapeType="1"/>
            </p:cNvSpPr>
            <p:nvPr/>
          </p:nvSpPr>
          <p:spPr bwMode="auto">
            <a:xfrm flipV="1">
              <a:off x="2763" y="2438"/>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33" name="Line 565"/>
            <p:cNvSpPr>
              <a:spLocks noChangeShapeType="1"/>
            </p:cNvSpPr>
            <p:nvPr/>
          </p:nvSpPr>
          <p:spPr bwMode="auto">
            <a:xfrm flipV="1">
              <a:off x="2774" y="2392"/>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34" name="Line 566"/>
            <p:cNvSpPr>
              <a:spLocks noChangeShapeType="1"/>
            </p:cNvSpPr>
            <p:nvPr/>
          </p:nvSpPr>
          <p:spPr bwMode="auto">
            <a:xfrm flipV="1">
              <a:off x="2785" y="2348"/>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35" name="Line 567"/>
            <p:cNvSpPr>
              <a:spLocks noChangeShapeType="1"/>
            </p:cNvSpPr>
            <p:nvPr/>
          </p:nvSpPr>
          <p:spPr bwMode="auto">
            <a:xfrm flipV="1">
              <a:off x="2796" y="2301"/>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36" name="Line 568"/>
            <p:cNvSpPr>
              <a:spLocks noChangeShapeType="1"/>
            </p:cNvSpPr>
            <p:nvPr/>
          </p:nvSpPr>
          <p:spPr bwMode="auto">
            <a:xfrm flipV="1">
              <a:off x="2807" y="2255"/>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37" name="Line 569"/>
            <p:cNvSpPr>
              <a:spLocks noChangeShapeType="1"/>
            </p:cNvSpPr>
            <p:nvPr/>
          </p:nvSpPr>
          <p:spPr bwMode="auto">
            <a:xfrm flipV="1">
              <a:off x="2818" y="221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38" name="Line 570"/>
            <p:cNvSpPr>
              <a:spLocks noChangeShapeType="1"/>
            </p:cNvSpPr>
            <p:nvPr/>
          </p:nvSpPr>
          <p:spPr bwMode="auto">
            <a:xfrm flipV="1">
              <a:off x="2829" y="2164"/>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39" name="Line 571"/>
            <p:cNvSpPr>
              <a:spLocks noChangeShapeType="1"/>
            </p:cNvSpPr>
            <p:nvPr/>
          </p:nvSpPr>
          <p:spPr bwMode="auto">
            <a:xfrm flipV="1">
              <a:off x="2840" y="2120"/>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40" name="Line 572"/>
            <p:cNvSpPr>
              <a:spLocks noChangeShapeType="1"/>
            </p:cNvSpPr>
            <p:nvPr/>
          </p:nvSpPr>
          <p:spPr bwMode="auto">
            <a:xfrm flipV="1">
              <a:off x="2851" y="2073"/>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41" name="Line 573"/>
            <p:cNvSpPr>
              <a:spLocks noChangeShapeType="1"/>
            </p:cNvSpPr>
            <p:nvPr/>
          </p:nvSpPr>
          <p:spPr bwMode="auto">
            <a:xfrm flipV="1">
              <a:off x="2862" y="2027"/>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42" name="Line 574"/>
            <p:cNvSpPr>
              <a:spLocks noChangeShapeType="1"/>
            </p:cNvSpPr>
            <p:nvPr/>
          </p:nvSpPr>
          <p:spPr bwMode="auto">
            <a:xfrm flipV="1">
              <a:off x="2873" y="1983"/>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43" name="Line 575"/>
            <p:cNvSpPr>
              <a:spLocks noChangeShapeType="1"/>
            </p:cNvSpPr>
            <p:nvPr/>
          </p:nvSpPr>
          <p:spPr bwMode="auto">
            <a:xfrm flipV="1">
              <a:off x="2884" y="193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44" name="Line 576"/>
            <p:cNvSpPr>
              <a:spLocks noChangeShapeType="1"/>
            </p:cNvSpPr>
            <p:nvPr/>
          </p:nvSpPr>
          <p:spPr bwMode="auto">
            <a:xfrm flipV="1">
              <a:off x="2895" y="1890"/>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45" name="Line 577"/>
            <p:cNvSpPr>
              <a:spLocks noChangeShapeType="1"/>
            </p:cNvSpPr>
            <p:nvPr/>
          </p:nvSpPr>
          <p:spPr bwMode="auto">
            <a:xfrm flipV="1">
              <a:off x="2906" y="1846"/>
              <a:ext cx="3"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46" name="Line 578"/>
            <p:cNvSpPr>
              <a:spLocks noChangeShapeType="1"/>
            </p:cNvSpPr>
            <p:nvPr/>
          </p:nvSpPr>
          <p:spPr bwMode="auto">
            <a:xfrm flipV="1">
              <a:off x="2917" y="1799"/>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47" name="Line 579"/>
            <p:cNvSpPr>
              <a:spLocks noChangeShapeType="1"/>
            </p:cNvSpPr>
            <p:nvPr/>
          </p:nvSpPr>
          <p:spPr bwMode="auto">
            <a:xfrm flipV="1">
              <a:off x="2928" y="1753"/>
              <a:ext cx="3"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48" name="Line 580"/>
            <p:cNvSpPr>
              <a:spLocks noChangeShapeType="1"/>
            </p:cNvSpPr>
            <p:nvPr/>
          </p:nvSpPr>
          <p:spPr bwMode="auto">
            <a:xfrm flipV="1">
              <a:off x="2940" y="1709"/>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49" name="Line 581"/>
            <p:cNvSpPr>
              <a:spLocks noChangeShapeType="1"/>
            </p:cNvSpPr>
            <p:nvPr/>
          </p:nvSpPr>
          <p:spPr bwMode="auto">
            <a:xfrm flipV="1">
              <a:off x="2951" y="1662"/>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50" name="Line 582"/>
            <p:cNvSpPr>
              <a:spLocks noChangeShapeType="1"/>
            </p:cNvSpPr>
            <p:nvPr/>
          </p:nvSpPr>
          <p:spPr bwMode="auto">
            <a:xfrm flipV="1">
              <a:off x="2962" y="1618"/>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51" name="Line 583"/>
            <p:cNvSpPr>
              <a:spLocks noChangeShapeType="1"/>
            </p:cNvSpPr>
            <p:nvPr/>
          </p:nvSpPr>
          <p:spPr bwMode="auto">
            <a:xfrm flipV="1">
              <a:off x="2973" y="1572"/>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52" name="Line 584"/>
            <p:cNvSpPr>
              <a:spLocks noChangeShapeType="1"/>
            </p:cNvSpPr>
            <p:nvPr/>
          </p:nvSpPr>
          <p:spPr bwMode="auto">
            <a:xfrm flipV="1">
              <a:off x="2984" y="1525"/>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53" name="Line 585"/>
            <p:cNvSpPr>
              <a:spLocks noChangeShapeType="1"/>
            </p:cNvSpPr>
            <p:nvPr/>
          </p:nvSpPr>
          <p:spPr bwMode="auto">
            <a:xfrm flipV="1">
              <a:off x="2995" y="1481"/>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54" name="Line 586"/>
            <p:cNvSpPr>
              <a:spLocks noChangeShapeType="1"/>
            </p:cNvSpPr>
            <p:nvPr/>
          </p:nvSpPr>
          <p:spPr bwMode="auto">
            <a:xfrm flipH="1" flipV="1">
              <a:off x="3401" y="3077"/>
              <a:ext cx="3" cy="9"/>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55" name="Line 587"/>
            <p:cNvSpPr>
              <a:spLocks noChangeShapeType="1"/>
            </p:cNvSpPr>
            <p:nvPr/>
          </p:nvSpPr>
          <p:spPr bwMode="auto">
            <a:xfrm flipH="1" flipV="1">
              <a:off x="3390" y="3031"/>
              <a:ext cx="3"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56" name="Line 588"/>
            <p:cNvSpPr>
              <a:spLocks noChangeShapeType="1"/>
            </p:cNvSpPr>
            <p:nvPr/>
          </p:nvSpPr>
          <p:spPr bwMode="auto">
            <a:xfrm flipH="1" flipV="1">
              <a:off x="3379" y="2986"/>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57" name="Line 589"/>
            <p:cNvSpPr>
              <a:spLocks noChangeShapeType="1"/>
            </p:cNvSpPr>
            <p:nvPr/>
          </p:nvSpPr>
          <p:spPr bwMode="auto">
            <a:xfrm flipH="1" flipV="1">
              <a:off x="3368" y="2940"/>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58" name="Line 590"/>
            <p:cNvSpPr>
              <a:spLocks noChangeShapeType="1"/>
            </p:cNvSpPr>
            <p:nvPr/>
          </p:nvSpPr>
          <p:spPr bwMode="auto">
            <a:xfrm flipH="1" flipV="1">
              <a:off x="3357" y="2894"/>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59" name="Line 591"/>
            <p:cNvSpPr>
              <a:spLocks noChangeShapeType="1"/>
            </p:cNvSpPr>
            <p:nvPr/>
          </p:nvSpPr>
          <p:spPr bwMode="auto">
            <a:xfrm flipH="1" flipV="1">
              <a:off x="3346" y="2849"/>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60" name="Line 592"/>
            <p:cNvSpPr>
              <a:spLocks noChangeShapeType="1"/>
            </p:cNvSpPr>
            <p:nvPr/>
          </p:nvSpPr>
          <p:spPr bwMode="auto">
            <a:xfrm flipH="1" flipV="1">
              <a:off x="3335" y="2803"/>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61" name="Line 593"/>
            <p:cNvSpPr>
              <a:spLocks noChangeShapeType="1"/>
            </p:cNvSpPr>
            <p:nvPr/>
          </p:nvSpPr>
          <p:spPr bwMode="auto">
            <a:xfrm flipH="1" flipV="1">
              <a:off x="3324" y="2756"/>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62" name="Line 594"/>
            <p:cNvSpPr>
              <a:spLocks noChangeShapeType="1"/>
            </p:cNvSpPr>
            <p:nvPr/>
          </p:nvSpPr>
          <p:spPr bwMode="auto">
            <a:xfrm flipH="1" flipV="1">
              <a:off x="3313" y="2712"/>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63" name="Line 595"/>
            <p:cNvSpPr>
              <a:spLocks noChangeShapeType="1"/>
            </p:cNvSpPr>
            <p:nvPr/>
          </p:nvSpPr>
          <p:spPr bwMode="auto">
            <a:xfrm flipH="1" flipV="1">
              <a:off x="3302" y="2666"/>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64" name="Line 596"/>
            <p:cNvSpPr>
              <a:spLocks noChangeShapeType="1"/>
            </p:cNvSpPr>
            <p:nvPr/>
          </p:nvSpPr>
          <p:spPr bwMode="auto">
            <a:xfrm flipH="1" flipV="1">
              <a:off x="3291" y="2622"/>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65" name="Line 597"/>
            <p:cNvSpPr>
              <a:spLocks noChangeShapeType="1"/>
            </p:cNvSpPr>
            <p:nvPr/>
          </p:nvSpPr>
          <p:spPr bwMode="auto">
            <a:xfrm flipH="1" flipV="1">
              <a:off x="3280" y="2575"/>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66" name="Line 598"/>
            <p:cNvSpPr>
              <a:spLocks noChangeShapeType="1"/>
            </p:cNvSpPr>
            <p:nvPr/>
          </p:nvSpPr>
          <p:spPr bwMode="auto">
            <a:xfrm flipH="1" flipV="1">
              <a:off x="3269" y="2529"/>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67" name="Line 599"/>
            <p:cNvSpPr>
              <a:spLocks noChangeShapeType="1"/>
            </p:cNvSpPr>
            <p:nvPr/>
          </p:nvSpPr>
          <p:spPr bwMode="auto">
            <a:xfrm flipH="1" flipV="1">
              <a:off x="3258" y="2485"/>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68" name="Line 600"/>
            <p:cNvSpPr>
              <a:spLocks noChangeShapeType="1"/>
            </p:cNvSpPr>
            <p:nvPr/>
          </p:nvSpPr>
          <p:spPr bwMode="auto">
            <a:xfrm flipH="1" flipV="1">
              <a:off x="3247" y="2438"/>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69" name="Line 601"/>
            <p:cNvSpPr>
              <a:spLocks noChangeShapeType="1"/>
            </p:cNvSpPr>
            <p:nvPr/>
          </p:nvSpPr>
          <p:spPr bwMode="auto">
            <a:xfrm flipH="1" flipV="1">
              <a:off x="3236" y="2392"/>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70" name="Line 602"/>
            <p:cNvSpPr>
              <a:spLocks noChangeShapeType="1"/>
            </p:cNvSpPr>
            <p:nvPr/>
          </p:nvSpPr>
          <p:spPr bwMode="auto">
            <a:xfrm flipH="1" flipV="1">
              <a:off x="3225" y="2348"/>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71" name="Line 603"/>
            <p:cNvSpPr>
              <a:spLocks noChangeShapeType="1"/>
            </p:cNvSpPr>
            <p:nvPr/>
          </p:nvSpPr>
          <p:spPr bwMode="auto">
            <a:xfrm flipH="1" flipV="1">
              <a:off x="3214" y="2301"/>
              <a:ext cx="2"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72" name="Line 604"/>
            <p:cNvSpPr>
              <a:spLocks noChangeShapeType="1"/>
            </p:cNvSpPr>
            <p:nvPr/>
          </p:nvSpPr>
          <p:spPr bwMode="auto">
            <a:xfrm flipH="1" flipV="1">
              <a:off x="3203" y="2255"/>
              <a:ext cx="2" cy="6"/>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73" name="Line 605"/>
            <p:cNvSpPr>
              <a:spLocks noChangeShapeType="1"/>
            </p:cNvSpPr>
            <p:nvPr/>
          </p:nvSpPr>
          <p:spPr bwMode="auto">
            <a:xfrm flipH="1" flipV="1">
              <a:off x="3191" y="2210"/>
              <a:ext cx="3" cy="7"/>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grpSp>
      <p:sp>
        <p:nvSpPr>
          <p:cNvPr id="1374" name="Line 606"/>
          <p:cNvSpPr>
            <a:spLocks noChangeShapeType="1"/>
          </p:cNvSpPr>
          <p:nvPr/>
        </p:nvSpPr>
        <p:spPr bwMode="auto">
          <a:xfrm flipH="1" flipV="1">
            <a:off x="8539596" y="3494727"/>
            <a:ext cx="4763"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75" name="Line 607"/>
          <p:cNvSpPr>
            <a:spLocks noChangeShapeType="1"/>
          </p:cNvSpPr>
          <p:nvPr/>
        </p:nvSpPr>
        <p:spPr bwMode="auto">
          <a:xfrm flipH="1" flipV="1">
            <a:off x="8522134" y="3424877"/>
            <a:ext cx="4762"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76" name="Line 608"/>
          <p:cNvSpPr>
            <a:spLocks noChangeShapeType="1"/>
          </p:cNvSpPr>
          <p:nvPr/>
        </p:nvSpPr>
        <p:spPr bwMode="auto">
          <a:xfrm flipH="1" flipV="1">
            <a:off x="8504671" y="3350265"/>
            <a:ext cx="4763"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77" name="Line 609"/>
          <p:cNvSpPr>
            <a:spLocks noChangeShapeType="1"/>
          </p:cNvSpPr>
          <p:nvPr/>
        </p:nvSpPr>
        <p:spPr bwMode="auto">
          <a:xfrm flipH="1" flipV="1">
            <a:off x="8487209" y="3277240"/>
            <a:ext cx="3175"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78" name="Line 610"/>
          <p:cNvSpPr>
            <a:spLocks noChangeShapeType="1"/>
          </p:cNvSpPr>
          <p:nvPr/>
        </p:nvSpPr>
        <p:spPr bwMode="auto">
          <a:xfrm flipH="1" flipV="1">
            <a:off x="8469746" y="3207390"/>
            <a:ext cx="3175"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79" name="Line 611"/>
          <p:cNvSpPr>
            <a:spLocks noChangeShapeType="1"/>
          </p:cNvSpPr>
          <p:nvPr/>
        </p:nvSpPr>
        <p:spPr bwMode="auto">
          <a:xfrm flipH="1" flipV="1">
            <a:off x="8452284" y="3132777"/>
            <a:ext cx="3175"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80" name="Line 612"/>
          <p:cNvSpPr>
            <a:spLocks noChangeShapeType="1"/>
          </p:cNvSpPr>
          <p:nvPr/>
        </p:nvSpPr>
        <p:spPr bwMode="auto">
          <a:xfrm flipH="1" flipV="1">
            <a:off x="8434821" y="3059752"/>
            <a:ext cx="3175"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81" name="Line 613"/>
          <p:cNvSpPr>
            <a:spLocks noChangeShapeType="1"/>
          </p:cNvSpPr>
          <p:nvPr/>
        </p:nvSpPr>
        <p:spPr bwMode="auto">
          <a:xfrm flipH="1" flipV="1">
            <a:off x="8417359" y="2989902"/>
            <a:ext cx="3175"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82" name="Line 614"/>
          <p:cNvSpPr>
            <a:spLocks noChangeShapeType="1"/>
          </p:cNvSpPr>
          <p:nvPr/>
        </p:nvSpPr>
        <p:spPr bwMode="auto">
          <a:xfrm flipH="1" flipV="1">
            <a:off x="8399896" y="2915290"/>
            <a:ext cx="3175"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83" name="Line 615"/>
          <p:cNvSpPr>
            <a:spLocks noChangeShapeType="1"/>
          </p:cNvSpPr>
          <p:nvPr/>
        </p:nvSpPr>
        <p:spPr bwMode="auto">
          <a:xfrm flipH="1" flipV="1">
            <a:off x="8382434" y="2842265"/>
            <a:ext cx="3175"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84" name="Line 616"/>
          <p:cNvSpPr>
            <a:spLocks noChangeShapeType="1"/>
          </p:cNvSpPr>
          <p:nvPr/>
        </p:nvSpPr>
        <p:spPr bwMode="auto">
          <a:xfrm flipH="1" flipV="1">
            <a:off x="8364971" y="2772415"/>
            <a:ext cx="3175"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85" name="Line 617"/>
          <p:cNvSpPr>
            <a:spLocks noChangeShapeType="1"/>
          </p:cNvSpPr>
          <p:nvPr/>
        </p:nvSpPr>
        <p:spPr bwMode="auto">
          <a:xfrm flipH="1" flipV="1">
            <a:off x="8347509" y="2697802"/>
            <a:ext cx="3175"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86" name="Line 618"/>
          <p:cNvSpPr>
            <a:spLocks noChangeShapeType="1"/>
          </p:cNvSpPr>
          <p:nvPr/>
        </p:nvSpPr>
        <p:spPr bwMode="auto">
          <a:xfrm flipH="1" flipV="1">
            <a:off x="8330046" y="2627952"/>
            <a:ext cx="3175"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87" name="Line 619"/>
          <p:cNvSpPr>
            <a:spLocks noChangeShapeType="1"/>
          </p:cNvSpPr>
          <p:nvPr/>
        </p:nvSpPr>
        <p:spPr bwMode="auto">
          <a:xfrm flipH="1" flipV="1">
            <a:off x="8312584" y="2554927"/>
            <a:ext cx="3175"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88" name="Line 620"/>
          <p:cNvSpPr>
            <a:spLocks noChangeShapeType="1"/>
          </p:cNvSpPr>
          <p:nvPr/>
        </p:nvSpPr>
        <p:spPr bwMode="auto">
          <a:xfrm flipH="1" flipV="1">
            <a:off x="8295121" y="2480315"/>
            <a:ext cx="3175"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89" name="Line 621"/>
          <p:cNvSpPr>
            <a:spLocks noChangeShapeType="1"/>
          </p:cNvSpPr>
          <p:nvPr/>
        </p:nvSpPr>
        <p:spPr bwMode="auto">
          <a:xfrm flipH="1" flipV="1">
            <a:off x="8277659" y="2410465"/>
            <a:ext cx="3175"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90" name="Line 622"/>
          <p:cNvSpPr>
            <a:spLocks noChangeShapeType="1"/>
          </p:cNvSpPr>
          <p:nvPr/>
        </p:nvSpPr>
        <p:spPr bwMode="auto">
          <a:xfrm flipH="1">
            <a:off x="8255434" y="2350140"/>
            <a:ext cx="7937"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91" name="Line 623"/>
          <p:cNvSpPr>
            <a:spLocks noChangeShapeType="1"/>
          </p:cNvSpPr>
          <p:nvPr/>
        </p:nvSpPr>
        <p:spPr bwMode="auto">
          <a:xfrm flipH="1">
            <a:off x="8214159" y="241364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92" name="Line 624"/>
          <p:cNvSpPr>
            <a:spLocks noChangeShapeType="1"/>
          </p:cNvSpPr>
          <p:nvPr/>
        </p:nvSpPr>
        <p:spPr bwMode="auto">
          <a:xfrm flipH="1">
            <a:off x="8171296" y="2477140"/>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93" name="Line 625"/>
          <p:cNvSpPr>
            <a:spLocks noChangeShapeType="1"/>
          </p:cNvSpPr>
          <p:nvPr/>
        </p:nvSpPr>
        <p:spPr bwMode="auto">
          <a:xfrm flipH="1">
            <a:off x="8130021" y="2540640"/>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94" name="Line 626"/>
          <p:cNvSpPr>
            <a:spLocks noChangeShapeType="1"/>
          </p:cNvSpPr>
          <p:nvPr/>
        </p:nvSpPr>
        <p:spPr bwMode="auto">
          <a:xfrm flipH="1">
            <a:off x="8087159" y="2604140"/>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95" name="Line 627"/>
          <p:cNvSpPr>
            <a:spLocks noChangeShapeType="1"/>
          </p:cNvSpPr>
          <p:nvPr/>
        </p:nvSpPr>
        <p:spPr bwMode="auto">
          <a:xfrm flipH="1">
            <a:off x="8045884" y="266605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96" name="Line 628"/>
          <p:cNvSpPr>
            <a:spLocks noChangeShapeType="1"/>
          </p:cNvSpPr>
          <p:nvPr/>
        </p:nvSpPr>
        <p:spPr bwMode="auto">
          <a:xfrm flipH="1">
            <a:off x="8003021" y="2729552"/>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97" name="Line 629"/>
          <p:cNvSpPr>
            <a:spLocks noChangeShapeType="1"/>
          </p:cNvSpPr>
          <p:nvPr/>
        </p:nvSpPr>
        <p:spPr bwMode="auto">
          <a:xfrm flipH="1">
            <a:off x="7961746" y="279305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98" name="Line 630"/>
          <p:cNvSpPr>
            <a:spLocks noChangeShapeType="1"/>
          </p:cNvSpPr>
          <p:nvPr/>
        </p:nvSpPr>
        <p:spPr bwMode="auto">
          <a:xfrm flipH="1">
            <a:off x="7918884" y="2856552"/>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399" name="Line 631"/>
          <p:cNvSpPr>
            <a:spLocks noChangeShapeType="1"/>
          </p:cNvSpPr>
          <p:nvPr/>
        </p:nvSpPr>
        <p:spPr bwMode="auto">
          <a:xfrm flipH="1">
            <a:off x="7877609" y="291846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00" name="Line 632"/>
          <p:cNvSpPr>
            <a:spLocks noChangeShapeType="1"/>
          </p:cNvSpPr>
          <p:nvPr/>
        </p:nvSpPr>
        <p:spPr bwMode="auto">
          <a:xfrm flipH="1">
            <a:off x="7834746" y="2981965"/>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01" name="Line 633"/>
          <p:cNvSpPr>
            <a:spLocks noChangeShapeType="1"/>
          </p:cNvSpPr>
          <p:nvPr/>
        </p:nvSpPr>
        <p:spPr bwMode="auto">
          <a:xfrm flipH="1">
            <a:off x="7793471" y="304546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02" name="Line 634"/>
          <p:cNvSpPr>
            <a:spLocks noChangeShapeType="1"/>
          </p:cNvSpPr>
          <p:nvPr/>
        </p:nvSpPr>
        <p:spPr bwMode="auto">
          <a:xfrm flipH="1">
            <a:off x="7750609" y="3108965"/>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03" name="Line 635"/>
          <p:cNvSpPr>
            <a:spLocks noChangeShapeType="1"/>
          </p:cNvSpPr>
          <p:nvPr/>
        </p:nvSpPr>
        <p:spPr bwMode="auto">
          <a:xfrm flipH="1">
            <a:off x="7709334" y="3172465"/>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04" name="Line 636"/>
          <p:cNvSpPr>
            <a:spLocks noChangeShapeType="1"/>
          </p:cNvSpPr>
          <p:nvPr/>
        </p:nvSpPr>
        <p:spPr bwMode="auto">
          <a:xfrm flipH="1">
            <a:off x="7666471" y="3234377"/>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05" name="Line 637"/>
          <p:cNvSpPr>
            <a:spLocks noChangeShapeType="1"/>
          </p:cNvSpPr>
          <p:nvPr/>
        </p:nvSpPr>
        <p:spPr bwMode="auto">
          <a:xfrm flipH="1">
            <a:off x="7625196" y="329787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06" name="Line 638"/>
          <p:cNvSpPr>
            <a:spLocks noChangeShapeType="1"/>
          </p:cNvSpPr>
          <p:nvPr/>
        </p:nvSpPr>
        <p:spPr bwMode="auto">
          <a:xfrm flipH="1">
            <a:off x="7582334" y="3361377"/>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07" name="Line 639"/>
          <p:cNvSpPr>
            <a:spLocks noChangeShapeType="1"/>
          </p:cNvSpPr>
          <p:nvPr/>
        </p:nvSpPr>
        <p:spPr bwMode="auto">
          <a:xfrm flipH="1">
            <a:off x="7541059" y="3424877"/>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08" name="Line 640"/>
          <p:cNvSpPr>
            <a:spLocks noChangeShapeType="1"/>
          </p:cNvSpPr>
          <p:nvPr/>
        </p:nvSpPr>
        <p:spPr bwMode="auto">
          <a:xfrm flipH="1">
            <a:off x="7498196" y="3488377"/>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09" name="Line 641"/>
          <p:cNvSpPr>
            <a:spLocks noChangeShapeType="1"/>
          </p:cNvSpPr>
          <p:nvPr/>
        </p:nvSpPr>
        <p:spPr bwMode="auto">
          <a:xfrm flipH="1">
            <a:off x="7456921" y="355029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10" name="Line 642"/>
          <p:cNvSpPr>
            <a:spLocks noChangeShapeType="1"/>
          </p:cNvSpPr>
          <p:nvPr/>
        </p:nvSpPr>
        <p:spPr bwMode="auto">
          <a:xfrm flipH="1">
            <a:off x="7414059" y="361379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11" name="Line 643"/>
          <p:cNvSpPr>
            <a:spLocks noChangeShapeType="1"/>
          </p:cNvSpPr>
          <p:nvPr/>
        </p:nvSpPr>
        <p:spPr bwMode="auto">
          <a:xfrm flipH="1">
            <a:off x="7371196" y="3677290"/>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12" name="Line 644"/>
          <p:cNvSpPr>
            <a:spLocks noChangeShapeType="1"/>
          </p:cNvSpPr>
          <p:nvPr/>
        </p:nvSpPr>
        <p:spPr bwMode="auto">
          <a:xfrm flipH="1">
            <a:off x="7329921" y="3740790"/>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13" name="Line 645"/>
          <p:cNvSpPr>
            <a:spLocks noChangeShapeType="1"/>
          </p:cNvSpPr>
          <p:nvPr/>
        </p:nvSpPr>
        <p:spPr bwMode="auto">
          <a:xfrm flipH="1">
            <a:off x="7287059" y="3804290"/>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14" name="Line 646"/>
          <p:cNvSpPr>
            <a:spLocks noChangeShapeType="1"/>
          </p:cNvSpPr>
          <p:nvPr/>
        </p:nvSpPr>
        <p:spPr bwMode="auto">
          <a:xfrm flipH="1">
            <a:off x="7245784" y="386620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15" name="Line 647"/>
          <p:cNvSpPr>
            <a:spLocks noChangeShapeType="1"/>
          </p:cNvSpPr>
          <p:nvPr/>
        </p:nvSpPr>
        <p:spPr bwMode="auto">
          <a:xfrm flipH="1">
            <a:off x="7202921" y="3929702"/>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16" name="Line 648"/>
          <p:cNvSpPr>
            <a:spLocks noChangeShapeType="1"/>
          </p:cNvSpPr>
          <p:nvPr/>
        </p:nvSpPr>
        <p:spPr bwMode="auto">
          <a:xfrm flipH="1">
            <a:off x="7161646" y="399320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17" name="Line 649"/>
          <p:cNvSpPr>
            <a:spLocks noChangeShapeType="1"/>
          </p:cNvSpPr>
          <p:nvPr/>
        </p:nvSpPr>
        <p:spPr bwMode="auto">
          <a:xfrm>
            <a:off x="7190221" y="4056702"/>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18" name="Line 650"/>
          <p:cNvSpPr>
            <a:spLocks noChangeShapeType="1"/>
          </p:cNvSpPr>
          <p:nvPr/>
        </p:nvSpPr>
        <p:spPr bwMode="auto">
          <a:xfrm>
            <a:off x="7231496" y="4120202"/>
            <a:ext cx="7938"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19" name="Line 651"/>
          <p:cNvSpPr>
            <a:spLocks noChangeShapeType="1"/>
          </p:cNvSpPr>
          <p:nvPr/>
        </p:nvSpPr>
        <p:spPr bwMode="auto">
          <a:xfrm>
            <a:off x="7274359" y="418211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20" name="Line 652"/>
          <p:cNvSpPr>
            <a:spLocks noChangeShapeType="1"/>
          </p:cNvSpPr>
          <p:nvPr/>
        </p:nvSpPr>
        <p:spPr bwMode="auto">
          <a:xfrm>
            <a:off x="7315634" y="4245615"/>
            <a:ext cx="7937"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21" name="Line 653"/>
          <p:cNvSpPr>
            <a:spLocks noChangeShapeType="1"/>
          </p:cNvSpPr>
          <p:nvPr/>
        </p:nvSpPr>
        <p:spPr bwMode="auto">
          <a:xfrm>
            <a:off x="7358496" y="430911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22" name="Line 654"/>
          <p:cNvSpPr>
            <a:spLocks noChangeShapeType="1"/>
          </p:cNvSpPr>
          <p:nvPr/>
        </p:nvSpPr>
        <p:spPr bwMode="auto">
          <a:xfrm>
            <a:off x="7399771" y="4372615"/>
            <a:ext cx="7938"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23" name="Line 655"/>
          <p:cNvSpPr>
            <a:spLocks noChangeShapeType="1"/>
          </p:cNvSpPr>
          <p:nvPr/>
        </p:nvSpPr>
        <p:spPr bwMode="auto">
          <a:xfrm>
            <a:off x="7442634" y="443452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24" name="Line 656"/>
          <p:cNvSpPr>
            <a:spLocks noChangeShapeType="1"/>
          </p:cNvSpPr>
          <p:nvPr/>
        </p:nvSpPr>
        <p:spPr bwMode="auto">
          <a:xfrm>
            <a:off x="7483909" y="4498027"/>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25" name="Line 657"/>
          <p:cNvSpPr>
            <a:spLocks noChangeShapeType="1"/>
          </p:cNvSpPr>
          <p:nvPr/>
        </p:nvSpPr>
        <p:spPr bwMode="auto">
          <a:xfrm>
            <a:off x="7526771" y="456152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26" name="Line 658"/>
          <p:cNvSpPr>
            <a:spLocks noChangeShapeType="1"/>
          </p:cNvSpPr>
          <p:nvPr/>
        </p:nvSpPr>
        <p:spPr bwMode="auto">
          <a:xfrm>
            <a:off x="7568046" y="4625027"/>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27" name="Line 659"/>
          <p:cNvSpPr>
            <a:spLocks noChangeShapeType="1"/>
          </p:cNvSpPr>
          <p:nvPr/>
        </p:nvSpPr>
        <p:spPr bwMode="auto">
          <a:xfrm>
            <a:off x="7610909" y="4688527"/>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28" name="Line 660"/>
          <p:cNvSpPr>
            <a:spLocks noChangeShapeType="1"/>
          </p:cNvSpPr>
          <p:nvPr/>
        </p:nvSpPr>
        <p:spPr bwMode="auto">
          <a:xfrm>
            <a:off x="7652184" y="4750440"/>
            <a:ext cx="7937"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29" name="Line 661"/>
          <p:cNvSpPr>
            <a:spLocks noChangeShapeType="1"/>
          </p:cNvSpPr>
          <p:nvPr/>
        </p:nvSpPr>
        <p:spPr bwMode="auto">
          <a:xfrm>
            <a:off x="7695046" y="481394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30" name="Line 662"/>
          <p:cNvSpPr>
            <a:spLocks noChangeShapeType="1"/>
          </p:cNvSpPr>
          <p:nvPr/>
        </p:nvSpPr>
        <p:spPr bwMode="auto">
          <a:xfrm>
            <a:off x="7736321" y="4877440"/>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31" name="Line 663"/>
          <p:cNvSpPr>
            <a:spLocks noChangeShapeType="1"/>
          </p:cNvSpPr>
          <p:nvPr/>
        </p:nvSpPr>
        <p:spPr bwMode="auto">
          <a:xfrm>
            <a:off x="7779184" y="4940940"/>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32" name="Line 664"/>
          <p:cNvSpPr>
            <a:spLocks noChangeShapeType="1"/>
          </p:cNvSpPr>
          <p:nvPr/>
        </p:nvSpPr>
        <p:spPr bwMode="auto">
          <a:xfrm>
            <a:off x="7820459" y="5004440"/>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33" name="Line 665"/>
          <p:cNvSpPr>
            <a:spLocks noChangeShapeType="1"/>
          </p:cNvSpPr>
          <p:nvPr/>
        </p:nvSpPr>
        <p:spPr bwMode="auto">
          <a:xfrm>
            <a:off x="7863321" y="506635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34" name="Line 666"/>
          <p:cNvSpPr>
            <a:spLocks noChangeShapeType="1"/>
          </p:cNvSpPr>
          <p:nvPr/>
        </p:nvSpPr>
        <p:spPr bwMode="auto">
          <a:xfrm>
            <a:off x="7904596" y="5129852"/>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35" name="Line 667"/>
          <p:cNvSpPr>
            <a:spLocks noChangeShapeType="1"/>
          </p:cNvSpPr>
          <p:nvPr/>
        </p:nvSpPr>
        <p:spPr bwMode="auto">
          <a:xfrm>
            <a:off x="7947459" y="519335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36" name="Line 668"/>
          <p:cNvSpPr>
            <a:spLocks noChangeShapeType="1"/>
          </p:cNvSpPr>
          <p:nvPr/>
        </p:nvSpPr>
        <p:spPr bwMode="auto">
          <a:xfrm>
            <a:off x="7988734" y="5256852"/>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37" name="Line 669"/>
          <p:cNvSpPr>
            <a:spLocks noChangeShapeType="1"/>
          </p:cNvSpPr>
          <p:nvPr/>
        </p:nvSpPr>
        <p:spPr bwMode="auto">
          <a:xfrm>
            <a:off x="8031596" y="5320352"/>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38" name="Line 670"/>
          <p:cNvSpPr>
            <a:spLocks noChangeShapeType="1"/>
          </p:cNvSpPr>
          <p:nvPr/>
        </p:nvSpPr>
        <p:spPr bwMode="auto">
          <a:xfrm>
            <a:off x="8072871" y="5382265"/>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39" name="Line 671"/>
          <p:cNvSpPr>
            <a:spLocks noChangeShapeType="1"/>
          </p:cNvSpPr>
          <p:nvPr/>
        </p:nvSpPr>
        <p:spPr bwMode="auto">
          <a:xfrm>
            <a:off x="8115734" y="544576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40" name="Line 672"/>
          <p:cNvSpPr>
            <a:spLocks noChangeShapeType="1"/>
          </p:cNvSpPr>
          <p:nvPr/>
        </p:nvSpPr>
        <p:spPr bwMode="auto">
          <a:xfrm>
            <a:off x="8158596" y="550926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41" name="Line 673"/>
          <p:cNvSpPr>
            <a:spLocks noChangeShapeType="1"/>
          </p:cNvSpPr>
          <p:nvPr/>
        </p:nvSpPr>
        <p:spPr bwMode="auto">
          <a:xfrm>
            <a:off x="8199871" y="5572765"/>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42" name="Line 674"/>
          <p:cNvSpPr>
            <a:spLocks noChangeShapeType="1"/>
          </p:cNvSpPr>
          <p:nvPr/>
        </p:nvSpPr>
        <p:spPr bwMode="auto">
          <a:xfrm>
            <a:off x="8242734" y="5636265"/>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43" name="Line 675"/>
          <p:cNvSpPr>
            <a:spLocks noChangeShapeType="1"/>
          </p:cNvSpPr>
          <p:nvPr/>
        </p:nvSpPr>
        <p:spPr bwMode="auto">
          <a:xfrm flipV="1">
            <a:off x="8287184" y="5636265"/>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44" name="Line 676"/>
          <p:cNvSpPr>
            <a:spLocks noChangeShapeType="1"/>
          </p:cNvSpPr>
          <p:nvPr/>
        </p:nvSpPr>
        <p:spPr bwMode="auto">
          <a:xfrm flipV="1">
            <a:off x="8336396" y="5575940"/>
            <a:ext cx="11113"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45" name="Line 677"/>
          <p:cNvSpPr>
            <a:spLocks noChangeShapeType="1"/>
          </p:cNvSpPr>
          <p:nvPr/>
        </p:nvSpPr>
        <p:spPr bwMode="auto">
          <a:xfrm flipV="1">
            <a:off x="8388784" y="5515615"/>
            <a:ext cx="11112"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46" name="Line 678"/>
          <p:cNvSpPr>
            <a:spLocks noChangeShapeType="1"/>
          </p:cNvSpPr>
          <p:nvPr/>
        </p:nvSpPr>
        <p:spPr bwMode="auto">
          <a:xfrm flipV="1">
            <a:off x="8442759" y="546005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47" name="Line 679"/>
          <p:cNvSpPr>
            <a:spLocks noChangeShapeType="1"/>
          </p:cNvSpPr>
          <p:nvPr/>
        </p:nvSpPr>
        <p:spPr bwMode="auto">
          <a:xfrm flipV="1">
            <a:off x="8490384" y="5404490"/>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48" name="Line 680"/>
          <p:cNvSpPr>
            <a:spLocks noChangeShapeType="1"/>
          </p:cNvSpPr>
          <p:nvPr/>
        </p:nvSpPr>
        <p:spPr bwMode="auto">
          <a:xfrm flipV="1">
            <a:off x="8539596" y="5347340"/>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49" name="Line 681"/>
          <p:cNvSpPr>
            <a:spLocks noChangeShapeType="1"/>
          </p:cNvSpPr>
          <p:nvPr/>
        </p:nvSpPr>
        <p:spPr bwMode="auto">
          <a:xfrm flipV="1">
            <a:off x="8588809" y="5291777"/>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50" name="Line 682"/>
          <p:cNvSpPr>
            <a:spLocks noChangeShapeType="1"/>
          </p:cNvSpPr>
          <p:nvPr/>
        </p:nvSpPr>
        <p:spPr bwMode="auto">
          <a:xfrm flipV="1">
            <a:off x="8638021" y="5236215"/>
            <a:ext cx="11113"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51" name="Line 683"/>
          <p:cNvSpPr>
            <a:spLocks noChangeShapeType="1"/>
          </p:cNvSpPr>
          <p:nvPr/>
        </p:nvSpPr>
        <p:spPr bwMode="auto">
          <a:xfrm flipV="1">
            <a:off x="8690409" y="5179065"/>
            <a:ext cx="7937"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52" name="Line 684"/>
          <p:cNvSpPr>
            <a:spLocks noChangeShapeType="1"/>
          </p:cNvSpPr>
          <p:nvPr/>
        </p:nvSpPr>
        <p:spPr bwMode="auto">
          <a:xfrm flipV="1">
            <a:off x="8739621" y="5123502"/>
            <a:ext cx="7938"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53" name="Line 685"/>
          <p:cNvSpPr>
            <a:spLocks noChangeShapeType="1"/>
          </p:cNvSpPr>
          <p:nvPr/>
        </p:nvSpPr>
        <p:spPr bwMode="auto">
          <a:xfrm flipV="1">
            <a:off x="8788834" y="5066352"/>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54" name="Line 686"/>
          <p:cNvSpPr>
            <a:spLocks noChangeShapeType="1"/>
          </p:cNvSpPr>
          <p:nvPr/>
        </p:nvSpPr>
        <p:spPr bwMode="auto">
          <a:xfrm flipV="1">
            <a:off x="8838046" y="5010790"/>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55" name="Freeform 687"/>
          <p:cNvSpPr>
            <a:spLocks/>
          </p:cNvSpPr>
          <p:nvPr/>
        </p:nvSpPr>
        <p:spPr bwMode="auto">
          <a:xfrm>
            <a:off x="8887259" y="4955227"/>
            <a:ext cx="7937" cy="9525"/>
          </a:xfrm>
          <a:custGeom>
            <a:avLst/>
            <a:gdLst/>
            <a:ahLst/>
            <a:cxnLst>
              <a:cxn ang="0">
                <a:pos x="0" y="3"/>
              </a:cxn>
              <a:cxn ang="0">
                <a:pos x="2" y="1"/>
              </a:cxn>
              <a:cxn ang="0">
                <a:pos x="2" y="0"/>
              </a:cxn>
            </a:cxnLst>
            <a:rect l="0" t="0" r="r" b="b"/>
            <a:pathLst>
              <a:path w="2" h="3">
                <a:moveTo>
                  <a:pt x="0" y="3"/>
                </a:moveTo>
                <a:lnTo>
                  <a:pt x="2" y="1"/>
                </a:lnTo>
                <a:lnTo>
                  <a:pt x="2" y="0"/>
                </a:lnTo>
              </a:path>
            </a:pathLst>
          </a:custGeom>
          <a:noFill/>
          <a:ln w="14288">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56" name="Line 688"/>
          <p:cNvSpPr>
            <a:spLocks noChangeShapeType="1"/>
          </p:cNvSpPr>
          <p:nvPr/>
        </p:nvSpPr>
        <p:spPr bwMode="auto">
          <a:xfrm flipV="1">
            <a:off x="8922184" y="4888552"/>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57" name="Line 689"/>
          <p:cNvSpPr>
            <a:spLocks noChangeShapeType="1"/>
          </p:cNvSpPr>
          <p:nvPr/>
        </p:nvSpPr>
        <p:spPr bwMode="auto">
          <a:xfrm flipV="1">
            <a:off x="8957109" y="4821877"/>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58" name="Line 690"/>
          <p:cNvSpPr>
            <a:spLocks noChangeShapeType="1"/>
          </p:cNvSpPr>
          <p:nvPr/>
        </p:nvSpPr>
        <p:spPr bwMode="auto">
          <a:xfrm flipV="1">
            <a:off x="8993621" y="4755202"/>
            <a:ext cx="3175"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59" name="Line 691"/>
          <p:cNvSpPr>
            <a:spLocks noChangeShapeType="1"/>
          </p:cNvSpPr>
          <p:nvPr/>
        </p:nvSpPr>
        <p:spPr bwMode="auto">
          <a:xfrm flipV="1">
            <a:off x="9023784" y="4688527"/>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60" name="Line 692"/>
          <p:cNvSpPr>
            <a:spLocks noChangeShapeType="1"/>
          </p:cNvSpPr>
          <p:nvPr/>
        </p:nvSpPr>
        <p:spPr bwMode="auto">
          <a:xfrm flipV="1">
            <a:off x="9060296" y="4621852"/>
            <a:ext cx="3175"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61" name="Line 693"/>
          <p:cNvSpPr>
            <a:spLocks noChangeShapeType="1"/>
          </p:cNvSpPr>
          <p:nvPr/>
        </p:nvSpPr>
        <p:spPr bwMode="auto">
          <a:xfrm flipV="1">
            <a:off x="9090459" y="4555177"/>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62" name="Line 694"/>
          <p:cNvSpPr>
            <a:spLocks noChangeShapeType="1"/>
          </p:cNvSpPr>
          <p:nvPr/>
        </p:nvSpPr>
        <p:spPr bwMode="auto">
          <a:xfrm flipV="1">
            <a:off x="9125384" y="4488502"/>
            <a:ext cx="4762"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63" name="Line 695"/>
          <p:cNvSpPr>
            <a:spLocks noChangeShapeType="1"/>
          </p:cNvSpPr>
          <p:nvPr/>
        </p:nvSpPr>
        <p:spPr bwMode="auto">
          <a:xfrm flipV="1">
            <a:off x="9157134" y="4421827"/>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64" name="Line 696"/>
          <p:cNvSpPr>
            <a:spLocks noChangeShapeType="1"/>
          </p:cNvSpPr>
          <p:nvPr/>
        </p:nvSpPr>
        <p:spPr bwMode="auto">
          <a:xfrm flipV="1">
            <a:off x="9192059" y="4355152"/>
            <a:ext cx="4762"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65" name="Line 697"/>
          <p:cNvSpPr>
            <a:spLocks noChangeShapeType="1"/>
          </p:cNvSpPr>
          <p:nvPr/>
        </p:nvSpPr>
        <p:spPr bwMode="auto">
          <a:xfrm flipV="1">
            <a:off x="9223809" y="4288477"/>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66" name="Line 698"/>
          <p:cNvSpPr>
            <a:spLocks noChangeShapeType="1"/>
          </p:cNvSpPr>
          <p:nvPr/>
        </p:nvSpPr>
        <p:spPr bwMode="auto">
          <a:xfrm flipV="1">
            <a:off x="9258734" y="4221802"/>
            <a:ext cx="4762"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67" name="Line 699"/>
          <p:cNvSpPr>
            <a:spLocks noChangeShapeType="1"/>
          </p:cNvSpPr>
          <p:nvPr/>
        </p:nvSpPr>
        <p:spPr bwMode="auto">
          <a:xfrm flipV="1">
            <a:off x="9290484" y="4155127"/>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68" name="Line 700"/>
          <p:cNvSpPr>
            <a:spLocks noChangeShapeType="1"/>
          </p:cNvSpPr>
          <p:nvPr/>
        </p:nvSpPr>
        <p:spPr bwMode="auto">
          <a:xfrm flipV="1">
            <a:off x="9325409" y="4088452"/>
            <a:ext cx="4762"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69" name="Line 701"/>
          <p:cNvSpPr>
            <a:spLocks noChangeShapeType="1"/>
          </p:cNvSpPr>
          <p:nvPr/>
        </p:nvSpPr>
        <p:spPr bwMode="auto">
          <a:xfrm flipV="1">
            <a:off x="9357159" y="4021777"/>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70" name="Line 702"/>
          <p:cNvSpPr>
            <a:spLocks noChangeShapeType="1"/>
          </p:cNvSpPr>
          <p:nvPr/>
        </p:nvSpPr>
        <p:spPr bwMode="auto">
          <a:xfrm>
            <a:off x="8263371" y="235014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71" name="Line 703"/>
          <p:cNvSpPr>
            <a:spLocks noChangeShapeType="1"/>
          </p:cNvSpPr>
          <p:nvPr/>
        </p:nvSpPr>
        <p:spPr bwMode="auto">
          <a:xfrm>
            <a:off x="8304646" y="2413640"/>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72" name="Line 704"/>
          <p:cNvSpPr>
            <a:spLocks noChangeShapeType="1"/>
          </p:cNvSpPr>
          <p:nvPr/>
        </p:nvSpPr>
        <p:spPr bwMode="auto">
          <a:xfrm>
            <a:off x="8347509" y="247714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73" name="Line 705"/>
          <p:cNvSpPr>
            <a:spLocks noChangeShapeType="1"/>
          </p:cNvSpPr>
          <p:nvPr/>
        </p:nvSpPr>
        <p:spPr bwMode="auto">
          <a:xfrm>
            <a:off x="8388784" y="2540640"/>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74" name="Line 706"/>
          <p:cNvSpPr>
            <a:spLocks noChangeShapeType="1"/>
          </p:cNvSpPr>
          <p:nvPr/>
        </p:nvSpPr>
        <p:spPr bwMode="auto">
          <a:xfrm>
            <a:off x="8431646" y="2604140"/>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75" name="Line 707"/>
          <p:cNvSpPr>
            <a:spLocks noChangeShapeType="1"/>
          </p:cNvSpPr>
          <p:nvPr/>
        </p:nvSpPr>
        <p:spPr bwMode="auto">
          <a:xfrm>
            <a:off x="8472921" y="2666052"/>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76" name="Line 708"/>
          <p:cNvSpPr>
            <a:spLocks noChangeShapeType="1"/>
          </p:cNvSpPr>
          <p:nvPr/>
        </p:nvSpPr>
        <p:spPr bwMode="auto">
          <a:xfrm>
            <a:off x="8515784" y="272955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77" name="Line 709"/>
          <p:cNvSpPr>
            <a:spLocks noChangeShapeType="1"/>
          </p:cNvSpPr>
          <p:nvPr/>
        </p:nvSpPr>
        <p:spPr bwMode="auto">
          <a:xfrm>
            <a:off x="8557059" y="2793052"/>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78" name="Line 710"/>
          <p:cNvSpPr>
            <a:spLocks noChangeShapeType="1"/>
          </p:cNvSpPr>
          <p:nvPr/>
        </p:nvSpPr>
        <p:spPr bwMode="auto">
          <a:xfrm>
            <a:off x="8599921" y="2856552"/>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79" name="Line 711"/>
          <p:cNvSpPr>
            <a:spLocks noChangeShapeType="1"/>
          </p:cNvSpPr>
          <p:nvPr/>
        </p:nvSpPr>
        <p:spPr bwMode="auto">
          <a:xfrm>
            <a:off x="8642784" y="291846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80" name="Line 712"/>
          <p:cNvSpPr>
            <a:spLocks noChangeShapeType="1"/>
          </p:cNvSpPr>
          <p:nvPr/>
        </p:nvSpPr>
        <p:spPr bwMode="auto">
          <a:xfrm>
            <a:off x="8684059" y="298196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81" name="Line 713"/>
          <p:cNvSpPr>
            <a:spLocks noChangeShapeType="1"/>
          </p:cNvSpPr>
          <p:nvPr/>
        </p:nvSpPr>
        <p:spPr bwMode="auto">
          <a:xfrm>
            <a:off x="8726921" y="3045465"/>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82" name="Line 714"/>
          <p:cNvSpPr>
            <a:spLocks noChangeShapeType="1"/>
          </p:cNvSpPr>
          <p:nvPr/>
        </p:nvSpPr>
        <p:spPr bwMode="auto">
          <a:xfrm>
            <a:off x="8768196" y="3108965"/>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83" name="Line 715"/>
          <p:cNvSpPr>
            <a:spLocks noChangeShapeType="1"/>
          </p:cNvSpPr>
          <p:nvPr/>
        </p:nvSpPr>
        <p:spPr bwMode="auto">
          <a:xfrm>
            <a:off x="8811059" y="3172465"/>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84" name="Line 716"/>
          <p:cNvSpPr>
            <a:spLocks noChangeShapeType="1"/>
          </p:cNvSpPr>
          <p:nvPr/>
        </p:nvSpPr>
        <p:spPr bwMode="auto">
          <a:xfrm>
            <a:off x="8852334" y="3234377"/>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85" name="Line 717"/>
          <p:cNvSpPr>
            <a:spLocks noChangeShapeType="1"/>
          </p:cNvSpPr>
          <p:nvPr/>
        </p:nvSpPr>
        <p:spPr bwMode="auto">
          <a:xfrm>
            <a:off x="8895196" y="3297877"/>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86" name="Line 718"/>
          <p:cNvSpPr>
            <a:spLocks noChangeShapeType="1"/>
          </p:cNvSpPr>
          <p:nvPr/>
        </p:nvSpPr>
        <p:spPr bwMode="auto">
          <a:xfrm>
            <a:off x="8936471" y="3361377"/>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87" name="Line 719"/>
          <p:cNvSpPr>
            <a:spLocks noChangeShapeType="1"/>
          </p:cNvSpPr>
          <p:nvPr/>
        </p:nvSpPr>
        <p:spPr bwMode="auto">
          <a:xfrm>
            <a:off x="8979334" y="3424877"/>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88" name="Line 720"/>
          <p:cNvSpPr>
            <a:spLocks noChangeShapeType="1"/>
          </p:cNvSpPr>
          <p:nvPr/>
        </p:nvSpPr>
        <p:spPr bwMode="auto">
          <a:xfrm>
            <a:off x="9020609" y="3488377"/>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89" name="Line 721"/>
          <p:cNvSpPr>
            <a:spLocks noChangeShapeType="1"/>
          </p:cNvSpPr>
          <p:nvPr/>
        </p:nvSpPr>
        <p:spPr bwMode="auto">
          <a:xfrm>
            <a:off x="9063471" y="355029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90" name="Line 722"/>
          <p:cNvSpPr>
            <a:spLocks noChangeShapeType="1"/>
          </p:cNvSpPr>
          <p:nvPr/>
        </p:nvSpPr>
        <p:spPr bwMode="auto">
          <a:xfrm>
            <a:off x="9104746" y="3613790"/>
            <a:ext cx="7938"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91" name="Line 723"/>
          <p:cNvSpPr>
            <a:spLocks noChangeShapeType="1"/>
          </p:cNvSpPr>
          <p:nvPr/>
        </p:nvSpPr>
        <p:spPr bwMode="auto">
          <a:xfrm>
            <a:off x="9147609" y="3677290"/>
            <a:ext cx="6350" cy="11112"/>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92" name="Line 724"/>
          <p:cNvSpPr>
            <a:spLocks noChangeShapeType="1"/>
          </p:cNvSpPr>
          <p:nvPr/>
        </p:nvSpPr>
        <p:spPr bwMode="auto">
          <a:xfrm>
            <a:off x="9188884" y="3740790"/>
            <a:ext cx="7937"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93" name="Line 725"/>
          <p:cNvSpPr>
            <a:spLocks noChangeShapeType="1"/>
          </p:cNvSpPr>
          <p:nvPr/>
        </p:nvSpPr>
        <p:spPr bwMode="auto">
          <a:xfrm>
            <a:off x="9231746" y="3804290"/>
            <a:ext cx="6350" cy="9525"/>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94" name="Line 726"/>
          <p:cNvSpPr>
            <a:spLocks noChangeShapeType="1"/>
          </p:cNvSpPr>
          <p:nvPr/>
        </p:nvSpPr>
        <p:spPr bwMode="auto">
          <a:xfrm>
            <a:off x="9273021" y="3866202"/>
            <a:ext cx="7938"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95" name="Line 727"/>
          <p:cNvSpPr>
            <a:spLocks noChangeShapeType="1"/>
          </p:cNvSpPr>
          <p:nvPr/>
        </p:nvSpPr>
        <p:spPr bwMode="auto">
          <a:xfrm>
            <a:off x="9315884" y="3929702"/>
            <a:ext cx="6350"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
        <p:nvSpPr>
          <p:cNvPr id="1496" name="Line 728"/>
          <p:cNvSpPr>
            <a:spLocks noChangeShapeType="1"/>
          </p:cNvSpPr>
          <p:nvPr/>
        </p:nvSpPr>
        <p:spPr bwMode="auto">
          <a:xfrm>
            <a:off x="9357159" y="3993202"/>
            <a:ext cx="7937" cy="11113"/>
          </a:xfrm>
          <a:prstGeom prst="line">
            <a:avLst/>
          </a:prstGeom>
          <a:noFill/>
          <a:ln w="14288">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smtClean="0">
              <a:ln>
                <a:noFill/>
              </a:ln>
              <a:solidFill>
                <a:sysClr val="windowText" lastClr="000000"/>
              </a:solidFill>
              <a:effectLst/>
              <a:uLnTx/>
              <a:uFillTx/>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Modelo de </a:t>
            </a:r>
            <a:r>
              <a:rPr lang="es-CL" dirty="0" err="1" smtClean="0"/>
              <a:t>Prototipación</a:t>
            </a:r>
            <a:endParaRPr lang="en-US" dirty="0"/>
          </a:p>
        </p:txBody>
      </p:sp>
      <p:sp>
        <p:nvSpPr>
          <p:cNvPr id="32" name="31 CuadroTexto"/>
          <p:cNvSpPr txBox="1"/>
          <p:nvPr/>
        </p:nvSpPr>
        <p:spPr>
          <a:xfrm>
            <a:off x="443307" y="1825853"/>
            <a:ext cx="11443893" cy="1219821"/>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sz="1700" dirty="0" smtClean="0">
                <a:solidFill>
                  <a:srgbClr val="002060"/>
                </a:solidFill>
              </a:rPr>
              <a:t>Permite la construcción rápida del sistema (o parte de éste).</a:t>
            </a:r>
          </a:p>
          <a:p>
            <a:pPr marL="273050" indent="-273050">
              <a:lnSpc>
                <a:spcPct val="150000"/>
              </a:lnSpc>
              <a:buFont typeface="Wingdings" pitchFamily="2" charset="2"/>
              <a:buChar char="q"/>
            </a:pPr>
            <a:r>
              <a:rPr lang="es-ES" altLang="es-ES" sz="1700" dirty="0" smtClean="0">
                <a:solidFill>
                  <a:srgbClr val="002060"/>
                </a:solidFill>
              </a:rPr>
              <a:t>Usuario y desarrollador tienen una visión común.</a:t>
            </a:r>
          </a:p>
          <a:p>
            <a:pPr marL="273050" indent="-273050">
              <a:lnSpc>
                <a:spcPct val="150000"/>
              </a:lnSpc>
              <a:buFont typeface="Wingdings" pitchFamily="2" charset="2"/>
              <a:buChar char="q"/>
            </a:pPr>
            <a:r>
              <a:rPr lang="es-ES" altLang="es-ES" sz="1700" dirty="0" smtClean="0">
                <a:solidFill>
                  <a:srgbClr val="002060"/>
                </a:solidFill>
              </a:rPr>
              <a:t>Se reduce el riesgo y la incertidumbre del desarrollo.</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Modelo de </a:t>
            </a:r>
            <a:r>
              <a:rPr lang="es-CL" dirty="0" err="1" smtClean="0"/>
              <a:t>Prototipación</a:t>
            </a:r>
            <a:endParaRPr lang="en-US" dirty="0"/>
          </a:p>
        </p:txBody>
      </p:sp>
      <p:sp>
        <p:nvSpPr>
          <p:cNvPr id="4" name="AutoShape 3"/>
          <p:cNvSpPr>
            <a:spLocks noChangeAspect="1" noChangeArrowheads="1" noTextEdit="1"/>
          </p:cNvSpPr>
          <p:nvPr/>
        </p:nvSpPr>
        <p:spPr bwMode="auto">
          <a:xfrm>
            <a:off x="2760147" y="2285320"/>
            <a:ext cx="6848475" cy="2841625"/>
          </a:xfrm>
          <a:prstGeom prst="rect">
            <a:avLst/>
          </a:prstGeom>
          <a:noFill/>
          <a:ln w="9525">
            <a:noFill/>
            <a:miter lim="800000"/>
            <a:headEnd/>
            <a:tailEnd/>
          </a:ln>
        </p:spPr>
        <p:txBody>
          <a:bodyPr/>
          <a:lstStyle/>
          <a:p>
            <a:endParaRPr lang="es-ES"/>
          </a:p>
        </p:txBody>
      </p:sp>
      <p:sp>
        <p:nvSpPr>
          <p:cNvPr id="5" name="Rectangle 4"/>
          <p:cNvSpPr>
            <a:spLocks noChangeArrowheads="1"/>
          </p:cNvSpPr>
          <p:nvPr/>
        </p:nvSpPr>
        <p:spPr bwMode="auto">
          <a:xfrm>
            <a:off x="2790310" y="3556907"/>
            <a:ext cx="1357312" cy="619125"/>
          </a:xfrm>
          <a:prstGeom prst="rect">
            <a:avLst/>
          </a:prstGeom>
          <a:solidFill>
            <a:srgbClr val="FFCC66"/>
          </a:solidFill>
          <a:ln w="12700">
            <a:solidFill>
              <a:srgbClr val="000000"/>
            </a:solidFill>
            <a:miter lim="800000"/>
            <a:headEnd/>
            <a:tailEnd/>
          </a:ln>
        </p:spPr>
        <p:txBody>
          <a:bodyPr/>
          <a:lstStyle/>
          <a:p>
            <a:endParaRPr lang="es-ES"/>
          </a:p>
        </p:txBody>
      </p:sp>
      <p:sp>
        <p:nvSpPr>
          <p:cNvPr id="6" name="Rectangle 5"/>
          <p:cNvSpPr>
            <a:spLocks noChangeArrowheads="1"/>
          </p:cNvSpPr>
          <p:nvPr/>
        </p:nvSpPr>
        <p:spPr bwMode="auto">
          <a:xfrm>
            <a:off x="2841110" y="3663270"/>
            <a:ext cx="1270000" cy="182562"/>
          </a:xfrm>
          <a:prstGeom prst="rect">
            <a:avLst/>
          </a:prstGeom>
          <a:noFill/>
          <a:ln w="9525">
            <a:noFill/>
            <a:miter lim="800000"/>
            <a:headEnd/>
            <a:tailEnd/>
          </a:ln>
        </p:spPr>
        <p:txBody>
          <a:bodyPr wrap="none" lIns="0" tIns="0" rIns="0" bIns="0">
            <a:spAutoFit/>
          </a:bodyPr>
          <a:lstStyle/>
          <a:p>
            <a:r>
              <a:rPr lang="es-ES" sz="1200">
                <a:solidFill>
                  <a:srgbClr val="000000"/>
                </a:solidFill>
                <a:effectLst/>
                <a:latin typeface="Tahoma" pitchFamily="34" charset="0"/>
              </a:rPr>
              <a:t>REQUERIMIENTOS</a:t>
            </a:r>
            <a:endParaRPr lang="es-ES" sz="1800">
              <a:effectLst/>
            </a:endParaRPr>
          </a:p>
        </p:txBody>
      </p:sp>
      <p:sp>
        <p:nvSpPr>
          <p:cNvPr id="7" name="Rectangle 6"/>
          <p:cNvSpPr>
            <a:spLocks noChangeArrowheads="1"/>
          </p:cNvSpPr>
          <p:nvPr/>
        </p:nvSpPr>
        <p:spPr bwMode="auto">
          <a:xfrm>
            <a:off x="2907785" y="3849007"/>
            <a:ext cx="1135062" cy="182563"/>
          </a:xfrm>
          <a:prstGeom prst="rect">
            <a:avLst/>
          </a:prstGeom>
          <a:noFill/>
          <a:ln w="9525">
            <a:noFill/>
            <a:miter lim="800000"/>
            <a:headEnd/>
            <a:tailEnd/>
          </a:ln>
        </p:spPr>
        <p:txBody>
          <a:bodyPr wrap="none" lIns="0" tIns="0" rIns="0" bIns="0">
            <a:spAutoFit/>
          </a:bodyPr>
          <a:lstStyle/>
          <a:p>
            <a:r>
              <a:rPr lang="es-ES" sz="1200">
                <a:solidFill>
                  <a:srgbClr val="000000"/>
                </a:solidFill>
                <a:effectLst/>
                <a:latin typeface="Tahoma" pitchFamily="34" charset="0"/>
              </a:rPr>
              <a:t>DEL PROTOTIPO</a:t>
            </a:r>
            <a:endParaRPr lang="es-ES" sz="1800">
              <a:effectLst/>
            </a:endParaRPr>
          </a:p>
        </p:txBody>
      </p:sp>
      <p:sp>
        <p:nvSpPr>
          <p:cNvPr id="8" name="Rectangle 7"/>
          <p:cNvSpPr>
            <a:spLocks noChangeArrowheads="1"/>
          </p:cNvSpPr>
          <p:nvPr/>
        </p:nvSpPr>
        <p:spPr bwMode="auto">
          <a:xfrm>
            <a:off x="4600060" y="3556907"/>
            <a:ext cx="1355725" cy="619125"/>
          </a:xfrm>
          <a:prstGeom prst="rect">
            <a:avLst/>
          </a:prstGeom>
          <a:solidFill>
            <a:srgbClr val="FFCC66"/>
          </a:solidFill>
          <a:ln w="12700">
            <a:solidFill>
              <a:srgbClr val="000000"/>
            </a:solidFill>
            <a:miter lim="800000"/>
            <a:headEnd/>
            <a:tailEnd/>
          </a:ln>
        </p:spPr>
        <p:txBody>
          <a:bodyPr/>
          <a:lstStyle/>
          <a:p>
            <a:endParaRPr lang="es-ES"/>
          </a:p>
        </p:txBody>
      </p:sp>
      <p:sp>
        <p:nvSpPr>
          <p:cNvPr id="9" name="Rectangle 8"/>
          <p:cNvSpPr>
            <a:spLocks noChangeArrowheads="1"/>
          </p:cNvSpPr>
          <p:nvPr/>
        </p:nvSpPr>
        <p:spPr bwMode="auto">
          <a:xfrm>
            <a:off x="4857235" y="3663270"/>
            <a:ext cx="852487" cy="182562"/>
          </a:xfrm>
          <a:prstGeom prst="rect">
            <a:avLst/>
          </a:prstGeom>
          <a:noFill/>
          <a:ln w="9525">
            <a:noFill/>
            <a:miter lim="800000"/>
            <a:headEnd/>
            <a:tailEnd/>
          </a:ln>
        </p:spPr>
        <p:txBody>
          <a:bodyPr wrap="none" lIns="0" tIns="0" rIns="0" bIns="0">
            <a:spAutoFit/>
          </a:bodyPr>
          <a:lstStyle/>
          <a:p>
            <a:r>
              <a:rPr lang="es-ES" sz="1200">
                <a:solidFill>
                  <a:srgbClr val="000000"/>
                </a:solidFill>
                <a:effectLst/>
                <a:latin typeface="Tahoma" pitchFamily="34" charset="0"/>
              </a:rPr>
              <a:t>DISEÑO DEL</a:t>
            </a:r>
            <a:endParaRPr lang="es-ES" sz="1800">
              <a:effectLst/>
            </a:endParaRPr>
          </a:p>
        </p:txBody>
      </p:sp>
      <p:sp>
        <p:nvSpPr>
          <p:cNvPr id="10" name="Rectangle 9"/>
          <p:cNvSpPr>
            <a:spLocks noChangeArrowheads="1"/>
          </p:cNvSpPr>
          <p:nvPr/>
        </p:nvSpPr>
        <p:spPr bwMode="auto">
          <a:xfrm>
            <a:off x="4871522" y="3849007"/>
            <a:ext cx="822325" cy="182563"/>
          </a:xfrm>
          <a:prstGeom prst="rect">
            <a:avLst/>
          </a:prstGeom>
          <a:noFill/>
          <a:ln w="9525">
            <a:noFill/>
            <a:miter lim="800000"/>
            <a:headEnd/>
            <a:tailEnd/>
          </a:ln>
        </p:spPr>
        <p:txBody>
          <a:bodyPr wrap="none" lIns="0" tIns="0" rIns="0" bIns="0">
            <a:spAutoFit/>
          </a:bodyPr>
          <a:lstStyle/>
          <a:p>
            <a:r>
              <a:rPr lang="es-ES" sz="1200">
                <a:solidFill>
                  <a:srgbClr val="000000"/>
                </a:solidFill>
                <a:effectLst/>
                <a:latin typeface="Tahoma" pitchFamily="34" charset="0"/>
              </a:rPr>
              <a:t>PROTOTIPO</a:t>
            </a:r>
            <a:endParaRPr lang="es-ES" sz="1800">
              <a:effectLst/>
            </a:endParaRPr>
          </a:p>
        </p:txBody>
      </p:sp>
      <p:sp>
        <p:nvSpPr>
          <p:cNvPr id="11" name="Rectangle 10"/>
          <p:cNvSpPr>
            <a:spLocks noChangeArrowheads="1"/>
          </p:cNvSpPr>
          <p:nvPr/>
        </p:nvSpPr>
        <p:spPr bwMode="auto">
          <a:xfrm>
            <a:off x="6412985" y="3556907"/>
            <a:ext cx="1355725" cy="619125"/>
          </a:xfrm>
          <a:prstGeom prst="rect">
            <a:avLst/>
          </a:prstGeom>
          <a:solidFill>
            <a:srgbClr val="FFCC66"/>
          </a:solidFill>
          <a:ln w="12700">
            <a:solidFill>
              <a:srgbClr val="000000"/>
            </a:solidFill>
            <a:miter lim="800000"/>
            <a:headEnd/>
            <a:tailEnd/>
          </a:ln>
        </p:spPr>
        <p:txBody>
          <a:bodyPr/>
          <a:lstStyle/>
          <a:p>
            <a:endParaRPr lang="es-ES"/>
          </a:p>
        </p:txBody>
      </p:sp>
      <p:sp>
        <p:nvSpPr>
          <p:cNvPr id="12" name="Rectangle 11"/>
          <p:cNvSpPr>
            <a:spLocks noChangeArrowheads="1"/>
          </p:cNvSpPr>
          <p:nvPr/>
        </p:nvSpPr>
        <p:spPr bwMode="auto">
          <a:xfrm>
            <a:off x="6787635" y="3663270"/>
            <a:ext cx="609600" cy="182562"/>
          </a:xfrm>
          <a:prstGeom prst="rect">
            <a:avLst/>
          </a:prstGeom>
          <a:noFill/>
          <a:ln w="9525">
            <a:noFill/>
            <a:miter lim="800000"/>
            <a:headEnd/>
            <a:tailEnd/>
          </a:ln>
        </p:spPr>
        <p:txBody>
          <a:bodyPr wrap="none" lIns="0" tIns="0" rIns="0" bIns="0">
            <a:spAutoFit/>
          </a:bodyPr>
          <a:lstStyle/>
          <a:p>
            <a:r>
              <a:rPr lang="es-ES" sz="1200">
                <a:solidFill>
                  <a:srgbClr val="000000"/>
                </a:solidFill>
                <a:effectLst/>
                <a:latin typeface="Tahoma" pitchFamily="34" charset="0"/>
              </a:rPr>
              <a:t>SISTEMA</a:t>
            </a:r>
            <a:endParaRPr lang="es-ES" sz="1800">
              <a:effectLst/>
            </a:endParaRPr>
          </a:p>
        </p:txBody>
      </p:sp>
      <p:sp>
        <p:nvSpPr>
          <p:cNvPr id="13" name="Rectangle 12"/>
          <p:cNvSpPr>
            <a:spLocks noChangeArrowheads="1"/>
          </p:cNvSpPr>
          <p:nvPr/>
        </p:nvSpPr>
        <p:spPr bwMode="auto">
          <a:xfrm>
            <a:off x="6682860" y="3849007"/>
            <a:ext cx="822325" cy="182563"/>
          </a:xfrm>
          <a:prstGeom prst="rect">
            <a:avLst/>
          </a:prstGeom>
          <a:noFill/>
          <a:ln w="9525">
            <a:noFill/>
            <a:miter lim="800000"/>
            <a:headEnd/>
            <a:tailEnd/>
          </a:ln>
        </p:spPr>
        <p:txBody>
          <a:bodyPr wrap="none" lIns="0" tIns="0" rIns="0" bIns="0">
            <a:spAutoFit/>
          </a:bodyPr>
          <a:lstStyle/>
          <a:p>
            <a:r>
              <a:rPr lang="es-ES" sz="1200">
                <a:solidFill>
                  <a:srgbClr val="000000"/>
                </a:solidFill>
                <a:effectLst/>
                <a:latin typeface="Tahoma" pitchFamily="34" charset="0"/>
              </a:rPr>
              <a:t>PROTOTIPO</a:t>
            </a:r>
            <a:endParaRPr lang="es-ES" sz="1800">
              <a:effectLst/>
            </a:endParaRPr>
          </a:p>
        </p:txBody>
      </p:sp>
      <p:sp>
        <p:nvSpPr>
          <p:cNvPr id="14" name="Rectangle 13"/>
          <p:cNvSpPr>
            <a:spLocks noChangeArrowheads="1"/>
          </p:cNvSpPr>
          <p:nvPr/>
        </p:nvSpPr>
        <p:spPr bwMode="auto">
          <a:xfrm>
            <a:off x="8221147" y="3556907"/>
            <a:ext cx="1357313" cy="619125"/>
          </a:xfrm>
          <a:prstGeom prst="rect">
            <a:avLst/>
          </a:prstGeom>
          <a:solidFill>
            <a:srgbClr val="FFCC66"/>
          </a:solidFill>
          <a:ln w="12700">
            <a:solidFill>
              <a:srgbClr val="000000"/>
            </a:solidFill>
            <a:miter lim="800000"/>
            <a:headEnd/>
            <a:tailEnd/>
          </a:ln>
        </p:spPr>
        <p:txBody>
          <a:bodyPr/>
          <a:lstStyle/>
          <a:p>
            <a:endParaRPr lang="es-ES"/>
          </a:p>
        </p:txBody>
      </p:sp>
      <p:sp>
        <p:nvSpPr>
          <p:cNvPr id="15" name="Rectangle 14"/>
          <p:cNvSpPr>
            <a:spLocks noChangeArrowheads="1"/>
          </p:cNvSpPr>
          <p:nvPr/>
        </p:nvSpPr>
        <p:spPr bwMode="auto">
          <a:xfrm>
            <a:off x="8600560" y="3755345"/>
            <a:ext cx="608012" cy="182562"/>
          </a:xfrm>
          <a:prstGeom prst="rect">
            <a:avLst/>
          </a:prstGeom>
          <a:noFill/>
          <a:ln w="9525">
            <a:noFill/>
            <a:miter lim="800000"/>
            <a:headEnd/>
            <a:tailEnd/>
          </a:ln>
        </p:spPr>
        <p:txBody>
          <a:bodyPr wrap="none" lIns="0" tIns="0" rIns="0" bIns="0">
            <a:spAutoFit/>
          </a:bodyPr>
          <a:lstStyle/>
          <a:p>
            <a:r>
              <a:rPr lang="es-ES" sz="1200">
                <a:solidFill>
                  <a:srgbClr val="000000"/>
                </a:solidFill>
                <a:effectLst/>
                <a:latin typeface="Tahoma" pitchFamily="34" charset="0"/>
              </a:rPr>
              <a:t>TESTING</a:t>
            </a:r>
            <a:endParaRPr lang="es-ES" sz="1800">
              <a:effectLst/>
            </a:endParaRPr>
          </a:p>
        </p:txBody>
      </p:sp>
      <p:sp>
        <p:nvSpPr>
          <p:cNvPr id="16" name="Freeform 15"/>
          <p:cNvSpPr>
            <a:spLocks/>
          </p:cNvSpPr>
          <p:nvPr/>
        </p:nvSpPr>
        <p:spPr bwMode="auto">
          <a:xfrm>
            <a:off x="2790310" y="2317070"/>
            <a:ext cx="1357312" cy="619125"/>
          </a:xfrm>
          <a:custGeom>
            <a:avLst/>
            <a:gdLst/>
            <a:ahLst/>
            <a:cxnLst>
              <a:cxn ang="0">
                <a:pos x="49" y="390"/>
              </a:cxn>
              <a:cxn ang="0">
                <a:pos x="808" y="390"/>
              </a:cxn>
              <a:cxn ang="0">
                <a:pos x="825" y="386"/>
              </a:cxn>
              <a:cxn ang="0">
                <a:pos x="842" y="375"/>
              </a:cxn>
              <a:cxn ang="0">
                <a:pos x="853" y="360"/>
              </a:cxn>
              <a:cxn ang="0">
                <a:pos x="855" y="340"/>
              </a:cxn>
              <a:cxn ang="0">
                <a:pos x="855" y="47"/>
              </a:cxn>
              <a:cxn ang="0">
                <a:pos x="853" y="30"/>
              </a:cxn>
              <a:cxn ang="0">
                <a:pos x="842" y="13"/>
              </a:cxn>
              <a:cxn ang="0">
                <a:pos x="825" y="2"/>
              </a:cxn>
              <a:cxn ang="0">
                <a:pos x="808" y="0"/>
              </a:cxn>
              <a:cxn ang="0">
                <a:pos x="49" y="0"/>
              </a:cxn>
              <a:cxn ang="0">
                <a:pos x="30" y="2"/>
              </a:cxn>
              <a:cxn ang="0">
                <a:pos x="15" y="13"/>
              </a:cxn>
              <a:cxn ang="0">
                <a:pos x="4" y="30"/>
              </a:cxn>
              <a:cxn ang="0">
                <a:pos x="0" y="47"/>
              </a:cxn>
              <a:cxn ang="0">
                <a:pos x="0" y="340"/>
              </a:cxn>
              <a:cxn ang="0">
                <a:pos x="4" y="360"/>
              </a:cxn>
              <a:cxn ang="0">
                <a:pos x="15" y="375"/>
              </a:cxn>
              <a:cxn ang="0">
                <a:pos x="30" y="386"/>
              </a:cxn>
              <a:cxn ang="0">
                <a:pos x="49" y="390"/>
              </a:cxn>
            </a:cxnLst>
            <a:rect l="0" t="0" r="r" b="b"/>
            <a:pathLst>
              <a:path w="855" h="390">
                <a:moveTo>
                  <a:pt x="49" y="390"/>
                </a:moveTo>
                <a:lnTo>
                  <a:pt x="808" y="390"/>
                </a:lnTo>
                <a:lnTo>
                  <a:pt x="825" y="386"/>
                </a:lnTo>
                <a:lnTo>
                  <a:pt x="842" y="375"/>
                </a:lnTo>
                <a:lnTo>
                  <a:pt x="853" y="360"/>
                </a:lnTo>
                <a:lnTo>
                  <a:pt x="855" y="340"/>
                </a:lnTo>
                <a:lnTo>
                  <a:pt x="855" y="47"/>
                </a:lnTo>
                <a:lnTo>
                  <a:pt x="853" y="30"/>
                </a:lnTo>
                <a:lnTo>
                  <a:pt x="842" y="13"/>
                </a:lnTo>
                <a:lnTo>
                  <a:pt x="825" y="2"/>
                </a:lnTo>
                <a:lnTo>
                  <a:pt x="808" y="0"/>
                </a:lnTo>
                <a:lnTo>
                  <a:pt x="49" y="0"/>
                </a:lnTo>
                <a:lnTo>
                  <a:pt x="30" y="2"/>
                </a:lnTo>
                <a:lnTo>
                  <a:pt x="15" y="13"/>
                </a:lnTo>
                <a:lnTo>
                  <a:pt x="4" y="30"/>
                </a:lnTo>
                <a:lnTo>
                  <a:pt x="0" y="47"/>
                </a:lnTo>
                <a:lnTo>
                  <a:pt x="0" y="340"/>
                </a:lnTo>
                <a:lnTo>
                  <a:pt x="4" y="360"/>
                </a:lnTo>
                <a:lnTo>
                  <a:pt x="15" y="375"/>
                </a:lnTo>
                <a:lnTo>
                  <a:pt x="30" y="386"/>
                </a:lnTo>
                <a:lnTo>
                  <a:pt x="49" y="390"/>
                </a:lnTo>
                <a:close/>
              </a:path>
            </a:pathLst>
          </a:custGeom>
          <a:solidFill>
            <a:srgbClr val="FFCC66"/>
          </a:solidFill>
          <a:ln w="12700">
            <a:solidFill>
              <a:srgbClr val="000000"/>
            </a:solidFill>
            <a:prstDash val="solid"/>
            <a:round/>
            <a:headEnd/>
            <a:tailEnd/>
          </a:ln>
        </p:spPr>
        <p:txBody>
          <a:bodyPr/>
          <a:lstStyle/>
          <a:p>
            <a:endParaRPr lang="es-ES"/>
          </a:p>
        </p:txBody>
      </p:sp>
      <p:sp>
        <p:nvSpPr>
          <p:cNvPr id="17" name="Rectangle 16"/>
          <p:cNvSpPr>
            <a:spLocks noChangeArrowheads="1"/>
          </p:cNvSpPr>
          <p:nvPr/>
        </p:nvSpPr>
        <p:spPr bwMode="auto">
          <a:xfrm>
            <a:off x="3131622" y="2515507"/>
            <a:ext cx="679450" cy="182563"/>
          </a:xfrm>
          <a:prstGeom prst="rect">
            <a:avLst/>
          </a:prstGeom>
          <a:noFill/>
          <a:ln w="9525">
            <a:noFill/>
            <a:miter lim="800000"/>
            <a:headEnd/>
            <a:tailEnd/>
          </a:ln>
        </p:spPr>
        <p:txBody>
          <a:bodyPr wrap="none" lIns="0" tIns="0" rIns="0" bIns="0">
            <a:spAutoFit/>
          </a:bodyPr>
          <a:lstStyle/>
          <a:p>
            <a:r>
              <a:rPr lang="es-ES" sz="1200">
                <a:solidFill>
                  <a:srgbClr val="000000"/>
                </a:solidFill>
                <a:effectLst/>
                <a:latin typeface="Tahoma" pitchFamily="34" charset="0"/>
              </a:rPr>
              <a:t>REVISIÓN</a:t>
            </a:r>
            <a:endParaRPr lang="es-ES" sz="1800">
              <a:effectLst/>
            </a:endParaRPr>
          </a:p>
        </p:txBody>
      </p:sp>
      <p:sp>
        <p:nvSpPr>
          <p:cNvPr id="18" name="Freeform 17"/>
          <p:cNvSpPr>
            <a:spLocks/>
          </p:cNvSpPr>
          <p:nvPr/>
        </p:nvSpPr>
        <p:spPr bwMode="auto">
          <a:xfrm>
            <a:off x="4600060" y="2317070"/>
            <a:ext cx="1355725" cy="619125"/>
          </a:xfrm>
          <a:custGeom>
            <a:avLst/>
            <a:gdLst/>
            <a:ahLst/>
            <a:cxnLst>
              <a:cxn ang="0">
                <a:pos x="48" y="390"/>
              </a:cxn>
              <a:cxn ang="0">
                <a:pos x="808" y="390"/>
              </a:cxn>
              <a:cxn ang="0">
                <a:pos x="827" y="386"/>
              </a:cxn>
              <a:cxn ang="0">
                <a:pos x="842" y="375"/>
              </a:cxn>
              <a:cxn ang="0">
                <a:pos x="852" y="360"/>
              </a:cxn>
              <a:cxn ang="0">
                <a:pos x="854" y="340"/>
              </a:cxn>
              <a:cxn ang="0">
                <a:pos x="854" y="47"/>
              </a:cxn>
              <a:cxn ang="0">
                <a:pos x="852" y="30"/>
              </a:cxn>
              <a:cxn ang="0">
                <a:pos x="842" y="13"/>
              </a:cxn>
              <a:cxn ang="0">
                <a:pos x="827" y="2"/>
              </a:cxn>
              <a:cxn ang="0">
                <a:pos x="808" y="0"/>
              </a:cxn>
              <a:cxn ang="0">
                <a:pos x="48" y="0"/>
              </a:cxn>
              <a:cxn ang="0">
                <a:pos x="29" y="2"/>
              </a:cxn>
              <a:cxn ang="0">
                <a:pos x="14" y="13"/>
              </a:cxn>
              <a:cxn ang="0">
                <a:pos x="4" y="30"/>
              </a:cxn>
              <a:cxn ang="0">
                <a:pos x="0" y="47"/>
              </a:cxn>
              <a:cxn ang="0">
                <a:pos x="0" y="340"/>
              </a:cxn>
              <a:cxn ang="0">
                <a:pos x="4" y="360"/>
              </a:cxn>
              <a:cxn ang="0">
                <a:pos x="14" y="375"/>
              </a:cxn>
              <a:cxn ang="0">
                <a:pos x="29" y="386"/>
              </a:cxn>
              <a:cxn ang="0">
                <a:pos x="48" y="390"/>
              </a:cxn>
            </a:cxnLst>
            <a:rect l="0" t="0" r="r" b="b"/>
            <a:pathLst>
              <a:path w="854" h="390">
                <a:moveTo>
                  <a:pt x="48" y="390"/>
                </a:moveTo>
                <a:lnTo>
                  <a:pt x="808" y="390"/>
                </a:lnTo>
                <a:lnTo>
                  <a:pt x="827" y="386"/>
                </a:lnTo>
                <a:lnTo>
                  <a:pt x="842" y="375"/>
                </a:lnTo>
                <a:lnTo>
                  <a:pt x="852" y="360"/>
                </a:lnTo>
                <a:lnTo>
                  <a:pt x="854" y="340"/>
                </a:lnTo>
                <a:lnTo>
                  <a:pt x="854" y="47"/>
                </a:lnTo>
                <a:lnTo>
                  <a:pt x="852" y="30"/>
                </a:lnTo>
                <a:lnTo>
                  <a:pt x="842" y="13"/>
                </a:lnTo>
                <a:lnTo>
                  <a:pt x="827" y="2"/>
                </a:lnTo>
                <a:lnTo>
                  <a:pt x="808" y="0"/>
                </a:lnTo>
                <a:lnTo>
                  <a:pt x="48" y="0"/>
                </a:lnTo>
                <a:lnTo>
                  <a:pt x="29" y="2"/>
                </a:lnTo>
                <a:lnTo>
                  <a:pt x="14" y="13"/>
                </a:lnTo>
                <a:lnTo>
                  <a:pt x="4" y="30"/>
                </a:lnTo>
                <a:lnTo>
                  <a:pt x="0" y="47"/>
                </a:lnTo>
                <a:lnTo>
                  <a:pt x="0" y="340"/>
                </a:lnTo>
                <a:lnTo>
                  <a:pt x="4" y="360"/>
                </a:lnTo>
                <a:lnTo>
                  <a:pt x="14" y="375"/>
                </a:lnTo>
                <a:lnTo>
                  <a:pt x="29" y="386"/>
                </a:lnTo>
                <a:lnTo>
                  <a:pt x="48" y="390"/>
                </a:lnTo>
                <a:close/>
              </a:path>
            </a:pathLst>
          </a:custGeom>
          <a:solidFill>
            <a:srgbClr val="FFCC66"/>
          </a:solidFill>
          <a:ln w="12700">
            <a:solidFill>
              <a:srgbClr val="000000"/>
            </a:solidFill>
            <a:prstDash val="solid"/>
            <a:round/>
            <a:headEnd/>
            <a:tailEnd/>
          </a:ln>
        </p:spPr>
        <p:txBody>
          <a:bodyPr/>
          <a:lstStyle/>
          <a:p>
            <a:endParaRPr lang="es-ES"/>
          </a:p>
        </p:txBody>
      </p:sp>
      <p:sp>
        <p:nvSpPr>
          <p:cNvPr id="19" name="Rectangle 18"/>
          <p:cNvSpPr>
            <a:spLocks noChangeArrowheads="1"/>
          </p:cNvSpPr>
          <p:nvPr/>
        </p:nvSpPr>
        <p:spPr bwMode="auto">
          <a:xfrm>
            <a:off x="4941372" y="2515507"/>
            <a:ext cx="679450" cy="182563"/>
          </a:xfrm>
          <a:prstGeom prst="rect">
            <a:avLst/>
          </a:prstGeom>
          <a:noFill/>
          <a:ln w="9525">
            <a:noFill/>
            <a:miter lim="800000"/>
            <a:headEnd/>
            <a:tailEnd/>
          </a:ln>
        </p:spPr>
        <p:txBody>
          <a:bodyPr wrap="none" lIns="0" tIns="0" rIns="0" bIns="0">
            <a:spAutoFit/>
          </a:bodyPr>
          <a:lstStyle/>
          <a:p>
            <a:r>
              <a:rPr lang="es-ES" sz="1200">
                <a:solidFill>
                  <a:srgbClr val="000000"/>
                </a:solidFill>
                <a:effectLst/>
                <a:latin typeface="Tahoma" pitchFamily="34" charset="0"/>
              </a:rPr>
              <a:t>REVISIÓN</a:t>
            </a:r>
            <a:endParaRPr lang="es-ES" sz="1800">
              <a:effectLst/>
            </a:endParaRPr>
          </a:p>
        </p:txBody>
      </p:sp>
      <p:sp>
        <p:nvSpPr>
          <p:cNvPr id="20" name="Freeform 19"/>
          <p:cNvSpPr>
            <a:spLocks/>
          </p:cNvSpPr>
          <p:nvPr/>
        </p:nvSpPr>
        <p:spPr bwMode="auto">
          <a:xfrm>
            <a:off x="6412985" y="2317070"/>
            <a:ext cx="1355725" cy="619125"/>
          </a:xfrm>
          <a:custGeom>
            <a:avLst/>
            <a:gdLst/>
            <a:ahLst/>
            <a:cxnLst>
              <a:cxn ang="0">
                <a:pos x="46" y="390"/>
              </a:cxn>
              <a:cxn ang="0">
                <a:pos x="806" y="390"/>
              </a:cxn>
              <a:cxn ang="0">
                <a:pos x="825" y="386"/>
              </a:cxn>
              <a:cxn ang="0">
                <a:pos x="840" y="375"/>
              </a:cxn>
              <a:cxn ang="0">
                <a:pos x="850" y="360"/>
              </a:cxn>
              <a:cxn ang="0">
                <a:pos x="854" y="340"/>
              </a:cxn>
              <a:cxn ang="0">
                <a:pos x="854" y="47"/>
              </a:cxn>
              <a:cxn ang="0">
                <a:pos x="850" y="30"/>
              </a:cxn>
              <a:cxn ang="0">
                <a:pos x="840" y="13"/>
              </a:cxn>
              <a:cxn ang="0">
                <a:pos x="825" y="2"/>
              </a:cxn>
              <a:cxn ang="0">
                <a:pos x="806" y="0"/>
              </a:cxn>
              <a:cxn ang="0">
                <a:pos x="46" y="0"/>
              </a:cxn>
              <a:cxn ang="0">
                <a:pos x="27" y="2"/>
              </a:cxn>
              <a:cxn ang="0">
                <a:pos x="12" y="13"/>
              </a:cxn>
              <a:cxn ang="0">
                <a:pos x="2" y="30"/>
              </a:cxn>
              <a:cxn ang="0">
                <a:pos x="0" y="47"/>
              </a:cxn>
              <a:cxn ang="0">
                <a:pos x="0" y="340"/>
              </a:cxn>
              <a:cxn ang="0">
                <a:pos x="2" y="360"/>
              </a:cxn>
              <a:cxn ang="0">
                <a:pos x="12" y="375"/>
              </a:cxn>
              <a:cxn ang="0">
                <a:pos x="27" y="386"/>
              </a:cxn>
              <a:cxn ang="0">
                <a:pos x="46" y="390"/>
              </a:cxn>
            </a:cxnLst>
            <a:rect l="0" t="0" r="r" b="b"/>
            <a:pathLst>
              <a:path w="854" h="390">
                <a:moveTo>
                  <a:pt x="46" y="390"/>
                </a:moveTo>
                <a:lnTo>
                  <a:pt x="806" y="390"/>
                </a:lnTo>
                <a:lnTo>
                  <a:pt x="825" y="386"/>
                </a:lnTo>
                <a:lnTo>
                  <a:pt x="840" y="375"/>
                </a:lnTo>
                <a:lnTo>
                  <a:pt x="850" y="360"/>
                </a:lnTo>
                <a:lnTo>
                  <a:pt x="854" y="340"/>
                </a:lnTo>
                <a:lnTo>
                  <a:pt x="854" y="47"/>
                </a:lnTo>
                <a:lnTo>
                  <a:pt x="850" y="30"/>
                </a:lnTo>
                <a:lnTo>
                  <a:pt x="840" y="13"/>
                </a:lnTo>
                <a:lnTo>
                  <a:pt x="825" y="2"/>
                </a:lnTo>
                <a:lnTo>
                  <a:pt x="806" y="0"/>
                </a:lnTo>
                <a:lnTo>
                  <a:pt x="46" y="0"/>
                </a:lnTo>
                <a:lnTo>
                  <a:pt x="27" y="2"/>
                </a:lnTo>
                <a:lnTo>
                  <a:pt x="12" y="13"/>
                </a:lnTo>
                <a:lnTo>
                  <a:pt x="2" y="30"/>
                </a:lnTo>
                <a:lnTo>
                  <a:pt x="0" y="47"/>
                </a:lnTo>
                <a:lnTo>
                  <a:pt x="0" y="340"/>
                </a:lnTo>
                <a:lnTo>
                  <a:pt x="2" y="360"/>
                </a:lnTo>
                <a:lnTo>
                  <a:pt x="12" y="375"/>
                </a:lnTo>
                <a:lnTo>
                  <a:pt x="27" y="386"/>
                </a:lnTo>
                <a:lnTo>
                  <a:pt x="46" y="390"/>
                </a:lnTo>
                <a:close/>
              </a:path>
            </a:pathLst>
          </a:custGeom>
          <a:solidFill>
            <a:srgbClr val="FFCC66"/>
          </a:solidFill>
          <a:ln w="12700">
            <a:solidFill>
              <a:srgbClr val="000000"/>
            </a:solidFill>
            <a:prstDash val="solid"/>
            <a:round/>
            <a:headEnd/>
            <a:tailEnd/>
          </a:ln>
        </p:spPr>
        <p:txBody>
          <a:bodyPr/>
          <a:lstStyle/>
          <a:p>
            <a:endParaRPr lang="es-ES"/>
          </a:p>
        </p:txBody>
      </p:sp>
      <p:sp>
        <p:nvSpPr>
          <p:cNvPr id="21" name="Rectangle 20"/>
          <p:cNvSpPr>
            <a:spLocks noChangeArrowheads="1"/>
          </p:cNvSpPr>
          <p:nvPr/>
        </p:nvSpPr>
        <p:spPr bwMode="auto">
          <a:xfrm>
            <a:off x="6754297" y="2515507"/>
            <a:ext cx="679450" cy="182563"/>
          </a:xfrm>
          <a:prstGeom prst="rect">
            <a:avLst/>
          </a:prstGeom>
          <a:noFill/>
          <a:ln w="9525">
            <a:noFill/>
            <a:miter lim="800000"/>
            <a:headEnd/>
            <a:tailEnd/>
          </a:ln>
        </p:spPr>
        <p:txBody>
          <a:bodyPr wrap="none" lIns="0" tIns="0" rIns="0" bIns="0">
            <a:spAutoFit/>
          </a:bodyPr>
          <a:lstStyle/>
          <a:p>
            <a:r>
              <a:rPr lang="es-ES" sz="1200">
                <a:solidFill>
                  <a:srgbClr val="000000"/>
                </a:solidFill>
                <a:effectLst/>
                <a:latin typeface="Tahoma" pitchFamily="34" charset="0"/>
              </a:rPr>
              <a:t>REVISIÓN</a:t>
            </a:r>
            <a:endParaRPr lang="es-ES" sz="1800">
              <a:effectLst/>
            </a:endParaRPr>
          </a:p>
        </p:txBody>
      </p:sp>
      <p:sp>
        <p:nvSpPr>
          <p:cNvPr id="22" name="Line 21"/>
          <p:cNvSpPr>
            <a:spLocks noChangeShapeType="1"/>
          </p:cNvSpPr>
          <p:nvPr/>
        </p:nvSpPr>
        <p:spPr bwMode="auto">
          <a:xfrm>
            <a:off x="4147622" y="3866470"/>
            <a:ext cx="358775" cy="1587"/>
          </a:xfrm>
          <a:prstGeom prst="line">
            <a:avLst/>
          </a:prstGeom>
          <a:noFill/>
          <a:ln w="12700">
            <a:solidFill>
              <a:srgbClr val="000000"/>
            </a:solidFill>
            <a:round/>
            <a:headEnd/>
            <a:tailEnd/>
          </a:ln>
        </p:spPr>
        <p:txBody>
          <a:bodyPr/>
          <a:lstStyle/>
          <a:p>
            <a:endParaRPr lang="es-ES"/>
          </a:p>
        </p:txBody>
      </p:sp>
      <p:sp>
        <p:nvSpPr>
          <p:cNvPr id="23" name="Freeform 22"/>
          <p:cNvSpPr>
            <a:spLocks/>
          </p:cNvSpPr>
          <p:nvPr/>
        </p:nvSpPr>
        <p:spPr bwMode="auto">
          <a:xfrm>
            <a:off x="4492110" y="3810907"/>
            <a:ext cx="107950" cy="111125"/>
          </a:xfrm>
          <a:custGeom>
            <a:avLst/>
            <a:gdLst/>
            <a:ahLst/>
            <a:cxnLst>
              <a:cxn ang="0">
                <a:pos x="0" y="0"/>
              </a:cxn>
              <a:cxn ang="0">
                <a:pos x="68" y="35"/>
              </a:cxn>
              <a:cxn ang="0">
                <a:pos x="0" y="70"/>
              </a:cxn>
              <a:cxn ang="0">
                <a:pos x="0" y="0"/>
              </a:cxn>
            </a:cxnLst>
            <a:rect l="0" t="0" r="r" b="b"/>
            <a:pathLst>
              <a:path w="68" h="70">
                <a:moveTo>
                  <a:pt x="0" y="0"/>
                </a:moveTo>
                <a:lnTo>
                  <a:pt x="68" y="35"/>
                </a:lnTo>
                <a:lnTo>
                  <a:pt x="0" y="70"/>
                </a:lnTo>
                <a:lnTo>
                  <a:pt x="0" y="0"/>
                </a:lnTo>
                <a:close/>
              </a:path>
            </a:pathLst>
          </a:custGeom>
          <a:solidFill>
            <a:srgbClr val="000000"/>
          </a:solidFill>
          <a:ln w="9525">
            <a:noFill/>
            <a:round/>
            <a:headEnd/>
            <a:tailEnd/>
          </a:ln>
        </p:spPr>
        <p:txBody>
          <a:bodyPr/>
          <a:lstStyle/>
          <a:p>
            <a:endParaRPr lang="es-ES"/>
          </a:p>
        </p:txBody>
      </p:sp>
      <p:sp>
        <p:nvSpPr>
          <p:cNvPr id="24" name="Line 23"/>
          <p:cNvSpPr>
            <a:spLocks noChangeShapeType="1"/>
          </p:cNvSpPr>
          <p:nvPr/>
        </p:nvSpPr>
        <p:spPr bwMode="auto">
          <a:xfrm flipH="1">
            <a:off x="6398697" y="2626632"/>
            <a:ext cx="14288" cy="1588"/>
          </a:xfrm>
          <a:prstGeom prst="line">
            <a:avLst/>
          </a:prstGeom>
          <a:noFill/>
          <a:ln w="12700">
            <a:solidFill>
              <a:srgbClr val="000000"/>
            </a:solidFill>
            <a:round/>
            <a:headEnd/>
            <a:tailEnd/>
          </a:ln>
        </p:spPr>
        <p:txBody>
          <a:bodyPr/>
          <a:lstStyle/>
          <a:p>
            <a:endParaRPr lang="es-ES"/>
          </a:p>
        </p:txBody>
      </p:sp>
      <p:sp>
        <p:nvSpPr>
          <p:cNvPr id="25" name="Line 24"/>
          <p:cNvSpPr>
            <a:spLocks noChangeShapeType="1"/>
          </p:cNvSpPr>
          <p:nvPr/>
        </p:nvSpPr>
        <p:spPr bwMode="auto">
          <a:xfrm flipH="1">
            <a:off x="6325672" y="2626632"/>
            <a:ext cx="12700" cy="1588"/>
          </a:xfrm>
          <a:prstGeom prst="line">
            <a:avLst/>
          </a:prstGeom>
          <a:noFill/>
          <a:ln w="12700">
            <a:solidFill>
              <a:srgbClr val="000000"/>
            </a:solidFill>
            <a:round/>
            <a:headEnd/>
            <a:tailEnd/>
          </a:ln>
        </p:spPr>
        <p:txBody>
          <a:bodyPr/>
          <a:lstStyle/>
          <a:p>
            <a:endParaRPr lang="es-ES"/>
          </a:p>
        </p:txBody>
      </p:sp>
      <p:sp>
        <p:nvSpPr>
          <p:cNvPr id="26" name="Line 25"/>
          <p:cNvSpPr>
            <a:spLocks noChangeShapeType="1"/>
          </p:cNvSpPr>
          <p:nvPr/>
        </p:nvSpPr>
        <p:spPr bwMode="auto">
          <a:xfrm flipH="1">
            <a:off x="6251060" y="2626632"/>
            <a:ext cx="14287" cy="1588"/>
          </a:xfrm>
          <a:prstGeom prst="line">
            <a:avLst/>
          </a:prstGeom>
          <a:noFill/>
          <a:ln w="12700">
            <a:solidFill>
              <a:srgbClr val="000000"/>
            </a:solidFill>
            <a:round/>
            <a:headEnd/>
            <a:tailEnd/>
          </a:ln>
        </p:spPr>
        <p:txBody>
          <a:bodyPr/>
          <a:lstStyle/>
          <a:p>
            <a:endParaRPr lang="es-ES"/>
          </a:p>
        </p:txBody>
      </p:sp>
      <p:sp>
        <p:nvSpPr>
          <p:cNvPr id="27" name="Line 26"/>
          <p:cNvSpPr>
            <a:spLocks noChangeShapeType="1"/>
          </p:cNvSpPr>
          <p:nvPr/>
        </p:nvSpPr>
        <p:spPr bwMode="auto">
          <a:xfrm flipH="1">
            <a:off x="6178035" y="2626632"/>
            <a:ext cx="12700" cy="1588"/>
          </a:xfrm>
          <a:prstGeom prst="line">
            <a:avLst/>
          </a:prstGeom>
          <a:noFill/>
          <a:ln w="12700">
            <a:solidFill>
              <a:srgbClr val="000000"/>
            </a:solidFill>
            <a:round/>
            <a:headEnd/>
            <a:tailEnd/>
          </a:ln>
        </p:spPr>
        <p:txBody>
          <a:bodyPr/>
          <a:lstStyle/>
          <a:p>
            <a:endParaRPr lang="es-ES"/>
          </a:p>
        </p:txBody>
      </p:sp>
      <p:sp>
        <p:nvSpPr>
          <p:cNvPr id="28" name="Line 27"/>
          <p:cNvSpPr>
            <a:spLocks noChangeShapeType="1"/>
          </p:cNvSpPr>
          <p:nvPr/>
        </p:nvSpPr>
        <p:spPr bwMode="auto">
          <a:xfrm flipH="1">
            <a:off x="6103422" y="2626632"/>
            <a:ext cx="14288" cy="1588"/>
          </a:xfrm>
          <a:prstGeom prst="line">
            <a:avLst/>
          </a:prstGeom>
          <a:noFill/>
          <a:ln w="12700">
            <a:solidFill>
              <a:srgbClr val="000000"/>
            </a:solidFill>
            <a:round/>
            <a:headEnd/>
            <a:tailEnd/>
          </a:ln>
        </p:spPr>
        <p:txBody>
          <a:bodyPr/>
          <a:lstStyle/>
          <a:p>
            <a:endParaRPr lang="es-ES"/>
          </a:p>
        </p:txBody>
      </p:sp>
      <p:sp>
        <p:nvSpPr>
          <p:cNvPr id="29" name="Freeform 28"/>
          <p:cNvSpPr>
            <a:spLocks/>
          </p:cNvSpPr>
          <p:nvPr/>
        </p:nvSpPr>
        <p:spPr bwMode="auto">
          <a:xfrm>
            <a:off x="5955785" y="2571070"/>
            <a:ext cx="111125" cy="111125"/>
          </a:xfrm>
          <a:custGeom>
            <a:avLst/>
            <a:gdLst/>
            <a:ahLst/>
            <a:cxnLst>
              <a:cxn ang="0">
                <a:pos x="70" y="70"/>
              </a:cxn>
              <a:cxn ang="0">
                <a:pos x="0" y="35"/>
              </a:cxn>
              <a:cxn ang="0">
                <a:pos x="70" y="0"/>
              </a:cxn>
              <a:cxn ang="0">
                <a:pos x="70" y="70"/>
              </a:cxn>
            </a:cxnLst>
            <a:rect l="0" t="0" r="r" b="b"/>
            <a:pathLst>
              <a:path w="70" h="70">
                <a:moveTo>
                  <a:pt x="70" y="70"/>
                </a:moveTo>
                <a:lnTo>
                  <a:pt x="0" y="35"/>
                </a:lnTo>
                <a:lnTo>
                  <a:pt x="70" y="0"/>
                </a:lnTo>
                <a:lnTo>
                  <a:pt x="70" y="70"/>
                </a:lnTo>
                <a:close/>
              </a:path>
            </a:pathLst>
          </a:custGeom>
          <a:solidFill>
            <a:srgbClr val="000000"/>
          </a:solidFill>
          <a:ln w="9525">
            <a:noFill/>
            <a:round/>
            <a:headEnd/>
            <a:tailEnd/>
          </a:ln>
        </p:spPr>
        <p:txBody>
          <a:bodyPr/>
          <a:lstStyle/>
          <a:p>
            <a:endParaRPr lang="es-ES"/>
          </a:p>
        </p:txBody>
      </p:sp>
      <p:sp>
        <p:nvSpPr>
          <p:cNvPr id="30" name="Line 29"/>
          <p:cNvSpPr>
            <a:spLocks noChangeShapeType="1"/>
          </p:cNvSpPr>
          <p:nvPr/>
        </p:nvSpPr>
        <p:spPr bwMode="auto">
          <a:xfrm>
            <a:off x="8899010" y="4176032"/>
            <a:ext cx="1587" cy="368300"/>
          </a:xfrm>
          <a:prstGeom prst="line">
            <a:avLst/>
          </a:prstGeom>
          <a:noFill/>
          <a:ln w="12700">
            <a:solidFill>
              <a:srgbClr val="000000"/>
            </a:solidFill>
            <a:round/>
            <a:headEnd/>
            <a:tailEnd/>
          </a:ln>
        </p:spPr>
        <p:txBody>
          <a:bodyPr/>
          <a:lstStyle/>
          <a:p>
            <a:endParaRPr lang="es-ES"/>
          </a:p>
        </p:txBody>
      </p:sp>
      <p:sp>
        <p:nvSpPr>
          <p:cNvPr id="31" name="Freeform 30"/>
          <p:cNvSpPr>
            <a:spLocks/>
          </p:cNvSpPr>
          <p:nvPr/>
        </p:nvSpPr>
        <p:spPr bwMode="auto">
          <a:xfrm>
            <a:off x="8845035" y="4526870"/>
            <a:ext cx="106362" cy="114300"/>
          </a:xfrm>
          <a:custGeom>
            <a:avLst/>
            <a:gdLst/>
            <a:ahLst/>
            <a:cxnLst>
              <a:cxn ang="0">
                <a:pos x="67" y="0"/>
              </a:cxn>
              <a:cxn ang="0">
                <a:pos x="34" y="72"/>
              </a:cxn>
              <a:cxn ang="0">
                <a:pos x="0" y="0"/>
              </a:cxn>
              <a:cxn ang="0">
                <a:pos x="67" y="0"/>
              </a:cxn>
            </a:cxnLst>
            <a:rect l="0" t="0" r="r" b="b"/>
            <a:pathLst>
              <a:path w="67" h="72">
                <a:moveTo>
                  <a:pt x="67" y="0"/>
                </a:moveTo>
                <a:lnTo>
                  <a:pt x="34" y="72"/>
                </a:lnTo>
                <a:lnTo>
                  <a:pt x="0" y="0"/>
                </a:lnTo>
                <a:lnTo>
                  <a:pt x="67" y="0"/>
                </a:lnTo>
                <a:close/>
              </a:path>
            </a:pathLst>
          </a:custGeom>
          <a:solidFill>
            <a:srgbClr val="000000"/>
          </a:solidFill>
          <a:ln w="9525">
            <a:noFill/>
            <a:round/>
            <a:headEnd/>
            <a:tailEnd/>
          </a:ln>
        </p:spPr>
        <p:txBody>
          <a:bodyPr/>
          <a:lstStyle/>
          <a:p>
            <a:endParaRPr lang="es-ES"/>
          </a:p>
        </p:txBody>
      </p:sp>
      <p:sp>
        <p:nvSpPr>
          <p:cNvPr id="33" name="Line 31"/>
          <p:cNvSpPr>
            <a:spLocks noChangeShapeType="1"/>
          </p:cNvSpPr>
          <p:nvPr/>
        </p:nvSpPr>
        <p:spPr bwMode="auto">
          <a:xfrm flipV="1">
            <a:off x="3469760" y="4272870"/>
            <a:ext cx="1587" cy="368300"/>
          </a:xfrm>
          <a:prstGeom prst="line">
            <a:avLst/>
          </a:prstGeom>
          <a:noFill/>
          <a:ln w="12700">
            <a:solidFill>
              <a:srgbClr val="000000"/>
            </a:solidFill>
            <a:round/>
            <a:headEnd/>
            <a:tailEnd/>
          </a:ln>
        </p:spPr>
        <p:txBody>
          <a:bodyPr/>
          <a:lstStyle/>
          <a:p>
            <a:endParaRPr lang="es-ES"/>
          </a:p>
        </p:txBody>
      </p:sp>
      <p:sp>
        <p:nvSpPr>
          <p:cNvPr id="34" name="Freeform 32"/>
          <p:cNvSpPr>
            <a:spLocks/>
          </p:cNvSpPr>
          <p:nvPr/>
        </p:nvSpPr>
        <p:spPr bwMode="auto">
          <a:xfrm>
            <a:off x="3417372" y="4176032"/>
            <a:ext cx="106363" cy="111125"/>
          </a:xfrm>
          <a:custGeom>
            <a:avLst/>
            <a:gdLst/>
            <a:ahLst/>
            <a:cxnLst>
              <a:cxn ang="0">
                <a:pos x="0" y="70"/>
              </a:cxn>
              <a:cxn ang="0">
                <a:pos x="33" y="0"/>
              </a:cxn>
              <a:cxn ang="0">
                <a:pos x="67" y="70"/>
              </a:cxn>
              <a:cxn ang="0">
                <a:pos x="0" y="70"/>
              </a:cxn>
            </a:cxnLst>
            <a:rect l="0" t="0" r="r" b="b"/>
            <a:pathLst>
              <a:path w="67" h="70">
                <a:moveTo>
                  <a:pt x="0" y="70"/>
                </a:moveTo>
                <a:lnTo>
                  <a:pt x="33" y="0"/>
                </a:lnTo>
                <a:lnTo>
                  <a:pt x="67" y="70"/>
                </a:lnTo>
                <a:lnTo>
                  <a:pt x="0" y="70"/>
                </a:lnTo>
                <a:close/>
              </a:path>
            </a:pathLst>
          </a:custGeom>
          <a:solidFill>
            <a:srgbClr val="000000"/>
          </a:solidFill>
          <a:ln w="9525">
            <a:noFill/>
            <a:round/>
            <a:headEnd/>
            <a:tailEnd/>
          </a:ln>
        </p:spPr>
        <p:txBody>
          <a:bodyPr/>
          <a:lstStyle/>
          <a:p>
            <a:endParaRPr lang="es-ES"/>
          </a:p>
        </p:txBody>
      </p:sp>
      <p:sp>
        <p:nvSpPr>
          <p:cNvPr id="35" name="Line 33"/>
          <p:cNvSpPr>
            <a:spLocks noChangeShapeType="1"/>
          </p:cNvSpPr>
          <p:nvPr/>
        </p:nvSpPr>
        <p:spPr bwMode="auto">
          <a:xfrm>
            <a:off x="5955785" y="3866470"/>
            <a:ext cx="358775" cy="1587"/>
          </a:xfrm>
          <a:prstGeom prst="line">
            <a:avLst/>
          </a:prstGeom>
          <a:noFill/>
          <a:ln w="12700">
            <a:solidFill>
              <a:srgbClr val="000000"/>
            </a:solidFill>
            <a:round/>
            <a:headEnd/>
            <a:tailEnd/>
          </a:ln>
        </p:spPr>
        <p:txBody>
          <a:bodyPr/>
          <a:lstStyle/>
          <a:p>
            <a:endParaRPr lang="es-ES"/>
          </a:p>
        </p:txBody>
      </p:sp>
      <p:sp>
        <p:nvSpPr>
          <p:cNvPr id="36" name="Freeform 34"/>
          <p:cNvSpPr>
            <a:spLocks/>
          </p:cNvSpPr>
          <p:nvPr/>
        </p:nvSpPr>
        <p:spPr bwMode="auto">
          <a:xfrm>
            <a:off x="6301860" y="3810907"/>
            <a:ext cx="111125" cy="111125"/>
          </a:xfrm>
          <a:custGeom>
            <a:avLst/>
            <a:gdLst/>
            <a:ahLst/>
            <a:cxnLst>
              <a:cxn ang="0">
                <a:pos x="0" y="0"/>
              </a:cxn>
              <a:cxn ang="0">
                <a:pos x="70" y="35"/>
              </a:cxn>
              <a:cxn ang="0">
                <a:pos x="0" y="70"/>
              </a:cxn>
              <a:cxn ang="0">
                <a:pos x="0" y="0"/>
              </a:cxn>
            </a:cxnLst>
            <a:rect l="0" t="0" r="r" b="b"/>
            <a:pathLst>
              <a:path w="70" h="70">
                <a:moveTo>
                  <a:pt x="0" y="0"/>
                </a:moveTo>
                <a:lnTo>
                  <a:pt x="70" y="35"/>
                </a:lnTo>
                <a:lnTo>
                  <a:pt x="0" y="70"/>
                </a:lnTo>
                <a:lnTo>
                  <a:pt x="0" y="0"/>
                </a:lnTo>
                <a:close/>
              </a:path>
            </a:pathLst>
          </a:custGeom>
          <a:solidFill>
            <a:srgbClr val="000000"/>
          </a:solidFill>
          <a:ln w="9525">
            <a:noFill/>
            <a:round/>
            <a:headEnd/>
            <a:tailEnd/>
          </a:ln>
        </p:spPr>
        <p:txBody>
          <a:bodyPr/>
          <a:lstStyle/>
          <a:p>
            <a:endParaRPr lang="es-ES"/>
          </a:p>
        </p:txBody>
      </p:sp>
      <p:sp>
        <p:nvSpPr>
          <p:cNvPr id="37" name="Line 35"/>
          <p:cNvSpPr>
            <a:spLocks noChangeShapeType="1"/>
          </p:cNvSpPr>
          <p:nvPr/>
        </p:nvSpPr>
        <p:spPr bwMode="auto">
          <a:xfrm>
            <a:off x="7768710" y="3866470"/>
            <a:ext cx="355600" cy="1587"/>
          </a:xfrm>
          <a:prstGeom prst="line">
            <a:avLst/>
          </a:prstGeom>
          <a:noFill/>
          <a:ln w="12700">
            <a:solidFill>
              <a:srgbClr val="000000"/>
            </a:solidFill>
            <a:round/>
            <a:headEnd/>
            <a:tailEnd/>
          </a:ln>
        </p:spPr>
        <p:txBody>
          <a:bodyPr/>
          <a:lstStyle/>
          <a:p>
            <a:endParaRPr lang="es-ES"/>
          </a:p>
        </p:txBody>
      </p:sp>
      <p:sp>
        <p:nvSpPr>
          <p:cNvPr id="38" name="Freeform 36"/>
          <p:cNvSpPr>
            <a:spLocks/>
          </p:cNvSpPr>
          <p:nvPr/>
        </p:nvSpPr>
        <p:spPr bwMode="auto">
          <a:xfrm>
            <a:off x="8111610" y="3810907"/>
            <a:ext cx="109537" cy="111125"/>
          </a:xfrm>
          <a:custGeom>
            <a:avLst/>
            <a:gdLst/>
            <a:ahLst/>
            <a:cxnLst>
              <a:cxn ang="0">
                <a:pos x="0" y="0"/>
              </a:cxn>
              <a:cxn ang="0">
                <a:pos x="69" y="35"/>
              </a:cxn>
              <a:cxn ang="0">
                <a:pos x="0" y="70"/>
              </a:cxn>
              <a:cxn ang="0">
                <a:pos x="0" y="0"/>
              </a:cxn>
            </a:cxnLst>
            <a:rect l="0" t="0" r="r" b="b"/>
            <a:pathLst>
              <a:path w="69" h="70">
                <a:moveTo>
                  <a:pt x="0" y="0"/>
                </a:moveTo>
                <a:lnTo>
                  <a:pt x="69" y="35"/>
                </a:lnTo>
                <a:lnTo>
                  <a:pt x="0" y="70"/>
                </a:lnTo>
                <a:lnTo>
                  <a:pt x="0" y="0"/>
                </a:lnTo>
                <a:close/>
              </a:path>
            </a:pathLst>
          </a:custGeom>
          <a:solidFill>
            <a:srgbClr val="000000"/>
          </a:solidFill>
          <a:ln w="9525">
            <a:noFill/>
            <a:round/>
            <a:headEnd/>
            <a:tailEnd/>
          </a:ln>
        </p:spPr>
        <p:txBody>
          <a:bodyPr/>
          <a:lstStyle/>
          <a:p>
            <a:endParaRPr lang="es-ES"/>
          </a:p>
        </p:txBody>
      </p:sp>
      <p:sp>
        <p:nvSpPr>
          <p:cNvPr id="39" name="Line 37"/>
          <p:cNvSpPr>
            <a:spLocks noChangeShapeType="1"/>
          </p:cNvSpPr>
          <p:nvPr/>
        </p:nvSpPr>
        <p:spPr bwMode="auto">
          <a:xfrm flipH="1">
            <a:off x="4585772" y="2626632"/>
            <a:ext cx="14288" cy="1588"/>
          </a:xfrm>
          <a:prstGeom prst="line">
            <a:avLst/>
          </a:prstGeom>
          <a:noFill/>
          <a:ln w="12700">
            <a:solidFill>
              <a:srgbClr val="000000"/>
            </a:solidFill>
            <a:round/>
            <a:headEnd/>
            <a:tailEnd/>
          </a:ln>
        </p:spPr>
        <p:txBody>
          <a:bodyPr/>
          <a:lstStyle/>
          <a:p>
            <a:endParaRPr lang="es-ES"/>
          </a:p>
        </p:txBody>
      </p:sp>
      <p:sp>
        <p:nvSpPr>
          <p:cNvPr id="40" name="Line 38"/>
          <p:cNvSpPr>
            <a:spLocks noChangeShapeType="1"/>
          </p:cNvSpPr>
          <p:nvPr/>
        </p:nvSpPr>
        <p:spPr bwMode="auto">
          <a:xfrm flipH="1">
            <a:off x="4512747" y="2626632"/>
            <a:ext cx="12700" cy="1588"/>
          </a:xfrm>
          <a:prstGeom prst="line">
            <a:avLst/>
          </a:prstGeom>
          <a:noFill/>
          <a:ln w="12700">
            <a:solidFill>
              <a:srgbClr val="000000"/>
            </a:solidFill>
            <a:round/>
            <a:headEnd/>
            <a:tailEnd/>
          </a:ln>
        </p:spPr>
        <p:txBody>
          <a:bodyPr/>
          <a:lstStyle/>
          <a:p>
            <a:endParaRPr lang="es-ES"/>
          </a:p>
        </p:txBody>
      </p:sp>
      <p:sp>
        <p:nvSpPr>
          <p:cNvPr id="41" name="Line 39"/>
          <p:cNvSpPr>
            <a:spLocks noChangeShapeType="1"/>
          </p:cNvSpPr>
          <p:nvPr/>
        </p:nvSpPr>
        <p:spPr bwMode="auto">
          <a:xfrm flipH="1">
            <a:off x="4438135" y="2626632"/>
            <a:ext cx="14287" cy="1588"/>
          </a:xfrm>
          <a:prstGeom prst="line">
            <a:avLst/>
          </a:prstGeom>
          <a:noFill/>
          <a:ln w="12700">
            <a:solidFill>
              <a:srgbClr val="000000"/>
            </a:solidFill>
            <a:round/>
            <a:headEnd/>
            <a:tailEnd/>
          </a:ln>
        </p:spPr>
        <p:txBody>
          <a:bodyPr/>
          <a:lstStyle/>
          <a:p>
            <a:endParaRPr lang="es-ES"/>
          </a:p>
        </p:txBody>
      </p:sp>
      <p:sp>
        <p:nvSpPr>
          <p:cNvPr id="42" name="Line 40"/>
          <p:cNvSpPr>
            <a:spLocks noChangeShapeType="1"/>
          </p:cNvSpPr>
          <p:nvPr/>
        </p:nvSpPr>
        <p:spPr bwMode="auto">
          <a:xfrm flipH="1">
            <a:off x="4365110" y="2626632"/>
            <a:ext cx="12700" cy="1588"/>
          </a:xfrm>
          <a:prstGeom prst="line">
            <a:avLst/>
          </a:prstGeom>
          <a:noFill/>
          <a:ln w="12700">
            <a:solidFill>
              <a:srgbClr val="000000"/>
            </a:solidFill>
            <a:round/>
            <a:headEnd/>
            <a:tailEnd/>
          </a:ln>
        </p:spPr>
        <p:txBody>
          <a:bodyPr/>
          <a:lstStyle/>
          <a:p>
            <a:endParaRPr lang="es-ES"/>
          </a:p>
        </p:txBody>
      </p:sp>
      <p:sp>
        <p:nvSpPr>
          <p:cNvPr id="43" name="Line 41"/>
          <p:cNvSpPr>
            <a:spLocks noChangeShapeType="1"/>
          </p:cNvSpPr>
          <p:nvPr/>
        </p:nvSpPr>
        <p:spPr bwMode="auto">
          <a:xfrm flipH="1">
            <a:off x="4292085" y="2626632"/>
            <a:ext cx="12700" cy="1588"/>
          </a:xfrm>
          <a:prstGeom prst="line">
            <a:avLst/>
          </a:prstGeom>
          <a:noFill/>
          <a:ln w="12700">
            <a:solidFill>
              <a:srgbClr val="000000"/>
            </a:solidFill>
            <a:round/>
            <a:headEnd/>
            <a:tailEnd/>
          </a:ln>
        </p:spPr>
        <p:txBody>
          <a:bodyPr/>
          <a:lstStyle/>
          <a:p>
            <a:endParaRPr lang="es-ES"/>
          </a:p>
        </p:txBody>
      </p:sp>
      <p:sp>
        <p:nvSpPr>
          <p:cNvPr id="44" name="Freeform 42"/>
          <p:cNvSpPr>
            <a:spLocks/>
          </p:cNvSpPr>
          <p:nvPr/>
        </p:nvSpPr>
        <p:spPr bwMode="auto">
          <a:xfrm>
            <a:off x="4147622" y="2571070"/>
            <a:ext cx="109538" cy="111125"/>
          </a:xfrm>
          <a:custGeom>
            <a:avLst/>
            <a:gdLst/>
            <a:ahLst/>
            <a:cxnLst>
              <a:cxn ang="0">
                <a:pos x="69" y="70"/>
              </a:cxn>
              <a:cxn ang="0">
                <a:pos x="0" y="35"/>
              </a:cxn>
              <a:cxn ang="0">
                <a:pos x="69" y="0"/>
              </a:cxn>
              <a:cxn ang="0">
                <a:pos x="69" y="70"/>
              </a:cxn>
            </a:cxnLst>
            <a:rect l="0" t="0" r="r" b="b"/>
            <a:pathLst>
              <a:path w="69" h="70">
                <a:moveTo>
                  <a:pt x="69" y="70"/>
                </a:moveTo>
                <a:lnTo>
                  <a:pt x="0" y="35"/>
                </a:lnTo>
                <a:lnTo>
                  <a:pt x="69" y="0"/>
                </a:lnTo>
                <a:lnTo>
                  <a:pt x="69" y="70"/>
                </a:lnTo>
                <a:close/>
              </a:path>
            </a:pathLst>
          </a:custGeom>
          <a:solidFill>
            <a:srgbClr val="000000"/>
          </a:solidFill>
          <a:ln w="9525">
            <a:noFill/>
            <a:round/>
            <a:headEnd/>
            <a:tailEnd/>
          </a:ln>
        </p:spPr>
        <p:txBody>
          <a:bodyPr/>
          <a:lstStyle/>
          <a:p>
            <a:endParaRPr lang="es-ES"/>
          </a:p>
        </p:txBody>
      </p:sp>
      <p:sp>
        <p:nvSpPr>
          <p:cNvPr id="45" name="Rectangle 43"/>
          <p:cNvSpPr>
            <a:spLocks noChangeArrowheads="1"/>
          </p:cNvSpPr>
          <p:nvPr/>
        </p:nvSpPr>
        <p:spPr bwMode="auto">
          <a:xfrm>
            <a:off x="2860160" y="4703082"/>
            <a:ext cx="1274762" cy="168275"/>
          </a:xfrm>
          <a:prstGeom prst="rect">
            <a:avLst/>
          </a:prstGeom>
          <a:noFill/>
          <a:ln w="9525">
            <a:noFill/>
            <a:miter lim="800000"/>
            <a:headEnd/>
            <a:tailEnd/>
          </a:ln>
        </p:spPr>
        <p:txBody>
          <a:bodyPr wrap="none" lIns="0" tIns="0" rIns="0" bIns="0">
            <a:spAutoFit/>
          </a:bodyPr>
          <a:lstStyle/>
          <a:p>
            <a:r>
              <a:rPr lang="es-ES" sz="1100" b="1">
                <a:solidFill>
                  <a:srgbClr val="000000"/>
                </a:solidFill>
                <a:effectLst/>
              </a:rPr>
              <a:t>REQUERIMIENTOS</a:t>
            </a:r>
            <a:endParaRPr lang="es-ES" sz="1800">
              <a:effectLst/>
            </a:endParaRPr>
          </a:p>
        </p:txBody>
      </p:sp>
      <p:sp>
        <p:nvSpPr>
          <p:cNvPr id="46" name="Rectangle 44"/>
          <p:cNvSpPr>
            <a:spLocks noChangeArrowheads="1"/>
          </p:cNvSpPr>
          <p:nvPr/>
        </p:nvSpPr>
        <p:spPr bwMode="auto">
          <a:xfrm>
            <a:off x="3025260" y="4869770"/>
            <a:ext cx="941387" cy="168275"/>
          </a:xfrm>
          <a:prstGeom prst="rect">
            <a:avLst/>
          </a:prstGeom>
          <a:noFill/>
          <a:ln w="9525">
            <a:noFill/>
            <a:miter lim="800000"/>
            <a:headEnd/>
            <a:tailEnd/>
          </a:ln>
        </p:spPr>
        <p:txBody>
          <a:bodyPr wrap="none" lIns="0" tIns="0" rIns="0" bIns="0">
            <a:spAutoFit/>
          </a:bodyPr>
          <a:lstStyle/>
          <a:p>
            <a:r>
              <a:rPr lang="es-ES" sz="1100" b="1">
                <a:solidFill>
                  <a:srgbClr val="000000"/>
                </a:solidFill>
                <a:effectLst/>
              </a:rPr>
              <a:t>DEL SISTEMA</a:t>
            </a:r>
            <a:endParaRPr lang="es-ES" sz="1800">
              <a:effectLst/>
            </a:endParaRPr>
          </a:p>
        </p:txBody>
      </p:sp>
      <p:sp>
        <p:nvSpPr>
          <p:cNvPr id="47" name="Rectangle 45"/>
          <p:cNvSpPr>
            <a:spLocks noChangeArrowheads="1"/>
          </p:cNvSpPr>
          <p:nvPr/>
        </p:nvSpPr>
        <p:spPr bwMode="auto">
          <a:xfrm>
            <a:off x="8643422" y="4703082"/>
            <a:ext cx="622300" cy="168275"/>
          </a:xfrm>
          <a:prstGeom prst="rect">
            <a:avLst/>
          </a:prstGeom>
          <a:noFill/>
          <a:ln w="9525">
            <a:noFill/>
            <a:miter lim="800000"/>
            <a:headEnd/>
            <a:tailEnd/>
          </a:ln>
        </p:spPr>
        <p:txBody>
          <a:bodyPr wrap="none" lIns="0" tIns="0" rIns="0" bIns="0">
            <a:spAutoFit/>
          </a:bodyPr>
          <a:lstStyle/>
          <a:p>
            <a:r>
              <a:rPr lang="es-ES" sz="1100" b="1">
                <a:solidFill>
                  <a:srgbClr val="000000"/>
                </a:solidFill>
                <a:effectLst/>
              </a:rPr>
              <a:t>SISTEMA</a:t>
            </a:r>
            <a:endParaRPr lang="es-ES" sz="1800">
              <a:effectLst/>
            </a:endParaRPr>
          </a:p>
        </p:txBody>
      </p:sp>
      <p:sp>
        <p:nvSpPr>
          <p:cNvPr id="48" name="Rectangle 46"/>
          <p:cNvSpPr>
            <a:spLocks noChangeArrowheads="1"/>
          </p:cNvSpPr>
          <p:nvPr/>
        </p:nvSpPr>
        <p:spPr bwMode="auto">
          <a:xfrm>
            <a:off x="8510072" y="4869770"/>
            <a:ext cx="895350" cy="168275"/>
          </a:xfrm>
          <a:prstGeom prst="rect">
            <a:avLst/>
          </a:prstGeom>
          <a:noFill/>
          <a:ln w="9525">
            <a:noFill/>
            <a:miter lim="800000"/>
            <a:headEnd/>
            <a:tailEnd/>
          </a:ln>
        </p:spPr>
        <p:txBody>
          <a:bodyPr wrap="none" lIns="0" tIns="0" rIns="0" bIns="0">
            <a:spAutoFit/>
          </a:bodyPr>
          <a:lstStyle/>
          <a:p>
            <a:r>
              <a:rPr lang="es-ES" sz="1100" b="1">
                <a:solidFill>
                  <a:srgbClr val="000000"/>
                </a:solidFill>
                <a:effectLst/>
              </a:rPr>
              <a:t>ENTREGADO</a:t>
            </a:r>
            <a:endParaRPr lang="es-ES" sz="1800">
              <a:effectLst/>
            </a:endParaRPr>
          </a:p>
        </p:txBody>
      </p:sp>
      <p:sp>
        <p:nvSpPr>
          <p:cNvPr id="49" name="Line 47"/>
          <p:cNvSpPr>
            <a:spLocks noChangeShapeType="1"/>
          </p:cNvSpPr>
          <p:nvPr/>
        </p:nvSpPr>
        <p:spPr bwMode="auto">
          <a:xfrm>
            <a:off x="3242747" y="2936195"/>
            <a:ext cx="1588" cy="520700"/>
          </a:xfrm>
          <a:prstGeom prst="line">
            <a:avLst/>
          </a:prstGeom>
          <a:noFill/>
          <a:ln w="12700">
            <a:solidFill>
              <a:srgbClr val="000000"/>
            </a:solidFill>
            <a:round/>
            <a:headEnd/>
            <a:tailEnd/>
          </a:ln>
        </p:spPr>
        <p:txBody>
          <a:bodyPr/>
          <a:lstStyle/>
          <a:p>
            <a:endParaRPr lang="es-ES"/>
          </a:p>
        </p:txBody>
      </p:sp>
      <p:sp>
        <p:nvSpPr>
          <p:cNvPr id="50" name="Freeform 48"/>
          <p:cNvSpPr>
            <a:spLocks/>
          </p:cNvSpPr>
          <p:nvPr/>
        </p:nvSpPr>
        <p:spPr bwMode="auto">
          <a:xfrm>
            <a:off x="3188772" y="3442607"/>
            <a:ext cx="107950" cy="114300"/>
          </a:xfrm>
          <a:custGeom>
            <a:avLst/>
            <a:gdLst/>
            <a:ahLst/>
            <a:cxnLst>
              <a:cxn ang="0">
                <a:pos x="68" y="0"/>
              </a:cxn>
              <a:cxn ang="0">
                <a:pos x="34" y="72"/>
              </a:cxn>
              <a:cxn ang="0">
                <a:pos x="0" y="0"/>
              </a:cxn>
              <a:cxn ang="0">
                <a:pos x="68" y="0"/>
              </a:cxn>
            </a:cxnLst>
            <a:rect l="0" t="0" r="r" b="b"/>
            <a:pathLst>
              <a:path w="68" h="72">
                <a:moveTo>
                  <a:pt x="68" y="0"/>
                </a:moveTo>
                <a:lnTo>
                  <a:pt x="34" y="72"/>
                </a:lnTo>
                <a:lnTo>
                  <a:pt x="0" y="0"/>
                </a:lnTo>
                <a:lnTo>
                  <a:pt x="68" y="0"/>
                </a:lnTo>
                <a:close/>
              </a:path>
            </a:pathLst>
          </a:custGeom>
          <a:solidFill>
            <a:srgbClr val="000000"/>
          </a:solidFill>
          <a:ln w="9525">
            <a:noFill/>
            <a:round/>
            <a:headEnd/>
            <a:tailEnd/>
          </a:ln>
        </p:spPr>
        <p:txBody>
          <a:bodyPr/>
          <a:lstStyle/>
          <a:p>
            <a:endParaRPr lang="es-ES"/>
          </a:p>
        </p:txBody>
      </p:sp>
      <p:sp>
        <p:nvSpPr>
          <p:cNvPr id="51" name="Line 49"/>
          <p:cNvSpPr>
            <a:spLocks noChangeShapeType="1"/>
          </p:cNvSpPr>
          <p:nvPr/>
        </p:nvSpPr>
        <p:spPr bwMode="auto">
          <a:xfrm flipV="1">
            <a:off x="5504935" y="3033032"/>
            <a:ext cx="1587" cy="523875"/>
          </a:xfrm>
          <a:prstGeom prst="line">
            <a:avLst/>
          </a:prstGeom>
          <a:noFill/>
          <a:ln w="12700">
            <a:solidFill>
              <a:srgbClr val="000000"/>
            </a:solidFill>
            <a:round/>
            <a:headEnd/>
            <a:tailEnd/>
          </a:ln>
        </p:spPr>
        <p:txBody>
          <a:bodyPr/>
          <a:lstStyle/>
          <a:p>
            <a:endParaRPr lang="es-ES"/>
          </a:p>
        </p:txBody>
      </p:sp>
      <p:sp>
        <p:nvSpPr>
          <p:cNvPr id="52" name="Freeform 50"/>
          <p:cNvSpPr>
            <a:spLocks/>
          </p:cNvSpPr>
          <p:nvPr/>
        </p:nvSpPr>
        <p:spPr bwMode="auto">
          <a:xfrm>
            <a:off x="5450960" y="2936195"/>
            <a:ext cx="109537" cy="111125"/>
          </a:xfrm>
          <a:custGeom>
            <a:avLst/>
            <a:gdLst/>
            <a:ahLst/>
            <a:cxnLst>
              <a:cxn ang="0">
                <a:pos x="0" y="70"/>
              </a:cxn>
              <a:cxn ang="0">
                <a:pos x="34" y="0"/>
              </a:cxn>
              <a:cxn ang="0">
                <a:pos x="69" y="70"/>
              </a:cxn>
              <a:cxn ang="0">
                <a:pos x="0" y="70"/>
              </a:cxn>
            </a:cxnLst>
            <a:rect l="0" t="0" r="r" b="b"/>
            <a:pathLst>
              <a:path w="69" h="70">
                <a:moveTo>
                  <a:pt x="0" y="70"/>
                </a:moveTo>
                <a:lnTo>
                  <a:pt x="34" y="0"/>
                </a:lnTo>
                <a:lnTo>
                  <a:pt x="69" y="70"/>
                </a:lnTo>
                <a:lnTo>
                  <a:pt x="0" y="70"/>
                </a:lnTo>
                <a:close/>
              </a:path>
            </a:pathLst>
          </a:custGeom>
          <a:solidFill>
            <a:srgbClr val="000000"/>
          </a:solidFill>
          <a:ln w="9525">
            <a:noFill/>
            <a:round/>
            <a:headEnd/>
            <a:tailEnd/>
          </a:ln>
        </p:spPr>
        <p:txBody>
          <a:bodyPr/>
          <a:lstStyle/>
          <a:p>
            <a:endParaRPr lang="es-ES"/>
          </a:p>
        </p:txBody>
      </p:sp>
      <p:sp>
        <p:nvSpPr>
          <p:cNvPr id="53" name="Line 51"/>
          <p:cNvSpPr>
            <a:spLocks noChangeShapeType="1"/>
          </p:cNvSpPr>
          <p:nvPr/>
        </p:nvSpPr>
        <p:spPr bwMode="auto">
          <a:xfrm flipV="1">
            <a:off x="7316272" y="3033032"/>
            <a:ext cx="1588" cy="523875"/>
          </a:xfrm>
          <a:prstGeom prst="line">
            <a:avLst/>
          </a:prstGeom>
          <a:noFill/>
          <a:ln w="12700">
            <a:solidFill>
              <a:srgbClr val="000000"/>
            </a:solidFill>
            <a:round/>
            <a:headEnd/>
            <a:tailEnd/>
          </a:ln>
        </p:spPr>
        <p:txBody>
          <a:bodyPr/>
          <a:lstStyle/>
          <a:p>
            <a:endParaRPr lang="es-ES"/>
          </a:p>
        </p:txBody>
      </p:sp>
      <p:sp>
        <p:nvSpPr>
          <p:cNvPr id="54" name="Freeform 52"/>
          <p:cNvSpPr>
            <a:spLocks/>
          </p:cNvSpPr>
          <p:nvPr/>
        </p:nvSpPr>
        <p:spPr bwMode="auto">
          <a:xfrm>
            <a:off x="7259122" y="2936195"/>
            <a:ext cx="111125" cy="111125"/>
          </a:xfrm>
          <a:custGeom>
            <a:avLst/>
            <a:gdLst/>
            <a:ahLst/>
            <a:cxnLst>
              <a:cxn ang="0">
                <a:pos x="0" y="70"/>
              </a:cxn>
              <a:cxn ang="0">
                <a:pos x="36" y="0"/>
              </a:cxn>
              <a:cxn ang="0">
                <a:pos x="70" y="70"/>
              </a:cxn>
              <a:cxn ang="0">
                <a:pos x="0" y="70"/>
              </a:cxn>
            </a:cxnLst>
            <a:rect l="0" t="0" r="r" b="b"/>
            <a:pathLst>
              <a:path w="70" h="70">
                <a:moveTo>
                  <a:pt x="0" y="70"/>
                </a:moveTo>
                <a:lnTo>
                  <a:pt x="36" y="0"/>
                </a:lnTo>
                <a:lnTo>
                  <a:pt x="70" y="70"/>
                </a:lnTo>
                <a:lnTo>
                  <a:pt x="0" y="70"/>
                </a:lnTo>
                <a:close/>
              </a:path>
            </a:pathLst>
          </a:custGeom>
          <a:solidFill>
            <a:srgbClr val="000000"/>
          </a:solidFill>
          <a:ln w="9525">
            <a:noFill/>
            <a:round/>
            <a:headEnd/>
            <a:tailEnd/>
          </a:ln>
        </p:spPr>
        <p:txBody>
          <a:bodyPr/>
          <a:lstStyle/>
          <a:p>
            <a:endParaRPr lang="es-ES"/>
          </a:p>
        </p:txBody>
      </p:sp>
      <p:sp>
        <p:nvSpPr>
          <p:cNvPr id="55" name="Line 53"/>
          <p:cNvSpPr>
            <a:spLocks noChangeShapeType="1"/>
          </p:cNvSpPr>
          <p:nvPr/>
        </p:nvSpPr>
        <p:spPr bwMode="auto">
          <a:xfrm flipV="1">
            <a:off x="3695185" y="3033032"/>
            <a:ext cx="1587" cy="523875"/>
          </a:xfrm>
          <a:prstGeom prst="line">
            <a:avLst/>
          </a:prstGeom>
          <a:noFill/>
          <a:ln w="12700">
            <a:solidFill>
              <a:srgbClr val="000000"/>
            </a:solidFill>
            <a:round/>
            <a:headEnd/>
            <a:tailEnd/>
          </a:ln>
        </p:spPr>
        <p:txBody>
          <a:bodyPr/>
          <a:lstStyle/>
          <a:p>
            <a:endParaRPr lang="es-ES"/>
          </a:p>
        </p:txBody>
      </p:sp>
      <p:sp>
        <p:nvSpPr>
          <p:cNvPr id="56" name="Freeform 54"/>
          <p:cNvSpPr>
            <a:spLocks/>
          </p:cNvSpPr>
          <p:nvPr/>
        </p:nvSpPr>
        <p:spPr bwMode="auto">
          <a:xfrm>
            <a:off x="3641210" y="2936195"/>
            <a:ext cx="111125" cy="111125"/>
          </a:xfrm>
          <a:custGeom>
            <a:avLst/>
            <a:gdLst/>
            <a:ahLst/>
            <a:cxnLst>
              <a:cxn ang="0">
                <a:pos x="0" y="70"/>
              </a:cxn>
              <a:cxn ang="0">
                <a:pos x="34" y="0"/>
              </a:cxn>
              <a:cxn ang="0">
                <a:pos x="70" y="70"/>
              </a:cxn>
              <a:cxn ang="0">
                <a:pos x="0" y="70"/>
              </a:cxn>
            </a:cxnLst>
            <a:rect l="0" t="0" r="r" b="b"/>
            <a:pathLst>
              <a:path w="70" h="70">
                <a:moveTo>
                  <a:pt x="0" y="70"/>
                </a:moveTo>
                <a:lnTo>
                  <a:pt x="34" y="0"/>
                </a:lnTo>
                <a:lnTo>
                  <a:pt x="70" y="70"/>
                </a:lnTo>
                <a:lnTo>
                  <a:pt x="0" y="70"/>
                </a:lnTo>
                <a:close/>
              </a:path>
            </a:pathLst>
          </a:custGeom>
          <a:solidFill>
            <a:srgbClr val="000000"/>
          </a:solidFill>
          <a:ln w="9525">
            <a:noFill/>
            <a:round/>
            <a:headEnd/>
            <a:tailEnd/>
          </a:ln>
        </p:spPr>
        <p:txBody>
          <a:bodyPr/>
          <a:lstStyle/>
          <a:p>
            <a:endParaRPr lang="es-ES"/>
          </a:p>
        </p:txBody>
      </p:sp>
      <p:sp>
        <p:nvSpPr>
          <p:cNvPr id="57" name="Line 55"/>
          <p:cNvSpPr>
            <a:spLocks noChangeShapeType="1"/>
          </p:cNvSpPr>
          <p:nvPr/>
        </p:nvSpPr>
        <p:spPr bwMode="auto">
          <a:xfrm>
            <a:off x="6863835" y="2936195"/>
            <a:ext cx="1587" cy="520700"/>
          </a:xfrm>
          <a:prstGeom prst="line">
            <a:avLst/>
          </a:prstGeom>
          <a:noFill/>
          <a:ln w="12700">
            <a:solidFill>
              <a:srgbClr val="000000"/>
            </a:solidFill>
            <a:round/>
            <a:headEnd/>
            <a:tailEnd/>
          </a:ln>
        </p:spPr>
        <p:txBody>
          <a:bodyPr/>
          <a:lstStyle/>
          <a:p>
            <a:endParaRPr lang="es-ES"/>
          </a:p>
        </p:txBody>
      </p:sp>
      <p:sp>
        <p:nvSpPr>
          <p:cNvPr id="58" name="Freeform 56"/>
          <p:cNvSpPr>
            <a:spLocks/>
          </p:cNvSpPr>
          <p:nvPr/>
        </p:nvSpPr>
        <p:spPr bwMode="auto">
          <a:xfrm>
            <a:off x="6808272" y="3442607"/>
            <a:ext cx="109538" cy="114300"/>
          </a:xfrm>
          <a:custGeom>
            <a:avLst/>
            <a:gdLst/>
            <a:ahLst/>
            <a:cxnLst>
              <a:cxn ang="0">
                <a:pos x="69" y="0"/>
              </a:cxn>
              <a:cxn ang="0">
                <a:pos x="35" y="72"/>
              </a:cxn>
              <a:cxn ang="0">
                <a:pos x="0" y="0"/>
              </a:cxn>
              <a:cxn ang="0">
                <a:pos x="69" y="0"/>
              </a:cxn>
            </a:cxnLst>
            <a:rect l="0" t="0" r="r" b="b"/>
            <a:pathLst>
              <a:path w="69" h="72">
                <a:moveTo>
                  <a:pt x="69" y="0"/>
                </a:moveTo>
                <a:lnTo>
                  <a:pt x="35" y="72"/>
                </a:lnTo>
                <a:lnTo>
                  <a:pt x="0" y="0"/>
                </a:lnTo>
                <a:lnTo>
                  <a:pt x="69" y="0"/>
                </a:lnTo>
                <a:close/>
              </a:path>
            </a:pathLst>
          </a:custGeom>
          <a:solidFill>
            <a:srgbClr val="000000"/>
          </a:solidFill>
          <a:ln w="9525">
            <a:noFill/>
            <a:round/>
            <a:headEnd/>
            <a:tailEnd/>
          </a:ln>
        </p:spPr>
        <p:txBody>
          <a:bodyPr/>
          <a:lstStyle/>
          <a:p>
            <a:endParaRPr lang="es-ES"/>
          </a:p>
        </p:txBody>
      </p:sp>
      <p:sp>
        <p:nvSpPr>
          <p:cNvPr id="59" name="Line 57"/>
          <p:cNvSpPr>
            <a:spLocks noChangeShapeType="1"/>
          </p:cNvSpPr>
          <p:nvPr/>
        </p:nvSpPr>
        <p:spPr bwMode="auto">
          <a:xfrm>
            <a:off x="5052497" y="2936195"/>
            <a:ext cx="1588" cy="520700"/>
          </a:xfrm>
          <a:prstGeom prst="line">
            <a:avLst/>
          </a:prstGeom>
          <a:noFill/>
          <a:ln w="12700">
            <a:solidFill>
              <a:srgbClr val="000000"/>
            </a:solidFill>
            <a:round/>
            <a:headEnd/>
            <a:tailEnd/>
          </a:ln>
        </p:spPr>
        <p:txBody>
          <a:bodyPr/>
          <a:lstStyle/>
          <a:p>
            <a:endParaRPr lang="es-ES"/>
          </a:p>
        </p:txBody>
      </p:sp>
      <p:sp>
        <p:nvSpPr>
          <p:cNvPr id="60" name="Freeform 58"/>
          <p:cNvSpPr>
            <a:spLocks/>
          </p:cNvSpPr>
          <p:nvPr/>
        </p:nvSpPr>
        <p:spPr bwMode="auto">
          <a:xfrm>
            <a:off x="4998522" y="3442607"/>
            <a:ext cx="111125" cy="114300"/>
          </a:xfrm>
          <a:custGeom>
            <a:avLst/>
            <a:gdLst/>
            <a:ahLst/>
            <a:cxnLst>
              <a:cxn ang="0">
                <a:pos x="70" y="0"/>
              </a:cxn>
              <a:cxn ang="0">
                <a:pos x="34" y="72"/>
              </a:cxn>
              <a:cxn ang="0">
                <a:pos x="0" y="0"/>
              </a:cxn>
              <a:cxn ang="0">
                <a:pos x="70" y="0"/>
              </a:cxn>
            </a:cxnLst>
            <a:rect l="0" t="0" r="r" b="b"/>
            <a:pathLst>
              <a:path w="70" h="72">
                <a:moveTo>
                  <a:pt x="70" y="0"/>
                </a:moveTo>
                <a:lnTo>
                  <a:pt x="34" y="72"/>
                </a:lnTo>
                <a:lnTo>
                  <a:pt x="0" y="0"/>
                </a:lnTo>
                <a:lnTo>
                  <a:pt x="70" y="0"/>
                </a:lnTo>
                <a:close/>
              </a:path>
            </a:pathLst>
          </a:custGeom>
          <a:solidFill>
            <a:srgbClr val="000000"/>
          </a:solidFill>
          <a:ln w="9525">
            <a:noFill/>
            <a:round/>
            <a:headEnd/>
            <a:tailEnd/>
          </a:ln>
        </p:spPr>
        <p:txBody>
          <a:bodyPr/>
          <a:lstStyle/>
          <a:p>
            <a:endParaRPr lang="es-E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Modelo de Desarrollo en Fases</a:t>
            </a:r>
            <a:endParaRPr lang="en-US" dirty="0"/>
          </a:p>
        </p:txBody>
      </p:sp>
      <p:sp>
        <p:nvSpPr>
          <p:cNvPr id="5" name="Text Box 397"/>
          <p:cNvSpPr txBox="1">
            <a:spLocks noChangeArrowheads="1"/>
          </p:cNvSpPr>
          <p:nvPr/>
        </p:nvSpPr>
        <p:spPr bwMode="auto">
          <a:xfrm>
            <a:off x="2171700" y="6583362"/>
            <a:ext cx="2278062" cy="274638"/>
          </a:xfrm>
          <a:prstGeom prst="rect">
            <a:avLst/>
          </a:prstGeom>
          <a:noFill/>
          <a:ln w="12700" algn="ctr">
            <a:noFill/>
            <a:miter lim="800000"/>
            <a:headEnd/>
            <a:tailEnd/>
          </a:ln>
        </p:spPr>
        <p:txBody>
          <a:bodyPr wrap="none">
            <a:spAutoFit/>
          </a:bodyPr>
          <a:lstStyle/>
          <a:p>
            <a:pPr algn="ctr" eaLnBrk="0" hangingPunct="0"/>
            <a:r>
              <a:rPr lang="es-ES" altLang="es-ES" sz="1200" dirty="0">
                <a:solidFill>
                  <a:srgbClr val="000099"/>
                </a:solidFill>
                <a:effectLst/>
                <a:latin typeface="Verdana" pitchFamily="34" charset="0"/>
              </a:rPr>
              <a:t>* Este valor es aproximado</a:t>
            </a:r>
          </a:p>
        </p:txBody>
      </p:sp>
      <p:sp>
        <p:nvSpPr>
          <p:cNvPr id="6" name="5 CuadroTexto"/>
          <p:cNvSpPr txBox="1"/>
          <p:nvPr/>
        </p:nvSpPr>
        <p:spPr>
          <a:xfrm>
            <a:off x="443307" y="1825853"/>
            <a:ext cx="11443893" cy="2839239"/>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sz="1700" dirty="0" smtClean="0">
                <a:solidFill>
                  <a:srgbClr val="002060"/>
                </a:solidFill>
              </a:rPr>
              <a:t>Hoy, el mercado no acepta grandes retardos.</a:t>
            </a:r>
          </a:p>
          <a:p>
            <a:pPr marL="273050" indent="-273050">
              <a:lnSpc>
                <a:spcPct val="150000"/>
              </a:lnSpc>
              <a:buFont typeface="Wingdings" pitchFamily="2" charset="2"/>
              <a:buChar char="q"/>
            </a:pPr>
            <a:r>
              <a:rPr lang="es-ES" altLang="es-ES" sz="1700" dirty="0" smtClean="0">
                <a:solidFill>
                  <a:srgbClr val="002060"/>
                </a:solidFill>
              </a:rPr>
              <a:t>Una forma de reducirlos es desarrollar en fases.</a:t>
            </a:r>
          </a:p>
          <a:p>
            <a:pPr marL="273050" indent="-273050">
              <a:lnSpc>
                <a:spcPct val="150000"/>
              </a:lnSpc>
              <a:buFont typeface="Wingdings" pitchFamily="2" charset="2"/>
              <a:buChar char="q"/>
            </a:pPr>
            <a:r>
              <a:rPr lang="es-ES" altLang="es-ES" sz="1700" dirty="0" smtClean="0">
                <a:solidFill>
                  <a:srgbClr val="002060"/>
                </a:solidFill>
              </a:rPr>
              <a:t>El sistema se diseña de manera que pueda ser entregado por partes.</a:t>
            </a:r>
          </a:p>
          <a:p>
            <a:pPr marL="273050" indent="-273050">
              <a:lnSpc>
                <a:spcPct val="150000"/>
              </a:lnSpc>
              <a:buFont typeface="Wingdings" pitchFamily="2" charset="2"/>
              <a:buChar char="q"/>
            </a:pPr>
            <a:r>
              <a:rPr lang="es-ES" altLang="es-ES" sz="1700" dirty="0" smtClean="0">
                <a:solidFill>
                  <a:srgbClr val="002060"/>
                </a:solidFill>
              </a:rPr>
              <a:t>Así, el usuario tiene algo de funcionalidad, mientras se desarrolla el resto.</a:t>
            </a:r>
          </a:p>
          <a:p>
            <a:pPr marL="273050" indent="-273050">
              <a:lnSpc>
                <a:spcPct val="150000"/>
              </a:lnSpc>
              <a:buFont typeface="Wingdings" pitchFamily="2" charset="2"/>
              <a:buChar char="q"/>
            </a:pPr>
            <a:r>
              <a:rPr lang="es-ES" altLang="es-ES" sz="1700" dirty="0" smtClean="0">
                <a:solidFill>
                  <a:srgbClr val="002060"/>
                </a:solidFill>
              </a:rPr>
              <a:t>Hay dos sistemas funcionando en paralelo:</a:t>
            </a:r>
          </a:p>
          <a:p>
            <a:pPr marL="730250" lvl="1" indent="-273050">
              <a:lnSpc>
                <a:spcPct val="150000"/>
              </a:lnSpc>
              <a:buFont typeface="Wingdings" pitchFamily="2" charset="2"/>
              <a:buChar char="ü"/>
            </a:pPr>
            <a:r>
              <a:rPr lang="es-ES" altLang="es-ES" sz="1700" dirty="0" smtClean="0">
                <a:solidFill>
                  <a:srgbClr val="002060"/>
                </a:solidFill>
              </a:rPr>
              <a:t>El de Producción. Usado por el Cliente.</a:t>
            </a:r>
          </a:p>
          <a:p>
            <a:pPr marL="730250" lvl="1" indent="-273050">
              <a:lnSpc>
                <a:spcPct val="150000"/>
              </a:lnSpc>
              <a:buFont typeface="Wingdings" pitchFamily="2" charset="2"/>
              <a:buChar char="ü"/>
            </a:pPr>
            <a:r>
              <a:rPr lang="es-ES" altLang="es-ES" sz="1700" dirty="0" smtClean="0">
                <a:solidFill>
                  <a:srgbClr val="002060"/>
                </a:solidFill>
              </a:rPr>
              <a:t>El de Desarrollo. La siguiente versión que reemplazará a la actual de Producción.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Modelo de Desarrollo en Fases</a:t>
            </a:r>
            <a:endParaRPr lang="en-US" dirty="0"/>
          </a:p>
        </p:txBody>
      </p:sp>
      <p:sp>
        <p:nvSpPr>
          <p:cNvPr id="5" name="Text Box 397"/>
          <p:cNvSpPr txBox="1">
            <a:spLocks noChangeArrowheads="1"/>
          </p:cNvSpPr>
          <p:nvPr/>
        </p:nvSpPr>
        <p:spPr bwMode="auto">
          <a:xfrm>
            <a:off x="2171700" y="6583362"/>
            <a:ext cx="2278062" cy="274638"/>
          </a:xfrm>
          <a:prstGeom prst="rect">
            <a:avLst/>
          </a:prstGeom>
          <a:noFill/>
          <a:ln w="12700" algn="ctr">
            <a:noFill/>
            <a:miter lim="800000"/>
            <a:headEnd/>
            <a:tailEnd/>
          </a:ln>
        </p:spPr>
        <p:txBody>
          <a:bodyPr wrap="none">
            <a:spAutoFit/>
          </a:bodyPr>
          <a:lstStyle/>
          <a:p>
            <a:pPr algn="ctr" eaLnBrk="0" hangingPunct="0"/>
            <a:r>
              <a:rPr lang="es-ES" altLang="es-ES" sz="1200" dirty="0">
                <a:solidFill>
                  <a:srgbClr val="000099"/>
                </a:solidFill>
                <a:effectLst/>
                <a:latin typeface="Verdana" pitchFamily="34" charset="0"/>
              </a:rPr>
              <a:t>* Este valor es aproximado</a:t>
            </a:r>
          </a:p>
        </p:txBody>
      </p:sp>
      <p:grpSp>
        <p:nvGrpSpPr>
          <p:cNvPr id="7" name="Group 3"/>
          <p:cNvGrpSpPr>
            <a:grpSpLocks noChangeAspect="1"/>
          </p:cNvGrpSpPr>
          <p:nvPr/>
        </p:nvGrpSpPr>
        <p:grpSpPr bwMode="auto">
          <a:xfrm>
            <a:off x="1886198" y="2217243"/>
            <a:ext cx="8853488" cy="3840162"/>
            <a:chOff x="96" y="1277"/>
            <a:chExt cx="5577" cy="2419"/>
          </a:xfrm>
        </p:grpSpPr>
        <p:sp>
          <p:nvSpPr>
            <p:cNvPr id="8" name="AutoShape 4"/>
            <p:cNvSpPr>
              <a:spLocks noChangeAspect="1" noChangeArrowheads="1" noTextEdit="1"/>
            </p:cNvSpPr>
            <p:nvPr/>
          </p:nvSpPr>
          <p:spPr bwMode="auto">
            <a:xfrm>
              <a:off x="96" y="1277"/>
              <a:ext cx="5577" cy="2419"/>
            </a:xfrm>
            <a:prstGeom prst="rect">
              <a:avLst/>
            </a:prstGeom>
            <a:noFill/>
            <a:ln w="9525">
              <a:noFill/>
              <a:miter lim="800000"/>
              <a:headEnd/>
              <a:tailEnd/>
            </a:ln>
          </p:spPr>
          <p:txBody>
            <a:bodyPr/>
            <a:lstStyle/>
            <a:p>
              <a:endParaRPr lang="es-ES"/>
            </a:p>
          </p:txBody>
        </p:sp>
        <p:sp>
          <p:nvSpPr>
            <p:cNvPr id="9" name="Rectangle 5"/>
            <p:cNvSpPr>
              <a:spLocks noChangeArrowheads="1"/>
            </p:cNvSpPr>
            <p:nvPr/>
          </p:nvSpPr>
          <p:spPr bwMode="auto">
            <a:xfrm>
              <a:off x="4654" y="1730"/>
              <a:ext cx="784" cy="185"/>
            </a:xfrm>
            <a:prstGeom prst="rect">
              <a:avLst/>
            </a:prstGeom>
            <a:noFill/>
            <a:ln w="9525">
              <a:noFill/>
              <a:miter lim="800000"/>
              <a:headEnd/>
              <a:tailEnd/>
            </a:ln>
          </p:spPr>
          <p:txBody>
            <a:bodyPr wrap="none" lIns="0" tIns="0" rIns="0" bIns="0">
              <a:spAutoFit/>
            </a:bodyPr>
            <a:lstStyle/>
            <a:p>
              <a:r>
                <a:rPr lang="es-ES" sz="1700" b="1">
                  <a:solidFill>
                    <a:srgbClr val="000000"/>
                  </a:solidFill>
                  <a:effectLst/>
                </a:rPr>
                <a:t>DESARRO-</a:t>
              </a:r>
              <a:endParaRPr lang="es-ES" sz="1800">
                <a:effectLst/>
              </a:endParaRPr>
            </a:p>
          </p:txBody>
        </p:sp>
        <p:sp>
          <p:nvSpPr>
            <p:cNvPr id="10" name="Rectangle 6"/>
            <p:cNvSpPr>
              <a:spLocks noChangeArrowheads="1"/>
            </p:cNvSpPr>
            <p:nvPr/>
          </p:nvSpPr>
          <p:spPr bwMode="auto">
            <a:xfrm>
              <a:off x="4644" y="1889"/>
              <a:ext cx="804" cy="185"/>
            </a:xfrm>
            <a:prstGeom prst="rect">
              <a:avLst/>
            </a:prstGeom>
            <a:noFill/>
            <a:ln w="9525">
              <a:noFill/>
              <a:miter lim="800000"/>
              <a:headEnd/>
              <a:tailEnd/>
            </a:ln>
          </p:spPr>
          <p:txBody>
            <a:bodyPr wrap="none" lIns="0" tIns="0" rIns="0" bIns="0">
              <a:spAutoFit/>
            </a:bodyPr>
            <a:lstStyle/>
            <a:p>
              <a:r>
                <a:rPr lang="es-ES" sz="1700" b="1">
                  <a:solidFill>
                    <a:srgbClr val="000000"/>
                  </a:solidFill>
                  <a:effectLst/>
                </a:rPr>
                <a:t>LLADORES</a:t>
              </a:r>
              <a:endParaRPr lang="es-ES" sz="1800">
                <a:effectLst/>
              </a:endParaRPr>
            </a:p>
          </p:txBody>
        </p:sp>
        <p:sp>
          <p:nvSpPr>
            <p:cNvPr id="11" name="Rectangle 7"/>
            <p:cNvSpPr>
              <a:spLocks noChangeArrowheads="1"/>
            </p:cNvSpPr>
            <p:nvPr/>
          </p:nvSpPr>
          <p:spPr bwMode="auto">
            <a:xfrm>
              <a:off x="278" y="1594"/>
              <a:ext cx="1191" cy="595"/>
            </a:xfrm>
            <a:prstGeom prst="rect">
              <a:avLst/>
            </a:prstGeom>
            <a:solidFill>
              <a:srgbClr val="FFCC66"/>
            </a:solidFill>
            <a:ln w="20638">
              <a:solidFill>
                <a:srgbClr val="000000"/>
              </a:solidFill>
              <a:miter lim="800000"/>
              <a:headEnd/>
              <a:tailEnd/>
            </a:ln>
          </p:spPr>
          <p:txBody>
            <a:bodyPr/>
            <a:lstStyle/>
            <a:p>
              <a:endParaRPr lang="es-ES"/>
            </a:p>
          </p:txBody>
        </p:sp>
        <p:sp>
          <p:nvSpPr>
            <p:cNvPr id="12" name="Rectangle 8"/>
            <p:cNvSpPr>
              <a:spLocks noChangeArrowheads="1"/>
            </p:cNvSpPr>
            <p:nvPr/>
          </p:nvSpPr>
          <p:spPr bwMode="auto">
            <a:xfrm>
              <a:off x="473" y="1696"/>
              <a:ext cx="893"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CONSTRUIR</a:t>
              </a:r>
              <a:endParaRPr lang="es-ES" sz="1800">
                <a:effectLst/>
              </a:endParaRPr>
            </a:p>
          </p:txBody>
        </p:sp>
        <p:sp>
          <p:nvSpPr>
            <p:cNvPr id="13" name="Rectangle 9"/>
            <p:cNvSpPr>
              <a:spLocks noChangeArrowheads="1"/>
            </p:cNvSpPr>
            <p:nvPr/>
          </p:nvSpPr>
          <p:spPr bwMode="auto">
            <a:xfrm>
              <a:off x="506" y="1875"/>
              <a:ext cx="820"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VERSIÓN 1</a:t>
              </a:r>
              <a:endParaRPr lang="es-ES" sz="1800">
                <a:effectLst/>
              </a:endParaRPr>
            </a:p>
          </p:txBody>
        </p:sp>
        <p:sp>
          <p:nvSpPr>
            <p:cNvPr id="14" name="Rectangle 10"/>
            <p:cNvSpPr>
              <a:spLocks noChangeArrowheads="1"/>
            </p:cNvSpPr>
            <p:nvPr/>
          </p:nvSpPr>
          <p:spPr bwMode="auto">
            <a:xfrm>
              <a:off x="1171" y="2784"/>
              <a:ext cx="1191" cy="595"/>
            </a:xfrm>
            <a:prstGeom prst="rect">
              <a:avLst/>
            </a:prstGeom>
            <a:solidFill>
              <a:srgbClr val="FFCC66"/>
            </a:solidFill>
            <a:ln w="20638">
              <a:solidFill>
                <a:srgbClr val="000000"/>
              </a:solidFill>
              <a:miter lim="800000"/>
              <a:headEnd/>
              <a:tailEnd/>
            </a:ln>
          </p:spPr>
          <p:txBody>
            <a:bodyPr/>
            <a:lstStyle/>
            <a:p>
              <a:endParaRPr lang="es-ES"/>
            </a:p>
          </p:txBody>
        </p:sp>
        <p:sp>
          <p:nvSpPr>
            <p:cNvPr id="15" name="Rectangle 11"/>
            <p:cNvSpPr>
              <a:spLocks noChangeArrowheads="1"/>
            </p:cNvSpPr>
            <p:nvPr/>
          </p:nvSpPr>
          <p:spPr bwMode="auto">
            <a:xfrm>
              <a:off x="1257" y="2889"/>
              <a:ext cx="1111"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USAR VERSIÓN</a:t>
              </a:r>
              <a:endParaRPr lang="es-ES" sz="1800">
                <a:effectLst/>
              </a:endParaRPr>
            </a:p>
          </p:txBody>
        </p:sp>
        <p:sp>
          <p:nvSpPr>
            <p:cNvPr id="16" name="Rectangle 12"/>
            <p:cNvSpPr>
              <a:spLocks noChangeArrowheads="1"/>
            </p:cNvSpPr>
            <p:nvPr/>
          </p:nvSpPr>
          <p:spPr bwMode="auto">
            <a:xfrm>
              <a:off x="1727" y="3068"/>
              <a:ext cx="149"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1</a:t>
              </a:r>
              <a:endParaRPr lang="es-ES" sz="1800">
                <a:effectLst/>
              </a:endParaRPr>
            </a:p>
          </p:txBody>
        </p:sp>
        <p:sp>
          <p:nvSpPr>
            <p:cNvPr id="17" name="Rectangle 13"/>
            <p:cNvSpPr>
              <a:spLocks noChangeArrowheads="1"/>
            </p:cNvSpPr>
            <p:nvPr/>
          </p:nvSpPr>
          <p:spPr bwMode="auto">
            <a:xfrm>
              <a:off x="1766" y="1594"/>
              <a:ext cx="1195" cy="595"/>
            </a:xfrm>
            <a:prstGeom prst="rect">
              <a:avLst/>
            </a:prstGeom>
            <a:solidFill>
              <a:srgbClr val="FFCC66"/>
            </a:solidFill>
            <a:ln w="20638">
              <a:solidFill>
                <a:srgbClr val="000000"/>
              </a:solidFill>
              <a:miter lim="800000"/>
              <a:headEnd/>
              <a:tailEnd/>
            </a:ln>
          </p:spPr>
          <p:txBody>
            <a:bodyPr/>
            <a:lstStyle/>
            <a:p>
              <a:endParaRPr lang="es-ES"/>
            </a:p>
          </p:txBody>
        </p:sp>
        <p:sp>
          <p:nvSpPr>
            <p:cNvPr id="18" name="Rectangle 14"/>
            <p:cNvSpPr>
              <a:spLocks noChangeArrowheads="1"/>
            </p:cNvSpPr>
            <p:nvPr/>
          </p:nvSpPr>
          <p:spPr bwMode="auto">
            <a:xfrm>
              <a:off x="1962" y="1696"/>
              <a:ext cx="893"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CONSTRUIR</a:t>
              </a:r>
              <a:endParaRPr lang="es-ES" sz="1800">
                <a:effectLst/>
              </a:endParaRPr>
            </a:p>
          </p:txBody>
        </p:sp>
        <p:sp>
          <p:nvSpPr>
            <p:cNvPr id="19" name="Rectangle 15"/>
            <p:cNvSpPr>
              <a:spLocks noChangeArrowheads="1"/>
            </p:cNvSpPr>
            <p:nvPr/>
          </p:nvSpPr>
          <p:spPr bwMode="auto">
            <a:xfrm>
              <a:off x="1995" y="1875"/>
              <a:ext cx="820"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VERSIÓN 2</a:t>
              </a:r>
              <a:endParaRPr lang="es-ES" sz="1800">
                <a:effectLst/>
              </a:endParaRPr>
            </a:p>
          </p:txBody>
        </p:sp>
        <p:sp>
          <p:nvSpPr>
            <p:cNvPr id="20" name="Rectangle 16"/>
            <p:cNvSpPr>
              <a:spLocks noChangeArrowheads="1"/>
            </p:cNvSpPr>
            <p:nvPr/>
          </p:nvSpPr>
          <p:spPr bwMode="auto">
            <a:xfrm>
              <a:off x="2660" y="2784"/>
              <a:ext cx="1194" cy="595"/>
            </a:xfrm>
            <a:prstGeom prst="rect">
              <a:avLst/>
            </a:prstGeom>
            <a:solidFill>
              <a:srgbClr val="FFCC66"/>
            </a:solidFill>
            <a:ln w="20638">
              <a:solidFill>
                <a:srgbClr val="000000"/>
              </a:solidFill>
              <a:miter lim="800000"/>
              <a:headEnd/>
              <a:tailEnd/>
            </a:ln>
          </p:spPr>
          <p:txBody>
            <a:bodyPr/>
            <a:lstStyle/>
            <a:p>
              <a:endParaRPr lang="es-ES"/>
            </a:p>
          </p:txBody>
        </p:sp>
        <p:sp>
          <p:nvSpPr>
            <p:cNvPr id="21" name="Rectangle 17"/>
            <p:cNvSpPr>
              <a:spLocks noChangeArrowheads="1"/>
            </p:cNvSpPr>
            <p:nvPr/>
          </p:nvSpPr>
          <p:spPr bwMode="auto">
            <a:xfrm>
              <a:off x="2746" y="2889"/>
              <a:ext cx="1111"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USAR VERSIÓN</a:t>
              </a:r>
              <a:endParaRPr lang="es-ES" sz="1800">
                <a:effectLst/>
              </a:endParaRPr>
            </a:p>
          </p:txBody>
        </p:sp>
        <p:sp>
          <p:nvSpPr>
            <p:cNvPr id="22" name="Rectangle 18"/>
            <p:cNvSpPr>
              <a:spLocks noChangeArrowheads="1"/>
            </p:cNvSpPr>
            <p:nvPr/>
          </p:nvSpPr>
          <p:spPr bwMode="auto">
            <a:xfrm>
              <a:off x="3215" y="3068"/>
              <a:ext cx="149"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2</a:t>
              </a:r>
              <a:endParaRPr lang="es-ES" sz="1800">
                <a:effectLst/>
              </a:endParaRPr>
            </a:p>
          </p:txBody>
        </p:sp>
        <p:sp>
          <p:nvSpPr>
            <p:cNvPr id="23" name="Rectangle 19"/>
            <p:cNvSpPr>
              <a:spLocks noChangeArrowheads="1"/>
            </p:cNvSpPr>
            <p:nvPr/>
          </p:nvSpPr>
          <p:spPr bwMode="auto">
            <a:xfrm>
              <a:off x="3258" y="1594"/>
              <a:ext cx="1191" cy="595"/>
            </a:xfrm>
            <a:prstGeom prst="rect">
              <a:avLst/>
            </a:prstGeom>
            <a:solidFill>
              <a:srgbClr val="FFCC66"/>
            </a:solidFill>
            <a:ln w="20638">
              <a:solidFill>
                <a:srgbClr val="000000"/>
              </a:solidFill>
              <a:miter lim="800000"/>
              <a:headEnd/>
              <a:tailEnd/>
            </a:ln>
          </p:spPr>
          <p:txBody>
            <a:bodyPr/>
            <a:lstStyle/>
            <a:p>
              <a:endParaRPr lang="es-ES"/>
            </a:p>
          </p:txBody>
        </p:sp>
        <p:sp>
          <p:nvSpPr>
            <p:cNvPr id="24" name="Rectangle 20"/>
            <p:cNvSpPr>
              <a:spLocks noChangeArrowheads="1"/>
            </p:cNvSpPr>
            <p:nvPr/>
          </p:nvSpPr>
          <p:spPr bwMode="auto">
            <a:xfrm>
              <a:off x="3450" y="1696"/>
              <a:ext cx="893"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CONSTRUIR</a:t>
              </a:r>
              <a:endParaRPr lang="es-ES" sz="1800">
                <a:effectLst/>
              </a:endParaRPr>
            </a:p>
          </p:txBody>
        </p:sp>
        <p:sp>
          <p:nvSpPr>
            <p:cNvPr id="25" name="Rectangle 21"/>
            <p:cNvSpPr>
              <a:spLocks noChangeArrowheads="1"/>
            </p:cNvSpPr>
            <p:nvPr/>
          </p:nvSpPr>
          <p:spPr bwMode="auto">
            <a:xfrm>
              <a:off x="3483" y="1875"/>
              <a:ext cx="820"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VERSIÓN 3</a:t>
              </a:r>
              <a:endParaRPr lang="es-ES" sz="1800">
                <a:effectLst/>
              </a:endParaRPr>
            </a:p>
          </p:txBody>
        </p:sp>
        <p:sp>
          <p:nvSpPr>
            <p:cNvPr id="26" name="Rectangle 22"/>
            <p:cNvSpPr>
              <a:spLocks noChangeArrowheads="1"/>
            </p:cNvSpPr>
            <p:nvPr/>
          </p:nvSpPr>
          <p:spPr bwMode="auto">
            <a:xfrm>
              <a:off x="4151" y="2784"/>
              <a:ext cx="1191" cy="595"/>
            </a:xfrm>
            <a:prstGeom prst="rect">
              <a:avLst/>
            </a:prstGeom>
            <a:solidFill>
              <a:srgbClr val="FFCC66"/>
            </a:solidFill>
            <a:ln w="20638">
              <a:solidFill>
                <a:srgbClr val="000000"/>
              </a:solidFill>
              <a:miter lim="800000"/>
              <a:headEnd/>
              <a:tailEnd/>
            </a:ln>
          </p:spPr>
          <p:txBody>
            <a:bodyPr/>
            <a:lstStyle/>
            <a:p>
              <a:endParaRPr lang="es-ES"/>
            </a:p>
          </p:txBody>
        </p:sp>
        <p:sp>
          <p:nvSpPr>
            <p:cNvPr id="27" name="Rectangle 23"/>
            <p:cNvSpPr>
              <a:spLocks noChangeArrowheads="1"/>
            </p:cNvSpPr>
            <p:nvPr/>
          </p:nvSpPr>
          <p:spPr bwMode="auto">
            <a:xfrm>
              <a:off x="4237" y="2889"/>
              <a:ext cx="1111"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USAR VERSIÓN</a:t>
              </a:r>
              <a:endParaRPr lang="es-ES" sz="1800">
                <a:effectLst/>
              </a:endParaRPr>
            </a:p>
          </p:txBody>
        </p:sp>
        <p:sp>
          <p:nvSpPr>
            <p:cNvPr id="28" name="Rectangle 24"/>
            <p:cNvSpPr>
              <a:spLocks noChangeArrowheads="1"/>
            </p:cNvSpPr>
            <p:nvPr/>
          </p:nvSpPr>
          <p:spPr bwMode="auto">
            <a:xfrm>
              <a:off x="4704" y="3068"/>
              <a:ext cx="149" cy="218"/>
            </a:xfrm>
            <a:prstGeom prst="rect">
              <a:avLst/>
            </a:prstGeom>
            <a:noFill/>
            <a:ln w="9525">
              <a:noFill/>
              <a:miter lim="800000"/>
              <a:headEnd/>
              <a:tailEnd/>
            </a:ln>
          </p:spPr>
          <p:txBody>
            <a:bodyPr wrap="none" lIns="0" tIns="0" rIns="0" bIns="0">
              <a:spAutoFit/>
            </a:bodyPr>
            <a:lstStyle/>
            <a:p>
              <a:r>
                <a:rPr lang="es-ES" sz="1900">
                  <a:solidFill>
                    <a:srgbClr val="000000"/>
                  </a:solidFill>
                  <a:effectLst/>
                  <a:latin typeface="Tahoma" pitchFamily="34" charset="0"/>
                </a:rPr>
                <a:t>3</a:t>
              </a:r>
              <a:endParaRPr lang="es-ES" sz="1800">
                <a:effectLst/>
              </a:endParaRPr>
            </a:p>
          </p:txBody>
        </p:sp>
        <p:sp>
          <p:nvSpPr>
            <p:cNvPr id="29" name="Line 25"/>
            <p:cNvSpPr>
              <a:spLocks noChangeShapeType="1"/>
            </p:cNvSpPr>
            <p:nvPr/>
          </p:nvSpPr>
          <p:spPr bwMode="auto">
            <a:xfrm>
              <a:off x="873" y="2189"/>
              <a:ext cx="817" cy="542"/>
            </a:xfrm>
            <a:prstGeom prst="line">
              <a:avLst/>
            </a:prstGeom>
            <a:noFill/>
            <a:ln w="20638">
              <a:solidFill>
                <a:srgbClr val="000000"/>
              </a:solidFill>
              <a:round/>
              <a:headEnd/>
              <a:tailEnd/>
            </a:ln>
          </p:spPr>
          <p:txBody>
            <a:bodyPr/>
            <a:lstStyle/>
            <a:p>
              <a:endParaRPr lang="es-ES"/>
            </a:p>
          </p:txBody>
        </p:sp>
        <p:sp>
          <p:nvSpPr>
            <p:cNvPr id="30" name="Freeform 26"/>
            <p:cNvSpPr>
              <a:spLocks/>
            </p:cNvSpPr>
            <p:nvPr/>
          </p:nvSpPr>
          <p:spPr bwMode="auto">
            <a:xfrm>
              <a:off x="1647" y="2681"/>
              <a:ext cx="119" cy="103"/>
            </a:xfrm>
            <a:custGeom>
              <a:avLst/>
              <a:gdLst/>
              <a:ahLst/>
              <a:cxnLst>
                <a:cxn ang="0">
                  <a:pos x="60" y="0"/>
                </a:cxn>
                <a:cxn ang="0">
                  <a:pos x="119" y="103"/>
                </a:cxn>
                <a:cxn ang="0">
                  <a:pos x="0" y="90"/>
                </a:cxn>
                <a:cxn ang="0">
                  <a:pos x="60" y="0"/>
                </a:cxn>
              </a:cxnLst>
              <a:rect l="0" t="0" r="r" b="b"/>
              <a:pathLst>
                <a:path w="119" h="103">
                  <a:moveTo>
                    <a:pt x="60" y="0"/>
                  </a:moveTo>
                  <a:lnTo>
                    <a:pt x="119" y="103"/>
                  </a:lnTo>
                  <a:lnTo>
                    <a:pt x="0" y="90"/>
                  </a:lnTo>
                  <a:lnTo>
                    <a:pt x="60" y="0"/>
                  </a:lnTo>
                  <a:close/>
                </a:path>
              </a:pathLst>
            </a:custGeom>
            <a:solidFill>
              <a:srgbClr val="000000"/>
            </a:solidFill>
            <a:ln w="9525">
              <a:noFill/>
              <a:round/>
              <a:headEnd/>
              <a:tailEnd/>
            </a:ln>
          </p:spPr>
          <p:txBody>
            <a:bodyPr/>
            <a:lstStyle/>
            <a:p>
              <a:endParaRPr lang="es-ES"/>
            </a:p>
          </p:txBody>
        </p:sp>
        <p:sp>
          <p:nvSpPr>
            <p:cNvPr id="31" name="Line 27"/>
            <p:cNvSpPr>
              <a:spLocks noChangeShapeType="1"/>
            </p:cNvSpPr>
            <p:nvPr/>
          </p:nvSpPr>
          <p:spPr bwMode="auto">
            <a:xfrm>
              <a:off x="2362" y="2189"/>
              <a:ext cx="817" cy="542"/>
            </a:xfrm>
            <a:prstGeom prst="line">
              <a:avLst/>
            </a:prstGeom>
            <a:noFill/>
            <a:ln w="20638">
              <a:solidFill>
                <a:srgbClr val="000000"/>
              </a:solidFill>
              <a:round/>
              <a:headEnd/>
              <a:tailEnd/>
            </a:ln>
          </p:spPr>
          <p:txBody>
            <a:bodyPr/>
            <a:lstStyle/>
            <a:p>
              <a:endParaRPr lang="es-ES"/>
            </a:p>
          </p:txBody>
        </p:sp>
        <p:sp>
          <p:nvSpPr>
            <p:cNvPr id="32" name="Freeform 28"/>
            <p:cNvSpPr>
              <a:spLocks/>
            </p:cNvSpPr>
            <p:nvPr/>
          </p:nvSpPr>
          <p:spPr bwMode="auto">
            <a:xfrm>
              <a:off x="3139" y="2681"/>
              <a:ext cx="119" cy="103"/>
            </a:xfrm>
            <a:custGeom>
              <a:avLst/>
              <a:gdLst/>
              <a:ahLst/>
              <a:cxnLst>
                <a:cxn ang="0">
                  <a:pos x="60" y="0"/>
                </a:cxn>
                <a:cxn ang="0">
                  <a:pos x="119" y="103"/>
                </a:cxn>
                <a:cxn ang="0">
                  <a:pos x="0" y="90"/>
                </a:cxn>
                <a:cxn ang="0">
                  <a:pos x="60" y="0"/>
                </a:cxn>
              </a:cxnLst>
              <a:rect l="0" t="0" r="r" b="b"/>
              <a:pathLst>
                <a:path w="119" h="103">
                  <a:moveTo>
                    <a:pt x="60" y="0"/>
                  </a:moveTo>
                  <a:lnTo>
                    <a:pt x="119" y="103"/>
                  </a:lnTo>
                  <a:lnTo>
                    <a:pt x="0" y="90"/>
                  </a:lnTo>
                  <a:lnTo>
                    <a:pt x="60" y="0"/>
                  </a:lnTo>
                  <a:close/>
                </a:path>
              </a:pathLst>
            </a:custGeom>
            <a:solidFill>
              <a:srgbClr val="000000"/>
            </a:solidFill>
            <a:ln w="9525">
              <a:noFill/>
              <a:round/>
              <a:headEnd/>
              <a:tailEnd/>
            </a:ln>
          </p:spPr>
          <p:txBody>
            <a:bodyPr/>
            <a:lstStyle/>
            <a:p>
              <a:endParaRPr lang="es-ES"/>
            </a:p>
          </p:txBody>
        </p:sp>
        <p:sp>
          <p:nvSpPr>
            <p:cNvPr id="33" name="Line 29"/>
            <p:cNvSpPr>
              <a:spLocks noChangeShapeType="1"/>
            </p:cNvSpPr>
            <p:nvPr/>
          </p:nvSpPr>
          <p:spPr bwMode="auto">
            <a:xfrm>
              <a:off x="3854" y="2189"/>
              <a:ext cx="813" cy="542"/>
            </a:xfrm>
            <a:prstGeom prst="line">
              <a:avLst/>
            </a:prstGeom>
            <a:noFill/>
            <a:ln w="20638">
              <a:solidFill>
                <a:srgbClr val="000000"/>
              </a:solidFill>
              <a:round/>
              <a:headEnd/>
              <a:tailEnd/>
            </a:ln>
          </p:spPr>
          <p:txBody>
            <a:bodyPr/>
            <a:lstStyle/>
            <a:p>
              <a:endParaRPr lang="es-ES"/>
            </a:p>
          </p:txBody>
        </p:sp>
        <p:sp>
          <p:nvSpPr>
            <p:cNvPr id="34" name="Freeform 30"/>
            <p:cNvSpPr>
              <a:spLocks/>
            </p:cNvSpPr>
            <p:nvPr/>
          </p:nvSpPr>
          <p:spPr bwMode="auto">
            <a:xfrm>
              <a:off x="4628" y="2681"/>
              <a:ext cx="119" cy="103"/>
            </a:xfrm>
            <a:custGeom>
              <a:avLst/>
              <a:gdLst/>
              <a:ahLst/>
              <a:cxnLst>
                <a:cxn ang="0">
                  <a:pos x="59" y="0"/>
                </a:cxn>
                <a:cxn ang="0">
                  <a:pos x="119" y="103"/>
                </a:cxn>
                <a:cxn ang="0">
                  <a:pos x="0" y="90"/>
                </a:cxn>
                <a:cxn ang="0">
                  <a:pos x="59" y="0"/>
                </a:cxn>
              </a:cxnLst>
              <a:rect l="0" t="0" r="r" b="b"/>
              <a:pathLst>
                <a:path w="119" h="103">
                  <a:moveTo>
                    <a:pt x="59" y="0"/>
                  </a:moveTo>
                  <a:lnTo>
                    <a:pt x="119" y="103"/>
                  </a:lnTo>
                  <a:lnTo>
                    <a:pt x="0" y="90"/>
                  </a:lnTo>
                  <a:lnTo>
                    <a:pt x="59" y="0"/>
                  </a:lnTo>
                  <a:close/>
                </a:path>
              </a:pathLst>
            </a:custGeom>
            <a:solidFill>
              <a:srgbClr val="000000"/>
            </a:solidFill>
            <a:ln w="9525">
              <a:noFill/>
              <a:round/>
              <a:headEnd/>
              <a:tailEnd/>
            </a:ln>
          </p:spPr>
          <p:txBody>
            <a:bodyPr/>
            <a:lstStyle/>
            <a:p>
              <a:endParaRPr lang="es-ES"/>
            </a:p>
          </p:txBody>
        </p:sp>
        <p:sp>
          <p:nvSpPr>
            <p:cNvPr id="35" name="Line 31"/>
            <p:cNvSpPr>
              <a:spLocks noChangeShapeType="1"/>
            </p:cNvSpPr>
            <p:nvPr/>
          </p:nvSpPr>
          <p:spPr bwMode="auto">
            <a:xfrm>
              <a:off x="278" y="2487"/>
              <a:ext cx="20" cy="1"/>
            </a:xfrm>
            <a:prstGeom prst="line">
              <a:avLst/>
            </a:prstGeom>
            <a:noFill/>
            <a:ln w="31750">
              <a:solidFill>
                <a:srgbClr val="000000"/>
              </a:solidFill>
              <a:round/>
              <a:headEnd/>
              <a:tailEnd/>
            </a:ln>
          </p:spPr>
          <p:txBody>
            <a:bodyPr/>
            <a:lstStyle/>
            <a:p>
              <a:endParaRPr lang="es-ES"/>
            </a:p>
          </p:txBody>
        </p:sp>
        <p:sp>
          <p:nvSpPr>
            <p:cNvPr id="36" name="Line 32"/>
            <p:cNvSpPr>
              <a:spLocks noChangeShapeType="1"/>
            </p:cNvSpPr>
            <p:nvPr/>
          </p:nvSpPr>
          <p:spPr bwMode="auto">
            <a:xfrm>
              <a:off x="357" y="2487"/>
              <a:ext cx="20" cy="1"/>
            </a:xfrm>
            <a:prstGeom prst="line">
              <a:avLst/>
            </a:prstGeom>
            <a:noFill/>
            <a:ln w="31750">
              <a:solidFill>
                <a:srgbClr val="000000"/>
              </a:solidFill>
              <a:round/>
              <a:headEnd/>
              <a:tailEnd/>
            </a:ln>
          </p:spPr>
          <p:txBody>
            <a:bodyPr/>
            <a:lstStyle/>
            <a:p>
              <a:endParaRPr lang="es-ES"/>
            </a:p>
          </p:txBody>
        </p:sp>
        <p:sp>
          <p:nvSpPr>
            <p:cNvPr id="37" name="Line 33"/>
            <p:cNvSpPr>
              <a:spLocks noChangeShapeType="1"/>
            </p:cNvSpPr>
            <p:nvPr/>
          </p:nvSpPr>
          <p:spPr bwMode="auto">
            <a:xfrm>
              <a:off x="437" y="2487"/>
              <a:ext cx="20" cy="1"/>
            </a:xfrm>
            <a:prstGeom prst="line">
              <a:avLst/>
            </a:prstGeom>
            <a:noFill/>
            <a:ln w="31750">
              <a:solidFill>
                <a:srgbClr val="000000"/>
              </a:solidFill>
              <a:round/>
              <a:headEnd/>
              <a:tailEnd/>
            </a:ln>
          </p:spPr>
          <p:txBody>
            <a:bodyPr/>
            <a:lstStyle/>
            <a:p>
              <a:endParaRPr lang="es-ES"/>
            </a:p>
          </p:txBody>
        </p:sp>
        <p:sp>
          <p:nvSpPr>
            <p:cNvPr id="38" name="Line 34"/>
            <p:cNvSpPr>
              <a:spLocks noChangeShapeType="1"/>
            </p:cNvSpPr>
            <p:nvPr/>
          </p:nvSpPr>
          <p:spPr bwMode="auto">
            <a:xfrm>
              <a:off x="516" y="2487"/>
              <a:ext cx="20" cy="1"/>
            </a:xfrm>
            <a:prstGeom prst="line">
              <a:avLst/>
            </a:prstGeom>
            <a:noFill/>
            <a:ln w="31750">
              <a:solidFill>
                <a:srgbClr val="000000"/>
              </a:solidFill>
              <a:round/>
              <a:headEnd/>
              <a:tailEnd/>
            </a:ln>
          </p:spPr>
          <p:txBody>
            <a:bodyPr/>
            <a:lstStyle/>
            <a:p>
              <a:endParaRPr lang="es-ES"/>
            </a:p>
          </p:txBody>
        </p:sp>
        <p:sp>
          <p:nvSpPr>
            <p:cNvPr id="39" name="Line 35"/>
            <p:cNvSpPr>
              <a:spLocks noChangeShapeType="1"/>
            </p:cNvSpPr>
            <p:nvPr/>
          </p:nvSpPr>
          <p:spPr bwMode="auto">
            <a:xfrm>
              <a:off x="595" y="2487"/>
              <a:ext cx="20" cy="1"/>
            </a:xfrm>
            <a:prstGeom prst="line">
              <a:avLst/>
            </a:prstGeom>
            <a:noFill/>
            <a:ln w="31750">
              <a:solidFill>
                <a:srgbClr val="000000"/>
              </a:solidFill>
              <a:round/>
              <a:headEnd/>
              <a:tailEnd/>
            </a:ln>
          </p:spPr>
          <p:txBody>
            <a:bodyPr/>
            <a:lstStyle/>
            <a:p>
              <a:endParaRPr lang="es-ES"/>
            </a:p>
          </p:txBody>
        </p:sp>
        <p:sp>
          <p:nvSpPr>
            <p:cNvPr id="40" name="Line 36"/>
            <p:cNvSpPr>
              <a:spLocks noChangeShapeType="1"/>
            </p:cNvSpPr>
            <p:nvPr/>
          </p:nvSpPr>
          <p:spPr bwMode="auto">
            <a:xfrm>
              <a:off x="675" y="2487"/>
              <a:ext cx="20" cy="1"/>
            </a:xfrm>
            <a:prstGeom prst="line">
              <a:avLst/>
            </a:prstGeom>
            <a:noFill/>
            <a:ln w="31750">
              <a:solidFill>
                <a:srgbClr val="000000"/>
              </a:solidFill>
              <a:round/>
              <a:headEnd/>
              <a:tailEnd/>
            </a:ln>
          </p:spPr>
          <p:txBody>
            <a:bodyPr/>
            <a:lstStyle/>
            <a:p>
              <a:endParaRPr lang="es-ES"/>
            </a:p>
          </p:txBody>
        </p:sp>
        <p:sp>
          <p:nvSpPr>
            <p:cNvPr id="41" name="Line 37"/>
            <p:cNvSpPr>
              <a:spLocks noChangeShapeType="1"/>
            </p:cNvSpPr>
            <p:nvPr/>
          </p:nvSpPr>
          <p:spPr bwMode="auto">
            <a:xfrm>
              <a:off x="754" y="2487"/>
              <a:ext cx="20" cy="1"/>
            </a:xfrm>
            <a:prstGeom prst="line">
              <a:avLst/>
            </a:prstGeom>
            <a:noFill/>
            <a:ln w="31750">
              <a:solidFill>
                <a:srgbClr val="000000"/>
              </a:solidFill>
              <a:round/>
              <a:headEnd/>
              <a:tailEnd/>
            </a:ln>
          </p:spPr>
          <p:txBody>
            <a:bodyPr/>
            <a:lstStyle/>
            <a:p>
              <a:endParaRPr lang="es-ES"/>
            </a:p>
          </p:txBody>
        </p:sp>
        <p:sp>
          <p:nvSpPr>
            <p:cNvPr id="42" name="Line 38"/>
            <p:cNvSpPr>
              <a:spLocks noChangeShapeType="1"/>
            </p:cNvSpPr>
            <p:nvPr/>
          </p:nvSpPr>
          <p:spPr bwMode="auto">
            <a:xfrm>
              <a:off x="834" y="2487"/>
              <a:ext cx="19" cy="1"/>
            </a:xfrm>
            <a:prstGeom prst="line">
              <a:avLst/>
            </a:prstGeom>
            <a:noFill/>
            <a:ln w="31750">
              <a:solidFill>
                <a:srgbClr val="000000"/>
              </a:solidFill>
              <a:round/>
              <a:headEnd/>
              <a:tailEnd/>
            </a:ln>
          </p:spPr>
          <p:txBody>
            <a:bodyPr/>
            <a:lstStyle/>
            <a:p>
              <a:endParaRPr lang="es-ES"/>
            </a:p>
          </p:txBody>
        </p:sp>
        <p:sp>
          <p:nvSpPr>
            <p:cNvPr id="43" name="Line 39"/>
            <p:cNvSpPr>
              <a:spLocks noChangeShapeType="1"/>
            </p:cNvSpPr>
            <p:nvPr/>
          </p:nvSpPr>
          <p:spPr bwMode="auto">
            <a:xfrm>
              <a:off x="913" y="2487"/>
              <a:ext cx="20" cy="1"/>
            </a:xfrm>
            <a:prstGeom prst="line">
              <a:avLst/>
            </a:prstGeom>
            <a:noFill/>
            <a:ln w="31750">
              <a:solidFill>
                <a:srgbClr val="000000"/>
              </a:solidFill>
              <a:round/>
              <a:headEnd/>
              <a:tailEnd/>
            </a:ln>
          </p:spPr>
          <p:txBody>
            <a:bodyPr/>
            <a:lstStyle/>
            <a:p>
              <a:endParaRPr lang="es-ES"/>
            </a:p>
          </p:txBody>
        </p:sp>
        <p:sp>
          <p:nvSpPr>
            <p:cNvPr id="44" name="Line 40"/>
            <p:cNvSpPr>
              <a:spLocks noChangeShapeType="1"/>
            </p:cNvSpPr>
            <p:nvPr/>
          </p:nvSpPr>
          <p:spPr bwMode="auto">
            <a:xfrm>
              <a:off x="992" y="2487"/>
              <a:ext cx="20" cy="1"/>
            </a:xfrm>
            <a:prstGeom prst="line">
              <a:avLst/>
            </a:prstGeom>
            <a:noFill/>
            <a:ln w="31750">
              <a:solidFill>
                <a:srgbClr val="000000"/>
              </a:solidFill>
              <a:round/>
              <a:headEnd/>
              <a:tailEnd/>
            </a:ln>
          </p:spPr>
          <p:txBody>
            <a:bodyPr/>
            <a:lstStyle/>
            <a:p>
              <a:endParaRPr lang="es-ES"/>
            </a:p>
          </p:txBody>
        </p:sp>
        <p:sp>
          <p:nvSpPr>
            <p:cNvPr id="45" name="Line 41"/>
            <p:cNvSpPr>
              <a:spLocks noChangeShapeType="1"/>
            </p:cNvSpPr>
            <p:nvPr/>
          </p:nvSpPr>
          <p:spPr bwMode="auto">
            <a:xfrm>
              <a:off x="1072" y="2487"/>
              <a:ext cx="20" cy="1"/>
            </a:xfrm>
            <a:prstGeom prst="line">
              <a:avLst/>
            </a:prstGeom>
            <a:noFill/>
            <a:ln w="31750">
              <a:solidFill>
                <a:srgbClr val="000000"/>
              </a:solidFill>
              <a:round/>
              <a:headEnd/>
              <a:tailEnd/>
            </a:ln>
          </p:spPr>
          <p:txBody>
            <a:bodyPr/>
            <a:lstStyle/>
            <a:p>
              <a:endParaRPr lang="es-ES"/>
            </a:p>
          </p:txBody>
        </p:sp>
        <p:sp>
          <p:nvSpPr>
            <p:cNvPr id="46" name="Line 42"/>
            <p:cNvSpPr>
              <a:spLocks noChangeShapeType="1"/>
            </p:cNvSpPr>
            <p:nvPr/>
          </p:nvSpPr>
          <p:spPr bwMode="auto">
            <a:xfrm>
              <a:off x="1151" y="2487"/>
              <a:ext cx="20" cy="1"/>
            </a:xfrm>
            <a:prstGeom prst="line">
              <a:avLst/>
            </a:prstGeom>
            <a:noFill/>
            <a:ln w="31750">
              <a:solidFill>
                <a:srgbClr val="000000"/>
              </a:solidFill>
              <a:round/>
              <a:headEnd/>
              <a:tailEnd/>
            </a:ln>
          </p:spPr>
          <p:txBody>
            <a:bodyPr/>
            <a:lstStyle/>
            <a:p>
              <a:endParaRPr lang="es-ES"/>
            </a:p>
          </p:txBody>
        </p:sp>
        <p:sp>
          <p:nvSpPr>
            <p:cNvPr id="47" name="Line 43"/>
            <p:cNvSpPr>
              <a:spLocks noChangeShapeType="1"/>
            </p:cNvSpPr>
            <p:nvPr/>
          </p:nvSpPr>
          <p:spPr bwMode="auto">
            <a:xfrm>
              <a:off x="1231" y="2487"/>
              <a:ext cx="19" cy="1"/>
            </a:xfrm>
            <a:prstGeom prst="line">
              <a:avLst/>
            </a:prstGeom>
            <a:noFill/>
            <a:ln w="31750">
              <a:solidFill>
                <a:srgbClr val="000000"/>
              </a:solidFill>
              <a:round/>
              <a:headEnd/>
              <a:tailEnd/>
            </a:ln>
          </p:spPr>
          <p:txBody>
            <a:bodyPr/>
            <a:lstStyle/>
            <a:p>
              <a:endParaRPr lang="es-ES"/>
            </a:p>
          </p:txBody>
        </p:sp>
        <p:sp>
          <p:nvSpPr>
            <p:cNvPr id="48" name="Line 44"/>
            <p:cNvSpPr>
              <a:spLocks noChangeShapeType="1"/>
            </p:cNvSpPr>
            <p:nvPr/>
          </p:nvSpPr>
          <p:spPr bwMode="auto">
            <a:xfrm>
              <a:off x="1310" y="2487"/>
              <a:ext cx="20" cy="1"/>
            </a:xfrm>
            <a:prstGeom prst="line">
              <a:avLst/>
            </a:prstGeom>
            <a:noFill/>
            <a:ln w="31750">
              <a:solidFill>
                <a:srgbClr val="000000"/>
              </a:solidFill>
              <a:round/>
              <a:headEnd/>
              <a:tailEnd/>
            </a:ln>
          </p:spPr>
          <p:txBody>
            <a:bodyPr/>
            <a:lstStyle/>
            <a:p>
              <a:endParaRPr lang="es-ES"/>
            </a:p>
          </p:txBody>
        </p:sp>
        <p:sp>
          <p:nvSpPr>
            <p:cNvPr id="49" name="Line 45"/>
            <p:cNvSpPr>
              <a:spLocks noChangeShapeType="1"/>
            </p:cNvSpPr>
            <p:nvPr/>
          </p:nvSpPr>
          <p:spPr bwMode="auto">
            <a:xfrm>
              <a:off x="1389" y="2487"/>
              <a:ext cx="20" cy="1"/>
            </a:xfrm>
            <a:prstGeom prst="line">
              <a:avLst/>
            </a:prstGeom>
            <a:noFill/>
            <a:ln w="31750">
              <a:solidFill>
                <a:srgbClr val="000000"/>
              </a:solidFill>
              <a:round/>
              <a:headEnd/>
              <a:tailEnd/>
            </a:ln>
          </p:spPr>
          <p:txBody>
            <a:bodyPr/>
            <a:lstStyle/>
            <a:p>
              <a:endParaRPr lang="es-ES"/>
            </a:p>
          </p:txBody>
        </p:sp>
        <p:sp>
          <p:nvSpPr>
            <p:cNvPr id="50" name="Line 46"/>
            <p:cNvSpPr>
              <a:spLocks noChangeShapeType="1"/>
            </p:cNvSpPr>
            <p:nvPr/>
          </p:nvSpPr>
          <p:spPr bwMode="auto">
            <a:xfrm>
              <a:off x="1469" y="2487"/>
              <a:ext cx="20" cy="1"/>
            </a:xfrm>
            <a:prstGeom prst="line">
              <a:avLst/>
            </a:prstGeom>
            <a:noFill/>
            <a:ln w="31750">
              <a:solidFill>
                <a:srgbClr val="000000"/>
              </a:solidFill>
              <a:round/>
              <a:headEnd/>
              <a:tailEnd/>
            </a:ln>
          </p:spPr>
          <p:txBody>
            <a:bodyPr/>
            <a:lstStyle/>
            <a:p>
              <a:endParaRPr lang="es-ES"/>
            </a:p>
          </p:txBody>
        </p:sp>
        <p:sp>
          <p:nvSpPr>
            <p:cNvPr id="51" name="Line 47"/>
            <p:cNvSpPr>
              <a:spLocks noChangeShapeType="1"/>
            </p:cNvSpPr>
            <p:nvPr/>
          </p:nvSpPr>
          <p:spPr bwMode="auto">
            <a:xfrm>
              <a:off x="1548" y="2487"/>
              <a:ext cx="20" cy="1"/>
            </a:xfrm>
            <a:prstGeom prst="line">
              <a:avLst/>
            </a:prstGeom>
            <a:noFill/>
            <a:ln w="31750">
              <a:solidFill>
                <a:srgbClr val="000000"/>
              </a:solidFill>
              <a:round/>
              <a:headEnd/>
              <a:tailEnd/>
            </a:ln>
          </p:spPr>
          <p:txBody>
            <a:bodyPr/>
            <a:lstStyle/>
            <a:p>
              <a:endParaRPr lang="es-ES"/>
            </a:p>
          </p:txBody>
        </p:sp>
        <p:sp>
          <p:nvSpPr>
            <p:cNvPr id="52" name="Line 48"/>
            <p:cNvSpPr>
              <a:spLocks noChangeShapeType="1"/>
            </p:cNvSpPr>
            <p:nvPr/>
          </p:nvSpPr>
          <p:spPr bwMode="auto">
            <a:xfrm>
              <a:off x="1628" y="2487"/>
              <a:ext cx="19" cy="1"/>
            </a:xfrm>
            <a:prstGeom prst="line">
              <a:avLst/>
            </a:prstGeom>
            <a:noFill/>
            <a:ln w="31750">
              <a:solidFill>
                <a:srgbClr val="000000"/>
              </a:solidFill>
              <a:round/>
              <a:headEnd/>
              <a:tailEnd/>
            </a:ln>
          </p:spPr>
          <p:txBody>
            <a:bodyPr/>
            <a:lstStyle/>
            <a:p>
              <a:endParaRPr lang="es-ES"/>
            </a:p>
          </p:txBody>
        </p:sp>
        <p:sp>
          <p:nvSpPr>
            <p:cNvPr id="53" name="Line 49"/>
            <p:cNvSpPr>
              <a:spLocks noChangeShapeType="1"/>
            </p:cNvSpPr>
            <p:nvPr/>
          </p:nvSpPr>
          <p:spPr bwMode="auto">
            <a:xfrm>
              <a:off x="1707" y="2487"/>
              <a:ext cx="20" cy="1"/>
            </a:xfrm>
            <a:prstGeom prst="line">
              <a:avLst/>
            </a:prstGeom>
            <a:noFill/>
            <a:ln w="31750">
              <a:solidFill>
                <a:srgbClr val="000000"/>
              </a:solidFill>
              <a:round/>
              <a:headEnd/>
              <a:tailEnd/>
            </a:ln>
          </p:spPr>
          <p:txBody>
            <a:bodyPr/>
            <a:lstStyle/>
            <a:p>
              <a:endParaRPr lang="es-ES"/>
            </a:p>
          </p:txBody>
        </p:sp>
        <p:sp>
          <p:nvSpPr>
            <p:cNvPr id="54" name="Line 50"/>
            <p:cNvSpPr>
              <a:spLocks noChangeShapeType="1"/>
            </p:cNvSpPr>
            <p:nvPr/>
          </p:nvSpPr>
          <p:spPr bwMode="auto">
            <a:xfrm>
              <a:off x="1786" y="2487"/>
              <a:ext cx="20" cy="1"/>
            </a:xfrm>
            <a:prstGeom prst="line">
              <a:avLst/>
            </a:prstGeom>
            <a:noFill/>
            <a:ln w="31750">
              <a:solidFill>
                <a:srgbClr val="000000"/>
              </a:solidFill>
              <a:round/>
              <a:headEnd/>
              <a:tailEnd/>
            </a:ln>
          </p:spPr>
          <p:txBody>
            <a:bodyPr/>
            <a:lstStyle/>
            <a:p>
              <a:endParaRPr lang="es-ES"/>
            </a:p>
          </p:txBody>
        </p:sp>
        <p:sp>
          <p:nvSpPr>
            <p:cNvPr id="55" name="Line 51"/>
            <p:cNvSpPr>
              <a:spLocks noChangeShapeType="1"/>
            </p:cNvSpPr>
            <p:nvPr/>
          </p:nvSpPr>
          <p:spPr bwMode="auto">
            <a:xfrm>
              <a:off x="1866" y="2487"/>
              <a:ext cx="20" cy="1"/>
            </a:xfrm>
            <a:prstGeom prst="line">
              <a:avLst/>
            </a:prstGeom>
            <a:noFill/>
            <a:ln w="31750">
              <a:solidFill>
                <a:srgbClr val="000000"/>
              </a:solidFill>
              <a:round/>
              <a:headEnd/>
              <a:tailEnd/>
            </a:ln>
          </p:spPr>
          <p:txBody>
            <a:bodyPr/>
            <a:lstStyle/>
            <a:p>
              <a:endParaRPr lang="es-ES"/>
            </a:p>
          </p:txBody>
        </p:sp>
        <p:sp>
          <p:nvSpPr>
            <p:cNvPr id="56" name="Line 52"/>
            <p:cNvSpPr>
              <a:spLocks noChangeShapeType="1"/>
            </p:cNvSpPr>
            <p:nvPr/>
          </p:nvSpPr>
          <p:spPr bwMode="auto">
            <a:xfrm>
              <a:off x="1945" y="2487"/>
              <a:ext cx="20" cy="1"/>
            </a:xfrm>
            <a:prstGeom prst="line">
              <a:avLst/>
            </a:prstGeom>
            <a:noFill/>
            <a:ln w="31750">
              <a:solidFill>
                <a:srgbClr val="000000"/>
              </a:solidFill>
              <a:round/>
              <a:headEnd/>
              <a:tailEnd/>
            </a:ln>
          </p:spPr>
          <p:txBody>
            <a:bodyPr/>
            <a:lstStyle/>
            <a:p>
              <a:endParaRPr lang="es-ES"/>
            </a:p>
          </p:txBody>
        </p:sp>
        <p:sp>
          <p:nvSpPr>
            <p:cNvPr id="57" name="Line 53"/>
            <p:cNvSpPr>
              <a:spLocks noChangeShapeType="1"/>
            </p:cNvSpPr>
            <p:nvPr/>
          </p:nvSpPr>
          <p:spPr bwMode="auto">
            <a:xfrm>
              <a:off x="2024" y="2487"/>
              <a:ext cx="20" cy="1"/>
            </a:xfrm>
            <a:prstGeom prst="line">
              <a:avLst/>
            </a:prstGeom>
            <a:noFill/>
            <a:ln w="31750">
              <a:solidFill>
                <a:srgbClr val="000000"/>
              </a:solidFill>
              <a:round/>
              <a:headEnd/>
              <a:tailEnd/>
            </a:ln>
          </p:spPr>
          <p:txBody>
            <a:bodyPr/>
            <a:lstStyle/>
            <a:p>
              <a:endParaRPr lang="es-ES"/>
            </a:p>
          </p:txBody>
        </p:sp>
        <p:sp>
          <p:nvSpPr>
            <p:cNvPr id="58" name="Line 54"/>
            <p:cNvSpPr>
              <a:spLocks noChangeShapeType="1"/>
            </p:cNvSpPr>
            <p:nvPr/>
          </p:nvSpPr>
          <p:spPr bwMode="auto">
            <a:xfrm>
              <a:off x="2104" y="2487"/>
              <a:ext cx="20" cy="1"/>
            </a:xfrm>
            <a:prstGeom prst="line">
              <a:avLst/>
            </a:prstGeom>
            <a:noFill/>
            <a:ln w="31750">
              <a:solidFill>
                <a:srgbClr val="000000"/>
              </a:solidFill>
              <a:round/>
              <a:headEnd/>
              <a:tailEnd/>
            </a:ln>
          </p:spPr>
          <p:txBody>
            <a:bodyPr/>
            <a:lstStyle/>
            <a:p>
              <a:endParaRPr lang="es-ES"/>
            </a:p>
          </p:txBody>
        </p:sp>
        <p:sp>
          <p:nvSpPr>
            <p:cNvPr id="59" name="Line 55"/>
            <p:cNvSpPr>
              <a:spLocks noChangeShapeType="1"/>
            </p:cNvSpPr>
            <p:nvPr/>
          </p:nvSpPr>
          <p:spPr bwMode="auto">
            <a:xfrm>
              <a:off x="2183" y="2487"/>
              <a:ext cx="20" cy="1"/>
            </a:xfrm>
            <a:prstGeom prst="line">
              <a:avLst/>
            </a:prstGeom>
            <a:noFill/>
            <a:ln w="31750">
              <a:solidFill>
                <a:srgbClr val="000000"/>
              </a:solidFill>
              <a:round/>
              <a:headEnd/>
              <a:tailEnd/>
            </a:ln>
          </p:spPr>
          <p:txBody>
            <a:bodyPr/>
            <a:lstStyle/>
            <a:p>
              <a:endParaRPr lang="es-ES"/>
            </a:p>
          </p:txBody>
        </p:sp>
        <p:sp>
          <p:nvSpPr>
            <p:cNvPr id="60" name="Line 56"/>
            <p:cNvSpPr>
              <a:spLocks noChangeShapeType="1"/>
            </p:cNvSpPr>
            <p:nvPr/>
          </p:nvSpPr>
          <p:spPr bwMode="auto">
            <a:xfrm>
              <a:off x="2263" y="2487"/>
              <a:ext cx="19" cy="1"/>
            </a:xfrm>
            <a:prstGeom prst="line">
              <a:avLst/>
            </a:prstGeom>
            <a:noFill/>
            <a:ln w="31750">
              <a:solidFill>
                <a:srgbClr val="000000"/>
              </a:solidFill>
              <a:round/>
              <a:headEnd/>
              <a:tailEnd/>
            </a:ln>
          </p:spPr>
          <p:txBody>
            <a:bodyPr/>
            <a:lstStyle/>
            <a:p>
              <a:endParaRPr lang="es-ES"/>
            </a:p>
          </p:txBody>
        </p:sp>
        <p:sp>
          <p:nvSpPr>
            <p:cNvPr id="61" name="Line 57"/>
            <p:cNvSpPr>
              <a:spLocks noChangeShapeType="1"/>
            </p:cNvSpPr>
            <p:nvPr/>
          </p:nvSpPr>
          <p:spPr bwMode="auto">
            <a:xfrm>
              <a:off x="2342" y="2487"/>
              <a:ext cx="20" cy="1"/>
            </a:xfrm>
            <a:prstGeom prst="line">
              <a:avLst/>
            </a:prstGeom>
            <a:noFill/>
            <a:ln w="31750">
              <a:solidFill>
                <a:srgbClr val="000000"/>
              </a:solidFill>
              <a:round/>
              <a:headEnd/>
              <a:tailEnd/>
            </a:ln>
          </p:spPr>
          <p:txBody>
            <a:bodyPr/>
            <a:lstStyle/>
            <a:p>
              <a:endParaRPr lang="es-ES"/>
            </a:p>
          </p:txBody>
        </p:sp>
        <p:sp>
          <p:nvSpPr>
            <p:cNvPr id="62" name="Line 58"/>
            <p:cNvSpPr>
              <a:spLocks noChangeShapeType="1"/>
            </p:cNvSpPr>
            <p:nvPr/>
          </p:nvSpPr>
          <p:spPr bwMode="auto">
            <a:xfrm>
              <a:off x="2421" y="2487"/>
              <a:ext cx="20" cy="1"/>
            </a:xfrm>
            <a:prstGeom prst="line">
              <a:avLst/>
            </a:prstGeom>
            <a:noFill/>
            <a:ln w="31750">
              <a:solidFill>
                <a:srgbClr val="000000"/>
              </a:solidFill>
              <a:round/>
              <a:headEnd/>
              <a:tailEnd/>
            </a:ln>
          </p:spPr>
          <p:txBody>
            <a:bodyPr/>
            <a:lstStyle/>
            <a:p>
              <a:endParaRPr lang="es-ES"/>
            </a:p>
          </p:txBody>
        </p:sp>
        <p:sp>
          <p:nvSpPr>
            <p:cNvPr id="63" name="Line 59"/>
            <p:cNvSpPr>
              <a:spLocks noChangeShapeType="1"/>
            </p:cNvSpPr>
            <p:nvPr/>
          </p:nvSpPr>
          <p:spPr bwMode="auto">
            <a:xfrm>
              <a:off x="2501" y="2487"/>
              <a:ext cx="20" cy="1"/>
            </a:xfrm>
            <a:prstGeom prst="line">
              <a:avLst/>
            </a:prstGeom>
            <a:noFill/>
            <a:ln w="31750">
              <a:solidFill>
                <a:srgbClr val="000000"/>
              </a:solidFill>
              <a:round/>
              <a:headEnd/>
              <a:tailEnd/>
            </a:ln>
          </p:spPr>
          <p:txBody>
            <a:bodyPr/>
            <a:lstStyle/>
            <a:p>
              <a:endParaRPr lang="es-ES"/>
            </a:p>
          </p:txBody>
        </p:sp>
        <p:sp>
          <p:nvSpPr>
            <p:cNvPr id="64" name="Line 60"/>
            <p:cNvSpPr>
              <a:spLocks noChangeShapeType="1"/>
            </p:cNvSpPr>
            <p:nvPr/>
          </p:nvSpPr>
          <p:spPr bwMode="auto">
            <a:xfrm>
              <a:off x="2580" y="2487"/>
              <a:ext cx="20" cy="1"/>
            </a:xfrm>
            <a:prstGeom prst="line">
              <a:avLst/>
            </a:prstGeom>
            <a:noFill/>
            <a:ln w="31750">
              <a:solidFill>
                <a:srgbClr val="000000"/>
              </a:solidFill>
              <a:round/>
              <a:headEnd/>
              <a:tailEnd/>
            </a:ln>
          </p:spPr>
          <p:txBody>
            <a:bodyPr/>
            <a:lstStyle/>
            <a:p>
              <a:endParaRPr lang="es-ES"/>
            </a:p>
          </p:txBody>
        </p:sp>
        <p:sp>
          <p:nvSpPr>
            <p:cNvPr id="65" name="Line 61"/>
            <p:cNvSpPr>
              <a:spLocks noChangeShapeType="1"/>
            </p:cNvSpPr>
            <p:nvPr/>
          </p:nvSpPr>
          <p:spPr bwMode="auto">
            <a:xfrm>
              <a:off x="2660" y="2487"/>
              <a:ext cx="19" cy="1"/>
            </a:xfrm>
            <a:prstGeom prst="line">
              <a:avLst/>
            </a:prstGeom>
            <a:noFill/>
            <a:ln w="31750">
              <a:solidFill>
                <a:srgbClr val="000000"/>
              </a:solidFill>
              <a:round/>
              <a:headEnd/>
              <a:tailEnd/>
            </a:ln>
          </p:spPr>
          <p:txBody>
            <a:bodyPr/>
            <a:lstStyle/>
            <a:p>
              <a:endParaRPr lang="es-ES"/>
            </a:p>
          </p:txBody>
        </p:sp>
        <p:sp>
          <p:nvSpPr>
            <p:cNvPr id="66" name="Line 62"/>
            <p:cNvSpPr>
              <a:spLocks noChangeShapeType="1"/>
            </p:cNvSpPr>
            <p:nvPr/>
          </p:nvSpPr>
          <p:spPr bwMode="auto">
            <a:xfrm>
              <a:off x="2739" y="2487"/>
              <a:ext cx="20" cy="1"/>
            </a:xfrm>
            <a:prstGeom prst="line">
              <a:avLst/>
            </a:prstGeom>
            <a:noFill/>
            <a:ln w="31750">
              <a:solidFill>
                <a:srgbClr val="000000"/>
              </a:solidFill>
              <a:round/>
              <a:headEnd/>
              <a:tailEnd/>
            </a:ln>
          </p:spPr>
          <p:txBody>
            <a:bodyPr/>
            <a:lstStyle/>
            <a:p>
              <a:endParaRPr lang="es-ES"/>
            </a:p>
          </p:txBody>
        </p:sp>
        <p:sp>
          <p:nvSpPr>
            <p:cNvPr id="67" name="Line 63"/>
            <p:cNvSpPr>
              <a:spLocks noChangeShapeType="1"/>
            </p:cNvSpPr>
            <p:nvPr/>
          </p:nvSpPr>
          <p:spPr bwMode="auto">
            <a:xfrm>
              <a:off x="2818" y="2487"/>
              <a:ext cx="20" cy="1"/>
            </a:xfrm>
            <a:prstGeom prst="line">
              <a:avLst/>
            </a:prstGeom>
            <a:noFill/>
            <a:ln w="31750">
              <a:solidFill>
                <a:srgbClr val="000000"/>
              </a:solidFill>
              <a:round/>
              <a:headEnd/>
              <a:tailEnd/>
            </a:ln>
          </p:spPr>
          <p:txBody>
            <a:bodyPr/>
            <a:lstStyle/>
            <a:p>
              <a:endParaRPr lang="es-ES"/>
            </a:p>
          </p:txBody>
        </p:sp>
        <p:sp>
          <p:nvSpPr>
            <p:cNvPr id="68" name="Line 64"/>
            <p:cNvSpPr>
              <a:spLocks noChangeShapeType="1"/>
            </p:cNvSpPr>
            <p:nvPr/>
          </p:nvSpPr>
          <p:spPr bwMode="auto">
            <a:xfrm>
              <a:off x="2898" y="2487"/>
              <a:ext cx="20" cy="1"/>
            </a:xfrm>
            <a:prstGeom prst="line">
              <a:avLst/>
            </a:prstGeom>
            <a:noFill/>
            <a:ln w="31750">
              <a:solidFill>
                <a:srgbClr val="000000"/>
              </a:solidFill>
              <a:round/>
              <a:headEnd/>
              <a:tailEnd/>
            </a:ln>
          </p:spPr>
          <p:txBody>
            <a:bodyPr/>
            <a:lstStyle/>
            <a:p>
              <a:endParaRPr lang="es-ES"/>
            </a:p>
          </p:txBody>
        </p:sp>
        <p:sp>
          <p:nvSpPr>
            <p:cNvPr id="69" name="Line 65"/>
            <p:cNvSpPr>
              <a:spLocks noChangeShapeType="1"/>
            </p:cNvSpPr>
            <p:nvPr/>
          </p:nvSpPr>
          <p:spPr bwMode="auto">
            <a:xfrm>
              <a:off x="2977" y="2487"/>
              <a:ext cx="20" cy="1"/>
            </a:xfrm>
            <a:prstGeom prst="line">
              <a:avLst/>
            </a:prstGeom>
            <a:noFill/>
            <a:ln w="31750">
              <a:solidFill>
                <a:srgbClr val="000000"/>
              </a:solidFill>
              <a:round/>
              <a:headEnd/>
              <a:tailEnd/>
            </a:ln>
          </p:spPr>
          <p:txBody>
            <a:bodyPr/>
            <a:lstStyle/>
            <a:p>
              <a:endParaRPr lang="es-ES"/>
            </a:p>
          </p:txBody>
        </p:sp>
        <p:sp>
          <p:nvSpPr>
            <p:cNvPr id="70" name="Line 66"/>
            <p:cNvSpPr>
              <a:spLocks noChangeShapeType="1"/>
            </p:cNvSpPr>
            <p:nvPr/>
          </p:nvSpPr>
          <p:spPr bwMode="auto">
            <a:xfrm>
              <a:off x="3057" y="2487"/>
              <a:ext cx="19" cy="1"/>
            </a:xfrm>
            <a:prstGeom prst="line">
              <a:avLst/>
            </a:prstGeom>
            <a:noFill/>
            <a:ln w="31750">
              <a:solidFill>
                <a:srgbClr val="000000"/>
              </a:solidFill>
              <a:round/>
              <a:headEnd/>
              <a:tailEnd/>
            </a:ln>
          </p:spPr>
          <p:txBody>
            <a:bodyPr/>
            <a:lstStyle/>
            <a:p>
              <a:endParaRPr lang="es-ES"/>
            </a:p>
          </p:txBody>
        </p:sp>
        <p:sp>
          <p:nvSpPr>
            <p:cNvPr id="71" name="Line 67"/>
            <p:cNvSpPr>
              <a:spLocks noChangeShapeType="1"/>
            </p:cNvSpPr>
            <p:nvPr/>
          </p:nvSpPr>
          <p:spPr bwMode="auto">
            <a:xfrm>
              <a:off x="3136" y="2487"/>
              <a:ext cx="20" cy="1"/>
            </a:xfrm>
            <a:prstGeom prst="line">
              <a:avLst/>
            </a:prstGeom>
            <a:noFill/>
            <a:ln w="31750">
              <a:solidFill>
                <a:srgbClr val="000000"/>
              </a:solidFill>
              <a:round/>
              <a:headEnd/>
              <a:tailEnd/>
            </a:ln>
          </p:spPr>
          <p:txBody>
            <a:bodyPr/>
            <a:lstStyle/>
            <a:p>
              <a:endParaRPr lang="es-ES"/>
            </a:p>
          </p:txBody>
        </p:sp>
        <p:sp>
          <p:nvSpPr>
            <p:cNvPr id="72" name="Line 68"/>
            <p:cNvSpPr>
              <a:spLocks noChangeShapeType="1"/>
            </p:cNvSpPr>
            <p:nvPr/>
          </p:nvSpPr>
          <p:spPr bwMode="auto">
            <a:xfrm>
              <a:off x="3215" y="2487"/>
              <a:ext cx="20" cy="1"/>
            </a:xfrm>
            <a:prstGeom prst="line">
              <a:avLst/>
            </a:prstGeom>
            <a:noFill/>
            <a:ln w="31750">
              <a:solidFill>
                <a:srgbClr val="000000"/>
              </a:solidFill>
              <a:round/>
              <a:headEnd/>
              <a:tailEnd/>
            </a:ln>
          </p:spPr>
          <p:txBody>
            <a:bodyPr/>
            <a:lstStyle/>
            <a:p>
              <a:endParaRPr lang="es-ES"/>
            </a:p>
          </p:txBody>
        </p:sp>
        <p:sp>
          <p:nvSpPr>
            <p:cNvPr id="73" name="Line 69"/>
            <p:cNvSpPr>
              <a:spLocks noChangeShapeType="1"/>
            </p:cNvSpPr>
            <p:nvPr/>
          </p:nvSpPr>
          <p:spPr bwMode="auto">
            <a:xfrm>
              <a:off x="3295" y="2487"/>
              <a:ext cx="20" cy="1"/>
            </a:xfrm>
            <a:prstGeom prst="line">
              <a:avLst/>
            </a:prstGeom>
            <a:noFill/>
            <a:ln w="31750">
              <a:solidFill>
                <a:srgbClr val="000000"/>
              </a:solidFill>
              <a:round/>
              <a:headEnd/>
              <a:tailEnd/>
            </a:ln>
          </p:spPr>
          <p:txBody>
            <a:bodyPr/>
            <a:lstStyle/>
            <a:p>
              <a:endParaRPr lang="es-ES"/>
            </a:p>
          </p:txBody>
        </p:sp>
        <p:sp>
          <p:nvSpPr>
            <p:cNvPr id="74" name="Line 70"/>
            <p:cNvSpPr>
              <a:spLocks noChangeShapeType="1"/>
            </p:cNvSpPr>
            <p:nvPr/>
          </p:nvSpPr>
          <p:spPr bwMode="auto">
            <a:xfrm>
              <a:off x="3374" y="2487"/>
              <a:ext cx="20" cy="1"/>
            </a:xfrm>
            <a:prstGeom prst="line">
              <a:avLst/>
            </a:prstGeom>
            <a:noFill/>
            <a:ln w="31750">
              <a:solidFill>
                <a:srgbClr val="000000"/>
              </a:solidFill>
              <a:round/>
              <a:headEnd/>
              <a:tailEnd/>
            </a:ln>
          </p:spPr>
          <p:txBody>
            <a:bodyPr/>
            <a:lstStyle/>
            <a:p>
              <a:endParaRPr lang="es-ES"/>
            </a:p>
          </p:txBody>
        </p:sp>
        <p:sp>
          <p:nvSpPr>
            <p:cNvPr id="75" name="Line 71"/>
            <p:cNvSpPr>
              <a:spLocks noChangeShapeType="1"/>
            </p:cNvSpPr>
            <p:nvPr/>
          </p:nvSpPr>
          <p:spPr bwMode="auto">
            <a:xfrm>
              <a:off x="3453" y="2487"/>
              <a:ext cx="20" cy="1"/>
            </a:xfrm>
            <a:prstGeom prst="line">
              <a:avLst/>
            </a:prstGeom>
            <a:noFill/>
            <a:ln w="31750">
              <a:solidFill>
                <a:srgbClr val="000000"/>
              </a:solidFill>
              <a:round/>
              <a:headEnd/>
              <a:tailEnd/>
            </a:ln>
          </p:spPr>
          <p:txBody>
            <a:bodyPr/>
            <a:lstStyle/>
            <a:p>
              <a:endParaRPr lang="es-ES"/>
            </a:p>
          </p:txBody>
        </p:sp>
        <p:sp>
          <p:nvSpPr>
            <p:cNvPr id="76" name="Line 72"/>
            <p:cNvSpPr>
              <a:spLocks noChangeShapeType="1"/>
            </p:cNvSpPr>
            <p:nvPr/>
          </p:nvSpPr>
          <p:spPr bwMode="auto">
            <a:xfrm>
              <a:off x="3533" y="2487"/>
              <a:ext cx="20" cy="1"/>
            </a:xfrm>
            <a:prstGeom prst="line">
              <a:avLst/>
            </a:prstGeom>
            <a:noFill/>
            <a:ln w="31750">
              <a:solidFill>
                <a:srgbClr val="000000"/>
              </a:solidFill>
              <a:round/>
              <a:headEnd/>
              <a:tailEnd/>
            </a:ln>
          </p:spPr>
          <p:txBody>
            <a:bodyPr/>
            <a:lstStyle/>
            <a:p>
              <a:endParaRPr lang="es-ES"/>
            </a:p>
          </p:txBody>
        </p:sp>
        <p:sp>
          <p:nvSpPr>
            <p:cNvPr id="77" name="Line 73"/>
            <p:cNvSpPr>
              <a:spLocks noChangeShapeType="1"/>
            </p:cNvSpPr>
            <p:nvPr/>
          </p:nvSpPr>
          <p:spPr bwMode="auto">
            <a:xfrm>
              <a:off x="3612" y="2487"/>
              <a:ext cx="20" cy="1"/>
            </a:xfrm>
            <a:prstGeom prst="line">
              <a:avLst/>
            </a:prstGeom>
            <a:noFill/>
            <a:ln w="31750">
              <a:solidFill>
                <a:srgbClr val="000000"/>
              </a:solidFill>
              <a:round/>
              <a:headEnd/>
              <a:tailEnd/>
            </a:ln>
          </p:spPr>
          <p:txBody>
            <a:bodyPr/>
            <a:lstStyle/>
            <a:p>
              <a:endParaRPr lang="es-ES"/>
            </a:p>
          </p:txBody>
        </p:sp>
        <p:sp>
          <p:nvSpPr>
            <p:cNvPr id="78" name="Line 74"/>
            <p:cNvSpPr>
              <a:spLocks noChangeShapeType="1"/>
            </p:cNvSpPr>
            <p:nvPr/>
          </p:nvSpPr>
          <p:spPr bwMode="auto">
            <a:xfrm>
              <a:off x="3692" y="2487"/>
              <a:ext cx="19" cy="1"/>
            </a:xfrm>
            <a:prstGeom prst="line">
              <a:avLst/>
            </a:prstGeom>
            <a:noFill/>
            <a:ln w="31750">
              <a:solidFill>
                <a:srgbClr val="000000"/>
              </a:solidFill>
              <a:round/>
              <a:headEnd/>
              <a:tailEnd/>
            </a:ln>
          </p:spPr>
          <p:txBody>
            <a:bodyPr/>
            <a:lstStyle/>
            <a:p>
              <a:endParaRPr lang="es-ES"/>
            </a:p>
          </p:txBody>
        </p:sp>
        <p:sp>
          <p:nvSpPr>
            <p:cNvPr id="79" name="Line 75"/>
            <p:cNvSpPr>
              <a:spLocks noChangeShapeType="1"/>
            </p:cNvSpPr>
            <p:nvPr/>
          </p:nvSpPr>
          <p:spPr bwMode="auto">
            <a:xfrm>
              <a:off x="3771" y="2487"/>
              <a:ext cx="20" cy="1"/>
            </a:xfrm>
            <a:prstGeom prst="line">
              <a:avLst/>
            </a:prstGeom>
            <a:noFill/>
            <a:ln w="31750">
              <a:solidFill>
                <a:srgbClr val="000000"/>
              </a:solidFill>
              <a:round/>
              <a:headEnd/>
              <a:tailEnd/>
            </a:ln>
          </p:spPr>
          <p:txBody>
            <a:bodyPr/>
            <a:lstStyle/>
            <a:p>
              <a:endParaRPr lang="es-ES"/>
            </a:p>
          </p:txBody>
        </p:sp>
        <p:sp>
          <p:nvSpPr>
            <p:cNvPr id="80" name="Line 76"/>
            <p:cNvSpPr>
              <a:spLocks noChangeShapeType="1"/>
            </p:cNvSpPr>
            <p:nvPr/>
          </p:nvSpPr>
          <p:spPr bwMode="auto">
            <a:xfrm>
              <a:off x="3850" y="2487"/>
              <a:ext cx="20" cy="1"/>
            </a:xfrm>
            <a:prstGeom prst="line">
              <a:avLst/>
            </a:prstGeom>
            <a:noFill/>
            <a:ln w="31750">
              <a:solidFill>
                <a:srgbClr val="000000"/>
              </a:solidFill>
              <a:round/>
              <a:headEnd/>
              <a:tailEnd/>
            </a:ln>
          </p:spPr>
          <p:txBody>
            <a:bodyPr/>
            <a:lstStyle/>
            <a:p>
              <a:endParaRPr lang="es-ES"/>
            </a:p>
          </p:txBody>
        </p:sp>
        <p:sp>
          <p:nvSpPr>
            <p:cNvPr id="81" name="Line 77"/>
            <p:cNvSpPr>
              <a:spLocks noChangeShapeType="1"/>
            </p:cNvSpPr>
            <p:nvPr/>
          </p:nvSpPr>
          <p:spPr bwMode="auto">
            <a:xfrm>
              <a:off x="3930" y="2487"/>
              <a:ext cx="20" cy="1"/>
            </a:xfrm>
            <a:prstGeom prst="line">
              <a:avLst/>
            </a:prstGeom>
            <a:noFill/>
            <a:ln w="31750">
              <a:solidFill>
                <a:srgbClr val="000000"/>
              </a:solidFill>
              <a:round/>
              <a:headEnd/>
              <a:tailEnd/>
            </a:ln>
          </p:spPr>
          <p:txBody>
            <a:bodyPr/>
            <a:lstStyle/>
            <a:p>
              <a:endParaRPr lang="es-ES"/>
            </a:p>
          </p:txBody>
        </p:sp>
        <p:sp>
          <p:nvSpPr>
            <p:cNvPr id="82" name="Line 78"/>
            <p:cNvSpPr>
              <a:spLocks noChangeShapeType="1"/>
            </p:cNvSpPr>
            <p:nvPr/>
          </p:nvSpPr>
          <p:spPr bwMode="auto">
            <a:xfrm>
              <a:off x="4009" y="2487"/>
              <a:ext cx="20" cy="1"/>
            </a:xfrm>
            <a:prstGeom prst="line">
              <a:avLst/>
            </a:prstGeom>
            <a:noFill/>
            <a:ln w="31750">
              <a:solidFill>
                <a:srgbClr val="000000"/>
              </a:solidFill>
              <a:round/>
              <a:headEnd/>
              <a:tailEnd/>
            </a:ln>
          </p:spPr>
          <p:txBody>
            <a:bodyPr/>
            <a:lstStyle/>
            <a:p>
              <a:endParaRPr lang="es-ES"/>
            </a:p>
          </p:txBody>
        </p:sp>
        <p:sp>
          <p:nvSpPr>
            <p:cNvPr id="83" name="Line 79"/>
            <p:cNvSpPr>
              <a:spLocks noChangeShapeType="1"/>
            </p:cNvSpPr>
            <p:nvPr/>
          </p:nvSpPr>
          <p:spPr bwMode="auto">
            <a:xfrm>
              <a:off x="4089" y="2487"/>
              <a:ext cx="19" cy="1"/>
            </a:xfrm>
            <a:prstGeom prst="line">
              <a:avLst/>
            </a:prstGeom>
            <a:noFill/>
            <a:ln w="31750">
              <a:solidFill>
                <a:srgbClr val="000000"/>
              </a:solidFill>
              <a:round/>
              <a:headEnd/>
              <a:tailEnd/>
            </a:ln>
          </p:spPr>
          <p:txBody>
            <a:bodyPr/>
            <a:lstStyle/>
            <a:p>
              <a:endParaRPr lang="es-ES"/>
            </a:p>
          </p:txBody>
        </p:sp>
        <p:sp>
          <p:nvSpPr>
            <p:cNvPr id="84" name="Line 80"/>
            <p:cNvSpPr>
              <a:spLocks noChangeShapeType="1"/>
            </p:cNvSpPr>
            <p:nvPr/>
          </p:nvSpPr>
          <p:spPr bwMode="auto">
            <a:xfrm>
              <a:off x="4168" y="2487"/>
              <a:ext cx="20" cy="1"/>
            </a:xfrm>
            <a:prstGeom prst="line">
              <a:avLst/>
            </a:prstGeom>
            <a:noFill/>
            <a:ln w="31750">
              <a:solidFill>
                <a:srgbClr val="000000"/>
              </a:solidFill>
              <a:round/>
              <a:headEnd/>
              <a:tailEnd/>
            </a:ln>
          </p:spPr>
          <p:txBody>
            <a:bodyPr/>
            <a:lstStyle/>
            <a:p>
              <a:endParaRPr lang="es-ES"/>
            </a:p>
          </p:txBody>
        </p:sp>
        <p:sp>
          <p:nvSpPr>
            <p:cNvPr id="85" name="Line 81"/>
            <p:cNvSpPr>
              <a:spLocks noChangeShapeType="1"/>
            </p:cNvSpPr>
            <p:nvPr/>
          </p:nvSpPr>
          <p:spPr bwMode="auto">
            <a:xfrm>
              <a:off x="4247" y="2487"/>
              <a:ext cx="20" cy="1"/>
            </a:xfrm>
            <a:prstGeom prst="line">
              <a:avLst/>
            </a:prstGeom>
            <a:noFill/>
            <a:ln w="31750">
              <a:solidFill>
                <a:srgbClr val="000000"/>
              </a:solidFill>
              <a:round/>
              <a:headEnd/>
              <a:tailEnd/>
            </a:ln>
          </p:spPr>
          <p:txBody>
            <a:bodyPr/>
            <a:lstStyle/>
            <a:p>
              <a:endParaRPr lang="es-ES"/>
            </a:p>
          </p:txBody>
        </p:sp>
        <p:sp>
          <p:nvSpPr>
            <p:cNvPr id="86" name="Line 82"/>
            <p:cNvSpPr>
              <a:spLocks noChangeShapeType="1"/>
            </p:cNvSpPr>
            <p:nvPr/>
          </p:nvSpPr>
          <p:spPr bwMode="auto">
            <a:xfrm>
              <a:off x="4327" y="2487"/>
              <a:ext cx="20" cy="1"/>
            </a:xfrm>
            <a:prstGeom prst="line">
              <a:avLst/>
            </a:prstGeom>
            <a:noFill/>
            <a:ln w="31750">
              <a:solidFill>
                <a:srgbClr val="000000"/>
              </a:solidFill>
              <a:round/>
              <a:headEnd/>
              <a:tailEnd/>
            </a:ln>
          </p:spPr>
          <p:txBody>
            <a:bodyPr/>
            <a:lstStyle/>
            <a:p>
              <a:endParaRPr lang="es-ES"/>
            </a:p>
          </p:txBody>
        </p:sp>
        <p:sp>
          <p:nvSpPr>
            <p:cNvPr id="87" name="Line 83"/>
            <p:cNvSpPr>
              <a:spLocks noChangeShapeType="1"/>
            </p:cNvSpPr>
            <p:nvPr/>
          </p:nvSpPr>
          <p:spPr bwMode="auto">
            <a:xfrm>
              <a:off x="4406" y="2487"/>
              <a:ext cx="20" cy="1"/>
            </a:xfrm>
            <a:prstGeom prst="line">
              <a:avLst/>
            </a:prstGeom>
            <a:noFill/>
            <a:ln w="31750">
              <a:solidFill>
                <a:srgbClr val="000000"/>
              </a:solidFill>
              <a:round/>
              <a:headEnd/>
              <a:tailEnd/>
            </a:ln>
          </p:spPr>
          <p:txBody>
            <a:bodyPr/>
            <a:lstStyle/>
            <a:p>
              <a:endParaRPr lang="es-ES"/>
            </a:p>
          </p:txBody>
        </p:sp>
        <p:sp>
          <p:nvSpPr>
            <p:cNvPr id="88" name="Line 84"/>
            <p:cNvSpPr>
              <a:spLocks noChangeShapeType="1"/>
            </p:cNvSpPr>
            <p:nvPr/>
          </p:nvSpPr>
          <p:spPr bwMode="auto">
            <a:xfrm>
              <a:off x="4485" y="2487"/>
              <a:ext cx="20" cy="1"/>
            </a:xfrm>
            <a:prstGeom prst="line">
              <a:avLst/>
            </a:prstGeom>
            <a:noFill/>
            <a:ln w="31750">
              <a:solidFill>
                <a:srgbClr val="000000"/>
              </a:solidFill>
              <a:round/>
              <a:headEnd/>
              <a:tailEnd/>
            </a:ln>
          </p:spPr>
          <p:txBody>
            <a:bodyPr/>
            <a:lstStyle/>
            <a:p>
              <a:endParaRPr lang="es-ES"/>
            </a:p>
          </p:txBody>
        </p:sp>
        <p:sp>
          <p:nvSpPr>
            <p:cNvPr id="89" name="Line 85"/>
            <p:cNvSpPr>
              <a:spLocks noChangeShapeType="1"/>
            </p:cNvSpPr>
            <p:nvPr/>
          </p:nvSpPr>
          <p:spPr bwMode="auto">
            <a:xfrm>
              <a:off x="4565" y="2487"/>
              <a:ext cx="20" cy="1"/>
            </a:xfrm>
            <a:prstGeom prst="line">
              <a:avLst/>
            </a:prstGeom>
            <a:noFill/>
            <a:ln w="31750">
              <a:solidFill>
                <a:srgbClr val="000000"/>
              </a:solidFill>
              <a:round/>
              <a:headEnd/>
              <a:tailEnd/>
            </a:ln>
          </p:spPr>
          <p:txBody>
            <a:bodyPr/>
            <a:lstStyle/>
            <a:p>
              <a:endParaRPr lang="es-ES"/>
            </a:p>
          </p:txBody>
        </p:sp>
        <p:sp>
          <p:nvSpPr>
            <p:cNvPr id="90" name="Line 86"/>
            <p:cNvSpPr>
              <a:spLocks noChangeShapeType="1"/>
            </p:cNvSpPr>
            <p:nvPr/>
          </p:nvSpPr>
          <p:spPr bwMode="auto">
            <a:xfrm>
              <a:off x="4644" y="2487"/>
              <a:ext cx="20" cy="1"/>
            </a:xfrm>
            <a:prstGeom prst="line">
              <a:avLst/>
            </a:prstGeom>
            <a:noFill/>
            <a:ln w="31750">
              <a:solidFill>
                <a:srgbClr val="000000"/>
              </a:solidFill>
              <a:round/>
              <a:headEnd/>
              <a:tailEnd/>
            </a:ln>
          </p:spPr>
          <p:txBody>
            <a:bodyPr/>
            <a:lstStyle/>
            <a:p>
              <a:endParaRPr lang="es-ES"/>
            </a:p>
          </p:txBody>
        </p:sp>
        <p:sp>
          <p:nvSpPr>
            <p:cNvPr id="91" name="Line 87"/>
            <p:cNvSpPr>
              <a:spLocks noChangeShapeType="1"/>
            </p:cNvSpPr>
            <p:nvPr/>
          </p:nvSpPr>
          <p:spPr bwMode="auto">
            <a:xfrm>
              <a:off x="4724" y="2487"/>
              <a:ext cx="20" cy="1"/>
            </a:xfrm>
            <a:prstGeom prst="line">
              <a:avLst/>
            </a:prstGeom>
            <a:noFill/>
            <a:ln w="31750">
              <a:solidFill>
                <a:srgbClr val="000000"/>
              </a:solidFill>
              <a:round/>
              <a:headEnd/>
              <a:tailEnd/>
            </a:ln>
          </p:spPr>
          <p:txBody>
            <a:bodyPr/>
            <a:lstStyle/>
            <a:p>
              <a:endParaRPr lang="es-ES"/>
            </a:p>
          </p:txBody>
        </p:sp>
        <p:sp>
          <p:nvSpPr>
            <p:cNvPr id="92" name="Line 88"/>
            <p:cNvSpPr>
              <a:spLocks noChangeShapeType="1"/>
            </p:cNvSpPr>
            <p:nvPr/>
          </p:nvSpPr>
          <p:spPr bwMode="auto">
            <a:xfrm>
              <a:off x="4803" y="2487"/>
              <a:ext cx="20" cy="1"/>
            </a:xfrm>
            <a:prstGeom prst="line">
              <a:avLst/>
            </a:prstGeom>
            <a:noFill/>
            <a:ln w="31750">
              <a:solidFill>
                <a:srgbClr val="000000"/>
              </a:solidFill>
              <a:round/>
              <a:headEnd/>
              <a:tailEnd/>
            </a:ln>
          </p:spPr>
          <p:txBody>
            <a:bodyPr/>
            <a:lstStyle/>
            <a:p>
              <a:endParaRPr lang="es-ES"/>
            </a:p>
          </p:txBody>
        </p:sp>
        <p:sp>
          <p:nvSpPr>
            <p:cNvPr id="93" name="Line 89"/>
            <p:cNvSpPr>
              <a:spLocks noChangeShapeType="1"/>
            </p:cNvSpPr>
            <p:nvPr/>
          </p:nvSpPr>
          <p:spPr bwMode="auto">
            <a:xfrm>
              <a:off x="4882" y="2487"/>
              <a:ext cx="20" cy="1"/>
            </a:xfrm>
            <a:prstGeom prst="line">
              <a:avLst/>
            </a:prstGeom>
            <a:noFill/>
            <a:ln w="31750">
              <a:solidFill>
                <a:srgbClr val="000000"/>
              </a:solidFill>
              <a:round/>
              <a:headEnd/>
              <a:tailEnd/>
            </a:ln>
          </p:spPr>
          <p:txBody>
            <a:bodyPr/>
            <a:lstStyle/>
            <a:p>
              <a:endParaRPr lang="es-ES"/>
            </a:p>
          </p:txBody>
        </p:sp>
        <p:sp>
          <p:nvSpPr>
            <p:cNvPr id="94" name="Line 90"/>
            <p:cNvSpPr>
              <a:spLocks noChangeShapeType="1"/>
            </p:cNvSpPr>
            <p:nvPr/>
          </p:nvSpPr>
          <p:spPr bwMode="auto">
            <a:xfrm>
              <a:off x="4962" y="2487"/>
              <a:ext cx="20" cy="1"/>
            </a:xfrm>
            <a:prstGeom prst="line">
              <a:avLst/>
            </a:prstGeom>
            <a:noFill/>
            <a:ln w="31750">
              <a:solidFill>
                <a:srgbClr val="000000"/>
              </a:solidFill>
              <a:round/>
              <a:headEnd/>
              <a:tailEnd/>
            </a:ln>
          </p:spPr>
          <p:txBody>
            <a:bodyPr/>
            <a:lstStyle/>
            <a:p>
              <a:endParaRPr lang="es-ES"/>
            </a:p>
          </p:txBody>
        </p:sp>
        <p:sp>
          <p:nvSpPr>
            <p:cNvPr id="95" name="Line 91"/>
            <p:cNvSpPr>
              <a:spLocks noChangeShapeType="1"/>
            </p:cNvSpPr>
            <p:nvPr/>
          </p:nvSpPr>
          <p:spPr bwMode="auto">
            <a:xfrm>
              <a:off x="5041" y="2487"/>
              <a:ext cx="20" cy="1"/>
            </a:xfrm>
            <a:prstGeom prst="line">
              <a:avLst/>
            </a:prstGeom>
            <a:noFill/>
            <a:ln w="31750">
              <a:solidFill>
                <a:srgbClr val="000000"/>
              </a:solidFill>
              <a:round/>
              <a:headEnd/>
              <a:tailEnd/>
            </a:ln>
          </p:spPr>
          <p:txBody>
            <a:bodyPr/>
            <a:lstStyle/>
            <a:p>
              <a:endParaRPr lang="es-ES"/>
            </a:p>
          </p:txBody>
        </p:sp>
        <p:sp>
          <p:nvSpPr>
            <p:cNvPr id="96" name="Line 92"/>
            <p:cNvSpPr>
              <a:spLocks noChangeShapeType="1"/>
            </p:cNvSpPr>
            <p:nvPr/>
          </p:nvSpPr>
          <p:spPr bwMode="auto">
            <a:xfrm>
              <a:off x="5121" y="2487"/>
              <a:ext cx="19" cy="1"/>
            </a:xfrm>
            <a:prstGeom prst="line">
              <a:avLst/>
            </a:prstGeom>
            <a:noFill/>
            <a:ln w="31750">
              <a:solidFill>
                <a:srgbClr val="000000"/>
              </a:solidFill>
              <a:round/>
              <a:headEnd/>
              <a:tailEnd/>
            </a:ln>
          </p:spPr>
          <p:txBody>
            <a:bodyPr/>
            <a:lstStyle/>
            <a:p>
              <a:endParaRPr lang="es-ES"/>
            </a:p>
          </p:txBody>
        </p:sp>
        <p:sp>
          <p:nvSpPr>
            <p:cNvPr id="97" name="Line 93"/>
            <p:cNvSpPr>
              <a:spLocks noChangeShapeType="1"/>
            </p:cNvSpPr>
            <p:nvPr/>
          </p:nvSpPr>
          <p:spPr bwMode="auto">
            <a:xfrm>
              <a:off x="5200" y="2487"/>
              <a:ext cx="20" cy="1"/>
            </a:xfrm>
            <a:prstGeom prst="line">
              <a:avLst/>
            </a:prstGeom>
            <a:noFill/>
            <a:ln w="31750">
              <a:solidFill>
                <a:srgbClr val="000000"/>
              </a:solidFill>
              <a:round/>
              <a:headEnd/>
              <a:tailEnd/>
            </a:ln>
          </p:spPr>
          <p:txBody>
            <a:bodyPr/>
            <a:lstStyle/>
            <a:p>
              <a:endParaRPr lang="es-ES"/>
            </a:p>
          </p:txBody>
        </p:sp>
        <p:sp>
          <p:nvSpPr>
            <p:cNvPr id="98" name="Line 94"/>
            <p:cNvSpPr>
              <a:spLocks noChangeShapeType="1"/>
            </p:cNvSpPr>
            <p:nvPr/>
          </p:nvSpPr>
          <p:spPr bwMode="auto">
            <a:xfrm>
              <a:off x="5279" y="2487"/>
              <a:ext cx="20" cy="1"/>
            </a:xfrm>
            <a:prstGeom prst="line">
              <a:avLst/>
            </a:prstGeom>
            <a:noFill/>
            <a:ln w="31750">
              <a:solidFill>
                <a:srgbClr val="000000"/>
              </a:solidFill>
              <a:round/>
              <a:headEnd/>
              <a:tailEnd/>
            </a:ln>
          </p:spPr>
          <p:txBody>
            <a:bodyPr/>
            <a:lstStyle/>
            <a:p>
              <a:endParaRPr lang="es-ES"/>
            </a:p>
          </p:txBody>
        </p:sp>
        <p:sp>
          <p:nvSpPr>
            <p:cNvPr id="99" name="Line 95"/>
            <p:cNvSpPr>
              <a:spLocks noChangeShapeType="1"/>
            </p:cNvSpPr>
            <p:nvPr/>
          </p:nvSpPr>
          <p:spPr bwMode="auto">
            <a:xfrm>
              <a:off x="5359" y="2487"/>
              <a:ext cx="20" cy="1"/>
            </a:xfrm>
            <a:prstGeom prst="line">
              <a:avLst/>
            </a:prstGeom>
            <a:noFill/>
            <a:ln w="31750">
              <a:solidFill>
                <a:srgbClr val="000000"/>
              </a:solidFill>
              <a:round/>
              <a:headEnd/>
              <a:tailEnd/>
            </a:ln>
          </p:spPr>
          <p:txBody>
            <a:bodyPr/>
            <a:lstStyle/>
            <a:p>
              <a:endParaRPr lang="es-ES"/>
            </a:p>
          </p:txBody>
        </p:sp>
        <p:sp>
          <p:nvSpPr>
            <p:cNvPr id="100" name="Line 96"/>
            <p:cNvSpPr>
              <a:spLocks noChangeShapeType="1"/>
            </p:cNvSpPr>
            <p:nvPr/>
          </p:nvSpPr>
          <p:spPr bwMode="auto">
            <a:xfrm>
              <a:off x="5438" y="2487"/>
              <a:ext cx="20" cy="1"/>
            </a:xfrm>
            <a:prstGeom prst="line">
              <a:avLst/>
            </a:prstGeom>
            <a:noFill/>
            <a:ln w="31750">
              <a:solidFill>
                <a:srgbClr val="000000"/>
              </a:solidFill>
              <a:round/>
              <a:headEnd/>
              <a:tailEnd/>
            </a:ln>
          </p:spPr>
          <p:txBody>
            <a:bodyPr/>
            <a:lstStyle/>
            <a:p>
              <a:endParaRPr lang="es-ES"/>
            </a:p>
          </p:txBody>
        </p:sp>
        <p:sp>
          <p:nvSpPr>
            <p:cNvPr id="101" name="Freeform 97"/>
            <p:cNvSpPr>
              <a:spLocks/>
            </p:cNvSpPr>
            <p:nvPr/>
          </p:nvSpPr>
          <p:spPr bwMode="auto">
            <a:xfrm>
              <a:off x="5342" y="2414"/>
              <a:ext cx="149" cy="145"/>
            </a:xfrm>
            <a:custGeom>
              <a:avLst/>
              <a:gdLst/>
              <a:ahLst/>
              <a:cxnLst>
                <a:cxn ang="0">
                  <a:pos x="0" y="145"/>
                </a:cxn>
                <a:cxn ang="0">
                  <a:pos x="10" y="135"/>
                </a:cxn>
                <a:cxn ang="0">
                  <a:pos x="17" y="129"/>
                </a:cxn>
                <a:cxn ang="0">
                  <a:pos x="27" y="119"/>
                </a:cxn>
                <a:cxn ang="0">
                  <a:pos x="37" y="112"/>
                </a:cxn>
                <a:cxn ang="0">
                  <a:pos x="47" y="106"/>
                </a:cxn>
                <a:cxn ang="0">
                  <a:pos x="56" y="99"/>
                </a:cxn>
                <a:cxn ang="0">
                  <a:pos x="66" y="92"/>
                </a:cxn>
                <a:cxn ang="0">
                  <a:pos x="76" y="86"/>
                </a:cxn>
                <a:cxn ang="0">
                  <a:pos x="90" y="82"/>
                </a:cxn>
                <a:cxn ang="0">
                  <a:pos x="99" y="79"/>
                </a:cxn>
                <a:cxn ang="0">
                  <a:pos x="113" y="76"/>
                </a:cxn>
                <a:cxn ang="0">
                  <a:pos x="123" y="73"/>
                </a:cxn>
                <a:cxn ang="0">
                  <a:pos x="136" y="73"/>
                </a:cxn>
                <a:cxn ang="0">
                  <a:pos x="149" y="73"/>
                </a:cxn>
                <a:cxn ang="0">
                  <a:pos x="136" y="73"/>
                </a:cxn>
                <a:cxn ang="0">
                  <a:pos x="123" y="73"/>
                </a:cxn>
                <a:cxn ang="0">
                  <a:pos x="113" y="69"/>
                </a:cxn>
                <a:cxn ang="0">
                  <a:pos x="99" y="66"/>
                </a:cxn>
                <a:cxn ang="0">
                  <a:pos x="90" y="63"/>
                </a:cxn>
                <a:cxn ang="0">
                  <a:pos x="76" y="59"/>
                </a:cxn>
                <a:cxn ang="0">
                  <a:pos x="66" y="53"/>
                </a:cxn>
                <a:cxn ang="0">
                  <a:pos x="56" y="46"/>
                </a:cxn>
                <a:cxn ang="0">
                  <a:pos x="47" y="39"/>
                </a:cxn>
                <a:cxn ang="0">
                  <a:pos x="37" y="33"/>
                </a:cxn>
                <a:cxn ang="0">
                  <a:pos x="27" y="26"/>
                </a:cxn>
                <a:cxn ang="0">
                  <a:pos x="17" y="16"/>
                </a:cxn>
                <a:cxn ang="0">
                  <a:pos x="10" y="10"/>
                </a:cxn>
                <a:cxn ang="0">
                  <a:pos x="0" y="0"/>
                </a:cxn>
              </a:cxnLst>
              <a:rect l="0" t="0" r="r" b="b"/>
              <a:pathLst>
                <a:path w="149" h="145">
                  <a:moveTo>
                    <a:pt x="0" y="145"/>
                  </a:moveTo>
                  <a:lnTo>
                    <a:pt x="10" y="135"/>
                  </a:lnTo>
                  <a:lnTo>
                    <a:pt x="17" y="129"/>
                  </a:lnTo>
                  <a:lnTo>
                    <a:pt x="27" y="119"/>
                  </a:lnTo>
                  <a:lnTo>
                    <a:pt x="37" y="112"/>
                  </a:lnTo>
                  <a:lnTo>
                    <a:pt x="47" y="106"/>
                  </a:lnTo>
                  <a:lnTo>
                    <a:pt x="56" y="99"/>
                  </a:lnTo>
                  <a:lnTo>
                    <a:pt x="66" y="92"/>
                  </a:lnTo>
                  <a:lnTo>
                    <a:pt x="76" y="86"/>
                  </a:lnTo>
                  <a:lnTo>
                    <a:pt x="90" y="82"/>
                  </a:lnTo>
                  <a:lnTo>
                    <a:pt x="99" y="79"/>
                  </a:lnTo>
                  <a:lnTo>
                    <a:pt x="113" y="76"/>
                  </a:lnTo>
                  <a:lnTo>
                    <a:pt x="123" y="73"/>
                  </a:lnTo>
                  <a:lnTo>
                    <a:pt x="136" y="73"/>
                  </a:lnTo>
                  <a:lnTo>
                    <a:pt x="149" y="73"/>
                  </a:lnTo>
                  <a:lnTo>
                    <a:pt x="136" y="73"/>
                  </a:lnTo>
                  <a:lnTo>
                    <a:pt x="123" y="73"/>
                  </a:lnTo>
                  <a:lnTo>
                    <a:pt x="113" y="69"/>
                  </a:lnTo>
                  <a:lnTo>
                    <a:pt x="99" y="66"/>
                  </a:lnTo>
                  <a:lnTo>
                    <a:pt x="90" y="63"/>
                  </a:lnTo>
                  <a:lnTo>
                    <a:pt x="76" y="59"/>
                  </a:lnTo>
                  <a:lnTo>
                    <a:pt x="66" y="53"/>
                  </a:lnTo>
                  <a:lnTo>
                    <a:pt x="56" y="46"/>
                  </a:lnTo>
                  <a:lnTo>
                    <a:pt x="47" y="39"/>
                  </a:lnTo>
                  <a:lnTo>
                    <a:pt x="37" y="33"/>
                  </a:lnTo>
                  <a:lnTo>
                    <a:pt x="27" y="26"/>
                  </a:lnTo>
                  <a:lnTo>
                    <a:pt x="17" y="16"/>
                  </a:lnTo>
                  <a:lnTo>
                    <a:pt x="10" y="10"/>
                  </a:lnTo>
                  <a:lnTo>
                    <a:pt x="0" y="0"/>
                  </a:lnTo>
                </a:path>
              </a:pathLst>
            </a:custGeom>
            <a:noFill/>
            <a:ln w="31750">
              <a:solidFill>
                <a:srgbClr val="000000"/>
              </a:solidFill>
              <a:prstDash val="solid"/>
              <a:round/>
              <a:headEnd/>
              <a:tailEnd/>
            </a:ln>
          </p:spPr>
          <p:txBody>
            <a:bodyPr/>
            <a:lstStyle/>
            <a:p>
              <a:endParaRPr lang="es-ES"/>
            </a:p>
          </p:txBody>
        </p:sp>
        <p:sp>
          <p:nvSpPr>
            <p:cNvPr id="102" name="Rectangle 98"/>
            <p:cNvSpPr>
              <a:spLocks noChangeArrowheads="1"/>
            </p:cNvSpPr>
            <p:nvPr/>
          </p:nvSpPr>
          <p:spPr bwMode="auto">
            <a:xfrm>
              <a:off x="380" y="2999"/>
              <a:ext cx="771" cy="185"/>
            </a:xfrm>
            <a:prstGeom prst="rect">
              <a:avLst/>
            </a:prstGeom>
            <a:noFill/>
            <a:ln w="9525">
              <a:noFill/>
              <a:miter lim="800000"/>
              <a:headEnd/>
              <a:tailEnd/>
            </a:ln>
          </p:spPr>
          <p:txBody>
            <a:bodyPr wrap="none" lIns="0" tIns="0" rIns="0" bIns="0">
              <a:spAutoFit/>
            </a:bodyPr>
            <a:lstStyle/>
            <a:p>
              <a:r>
                <a:rPr lang="es-ES" sz="1700" b="1">
                  <a:solidFill>
                    <a:srgbClr val="000000"/>
                  </a:solidFill>
                  <a:effectLst/>
                </a:rPr>
                <a:t>USUARIOS</a:t>
              </a:r>
              <a:endParaRPr lang="es-ES" sz="1800">
                <a:effectLst/>
              </a:endParaRPr>
            </a:p>
          </p:txBody>
        </p:sp>
        <p:sp>
          <p:nvSpPr>
            <p:cNvPr id="103" name="Rectangle 99"/>
            <p:cNvSpPr>
              <a:spLocks noChangeArrowheads="1"/>
            </p:cNvSpPr>
            <p:nvPr/>
          </p:nvSpPr>
          <p:spPr bwMode="auto">
            <a:xfrm>
              <a:off x="1915" y="1366"/>
              <a:ext cx="1469" cy="185"/>
            </a:xfrm>
            <a:prstGeom prst="rect">
              <a:avLst/>
            </a:prstGeom>
            <a:noFill/>
            <a:ln w="9525">
              <a:noFill/>
              <a:miter lim="800000"/>
              <a:headEnd/>
              <a:tailEnd/>
            </a:ln>
          </p:spPr>
          <p:txBody>
            <a:bodyPr wrap="none" lIns="0" tIns="0" rIns="0" bIns="0">
              <a:spAutoFit/>
            </a:bodyPr>
            <a:lstStyle/>
            <a:p>
              <a:r>
                <a:rPr lang="es-ES" sz="1700">
                  <a:solidFill>
                    <a:srgbClr val="000000"/>
                  </a:solidFill>
                  <a:effectLst/>
                </a:rPr>
                <a:t>Sistemas en Desarrollo</a:t>
              </a:r>
              <a:endParaRPr lang="es-ES" sz="1800">
                <a:effectLst/>
              </a:endParaRPr>
            </a:p>
          </p:txBody>
        </p:sp>
        <p:sp>
          <p:nvSpPr>
            <p:cNvPr id="104" name="Rectangle 100"/>
            <p:cNvSpPr>
              <a:spLocks noChangeArrowheads="1"/>
            </p:cNvSpPr>
            <p:nvPr/>
          </p:nvSpPr>
          <p:spPr bwMode="auto">
            <a:xfrm>
              <a:off x="1644" y="3448"/>
              <a:ext cx="2186" cy="185"/>
            </a:xfrm>
            <a:prstGeom prst="rect">
              <a:avLst/>
            </a:prstGeom>
            <a:noFill/>
            <a:ln w="9525">
              <a:noFill/>
              <a:miter lim="800000"/>
              <a:headEnd/>
              <a:tailEnd/>
            </a:ln>
          </p:spPr>
          <p:txBody>
            <a:bodyPr wrap="none" lIns="0" tIns="0" rIns="0" bIns="0">
              <a:spAutoFit/>
            </a:bodyPr>
            <a:lstStyle/>
            <a:p>
              <a:r>
                <a:rPr lang="es-ES" sz="1700">
                  <a:solidFill>
                    <a:srgbClr val="000000"/>
                  </a:solidFill>
                  <a:effectLst/>
                </a:rPr>
                <a:t>Sistemas en Producción/Operación</a:t>
              </a:r>
              <a:endParaRPr lang="es-ES" sz="1800">
                <a:effectLst/>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Modelo en Espiral</a:t>
            </a:r>
            <a:endParaRPr lang="en-US" dirty="0"/>
          </a:p>
        </p:txBody>
      </p:sp>
      <p:sp>
        <p:nvSpPr>
          <p:cNvPr id="32" name="31 CuadroTexto"/>
          <p:cNvSpPr txBox="1"/>
          <p:nvPr/>
        </p:nvSpPr>
        <p:spPr>
          <a:xfrm>
            <a:off x="443308" y="2215417"/>
            <a:ext cx="10886680" cy="3831818"/>
          </a:xfrm>
          <a:prstGeom prst="rect">
            <a:avLst/>
          </a:prstGeom>
          <a:noFill/>
        </p:spPr>
        <p:txBody>
          <a:bodyPr wrap="square" rtlCol="0">
            <a:spAutoFit/>
          </a:bodyPr>
          <a:lstStyle/>
          <a:p>
            <a:pPr marL="273050" indent="-273050">
              <a:lnSpc>
                <a:spcPct val="150000"/>
              </a:lnSpc>
            </a:pPr>
            <a:r>
              <a:rPr lang="es-ES" altLang="es-ES" dirty="0" smtClean="0">
                <a:solidFill>
                  <a:srgbClr val="002060"/>
                </a:solidFill>
              </a:rPr>
              <a:t>Se combinan las actividades de desarrollo con Análisis de Riesgo.</a:t>
            </a:r>
          </a:p>
          <a:p>
            <a:pPr marL="273050" indent="-273050">
              <a:lnSpc>
                <a:spcPct val="150000"/>
              </a:lnSpc>
            </a:pPr>
            <a:r>
              <a:rPr lang="es-ES" altLang="es-ES" dirty="0" smtClean="0">
                <a:solidFill>
                  <a:srgbClr val="002060"/>
                </a:solidFill>
              </a:rPr>
              <a:t>El modelo es de tipo iterativo:</a:t>
            </a:r>
          </a:p>
          <a:p>
            <a:pPr marL="273050" indent="-273050">
              <a:lnSpc>
                <a:spcPct val="150000"/>
              </a:lnSpc>
              <a:buFont typeface="Wingdings" pitchFamily="2" charset="2"/>
              <a:buChar char="q"/>
            </a:pPr>
            <a:r>
              <a:rPr lang="es-ES" altLang="es-ES" dirty="0" smtClean="0">
                <a:solidFill>
                  <a:srgbClr val="002060"/>
                </a:solidFill>
              </a:rPr>
              <a:t>Planificación </a:t>
            </a:r>
          </a:p>
          <a:p>
            <a:pPr marL="273050" indent="-273050">
              <a:lnSpc>
                <a:spcPct val="150000"/>
              </a:lnSpc>
              <a:buFont typeface="Wingdings" pitchFamily="2" charset="2"/>
              <a:buChar char="q"/>
            </a:pPr>
            <a:r>
              <a:rPr lang="es-ES" altLang="es-ES" dirty="0" smtClean="0">
                <a:solidFill>
                  <a:srgbClr val="002060"/>
                </a:solidFill>
              </a:rPr>
              <a:t>Análisis de Riesgo </a:t>
            </a:r>
          </a:p>
          <a:p>
            <a:pPr marL="273050" indent="-273050">
              <a:lnSpc>
                <a:spcPct val="150000"/>
              </a:lnSpc>
              <a:buFont typeface="Wingdings" pitchFamily="2" charset="2"/>
              <a:buChar char="q"/>
            </a:pPr>
            <a:r>
              <a:rPr lang="es-ES" altLang="es-ES" dirty="0" smtClean="0">
                <a:solidFill>
                  <a:srgbClr val="002060"/>
                </a:solidFill>
              </a:rPr>
              <a:t>Ingeniería </a:t>
            </a:r>
          </a:p>
          <a:p>
            <a:pPr marL="273050" indent="-273050">
              <a:lnSpc>
                <a:spcPct val="150000"/>
              </a:lnSpc>
              <a:buFont typeface="Wingdings" pitchFamily="2" charset="2"/>
              <a:buChar char="q"/>
            </a:pPr>
            <a:r>
              <a:rPr lang="es-ES" altLang="es-ES" dirty="0" smtClean="0">
                <a:solidFill>
                  <a:srgbClr val="002060"/>
                </a:solidFill>
              </a:rPr>
              <a:t>Evaluación </a:t>
            </a:r>
          </a:p>
          <a:p>
            <a:pPr marL="273050" indent="-273050">
              <a:lnSpc>
                <a:spcPct val="150000"/>
              </a:lnSpc>
              <a:buFont typeface="Wingdings" pitchFamily="2" charset="2"/>
              <a:buChar char="q"/>
            </a:pPr>
            <a:r>
              <a:rPr lang="es-ES" altLang="es-ES" dirty="0" smtClean="0">
                <a:solidFill>
                  <a:srgbClr val="002060"/>
                </a:solidFill>
              </a:rPr>
              <a:t>Planificación</a:t>
            </a:r>
          </a:p>
          <a:p>
            <a:pPr marL="273050" indent="-273050">
              <a:lnSpc>
                <a:spcPct val="150000"/>
              </a:lnSpc>
            </a:pPr>
            <a:r>
              <a:rPr lang="es-ES" altLang="es-ES" dirty="0" smtClean="0">
                <a:solidFill>
                  <a:srgbClr val="002060"/>
                </a:solidFill>
              </a:rPr>
              <a:t>En cada iteración, se evalúan las diferentes alternativas y se elige una.</a:t>
            </a:r>
          </a:p>
          <a:p>
            <a:pPr marL="273050" indent="-273050">
              <a:lnSpc>
                <a:spcPct val="150000"/>
              </a:lnSpc>
            </a:pPr>
            <a:r>
              <a:rPr lang="es-ES" altLang="es-ES" dirty="0" smtClean="0">
                <a:solidFill>
                  <a:srgbClr val="002060"/>
                </a:solidFill>
              </a:rPr>
              <a:t>Los gestores del proyecto intentan eliminar o minimizar el riesgo.</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Modelo en Espiral</a:t>
            </a:r>
            <a:endParaRPr lang="en-US" dirty="0"/>
          </a:p>
        </p:txBody>
      </p:sp>
      <p:grpSp>
        <p:nvGrpSpPr>
          <p:cNvPr id="4" name="Group 3"/>
          <p:cNvGrpSpPr>
            <a:grpSpLocks/>
          </p:cNvGrpSpPr>
          <p:nvPr/>
        </p:nvGrpSpPr>
        <p:grpSpPr bwMode="auto">
          <a:xfrm>
            <a:off x="2312719" y="1699388"/>
            <a:ext cx="7402513" cy="4621212"/>
            <a:chOff x="432" y="950"/>
            <a:chExt cx="4837" cy="3274"/>
          </a:xfrm>
        </p:grpSpPr>
        <p:sp>
          <p:nvSpPr>
            <p:cNvPr id="5" name="Rectangle 4"/>
            <p:cNvSpPr>
              <a:spLocks noChangeArrowheads="1"/>
            </p:cNvSpPr>
            <p:nvPr/>
          </p:nvSpPr>
          <p:spPr bwMode="auto">
            <a:xfrm>
              <a:off x="432" y="3936"/>
              <a:ext cx="1200" cy="288"/>
            </a:xfrm>
            <a:prstGeom prst="rect">
              <a:avLst/>
            </a:prstGeom>
            <a:noFill/>
            <a:ln w="12700">
              <a:noFill/>
              <a:miter lim="800000"/>
              <a:headEnd/>
              <a:tailEnd/>
            </a:ln>
            <a:effectLst/>
          </p:spPr>
          <p:txBody>
            <a:bodyPr wrap="none" anchor="ctr"/>
            <a:lstStyle/>
            <a:p>
              <a:endParaRPr lang="es-ES"/>
            </a:p>
          </p:txBody>
        </p:sp>
        <p:sp>
          <p:nvSpPr>
            <p:cNvPr id="6" name="Rectangle 5"/>
            <p:cNvSpPr>
              <a:spLocks noChangeArrowheads="1"/>
            </p:cNvSpPr>
            <p:nvPr/>
          </p:nvSpPr>
          <p:spPr bwMode="auto">
            <a:xfrm>
              <a:off x="1968" y="3936"/>
              <a:ext cx="1824" cy="288"/>
            </a:xfrm>
            <a:prstGeom prst="rect">
              <a:avLst/>
            </a:prstGeom>
            <a:noFill/>
            <a:ln w="12700">
              <a:noFill/>
              <a:miter lim="800000"/>
              <a:headEnd/>
              <a:tailEnd/>
            </a:ln>
            <a:effectLst/>
          </p:spPr>
          <p:txBody>
            <a:bodyPr wrap="none" anchor="ctr"/>
            <a:lstStyle/>
            <a:p>
              <a:endParaRPr lang="es-ES"/>
            </a:p>
          </p:txBody>
        </p:sp>
        <p:sp>
          <p:nvSpPr>
            <p:cNvPr id="7" name="Rectangle 6"/>
            <p:cNvSpPr>
              <a:spLocks noChangeArrowheads="1"/>
            </p:cNvSpPr>
            <p:nvPr/>
          </p:nvSpPr>
          <p:spPr bwMode="auto">
            <a:xfrm>
              <a:off x="549" y="1233"/>
              <a:ext cx="654" cy="130"/>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Recolección de</a:t>
              </a:r>
              <a:endParaRPr lang="es-ES" sz="1200">
                <a:effectLst/>
                <a:latin typeface="Tahoma" pitchFamily="34" charset="0"/>
              </a:endParaRPr>
            </a:p>
          </p:txBody>
        </p:sp>
        <p:sp>
          <p:nvSpPr>
            <p:cNvPr id="8" name="Rectangle 7"/>
            <p:cNvSpPr>
              <a:spLocks noChangeArrowheads="1"/>
            </p:cNvSpPr>
            <p:nvPr/>
          </p:nvSpPr>
          <p:spPr bwMode="auto">
            <a:xfrm>
              <a:off x="530" y="1312"/>
              <a:ext cx="685"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Requerimientos</a:t>
              </a:r>
              <a:endParaRPr lang="es-ES" sz="1200">
                <a:effectLst/>
                <a:latin typeface="Tahoma" pitchFamily="34" charset="0"/>
              </a:endParaRPr>
            </a:p>
          </p:txBody>
        </p:sp>
        <p:sp>
          <p:nvSpPr>
            <p:cNvPr id="9" name="Rectangle 8"/>
            <p:cNvSpPr>
              <a:spLocks noChangeArrowheads="1"/>
            </p:cNvSpPr>
            <p:nvPr/>
          </p:nvSpPr>
          <p:spPr bwMode="auto">
            <a:xfrm>
              <a:off x="543" y="1392"/>
              <a:ext cx="620"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y Planificación</a:t>
              </a:r>
              <a:endParaRPr lang="es-ES" sz="1200">
                <a:effectLst/>
                <a:latin typeface="Tahoma" pitchFamily="34" charset="0"/>
              </a:endParaRPr>
            </a:p>
          </p:txBody>
        </p:sp>
        <p:sp>
          <p:nvSpPr>
            <p:cNvPr id="10" name="Rectangle 9"/>
            <p:cNvSpPr>
              <a:spLocks noChangeArrowheads="1"/>
            </p:cNvSpPr>
            <p:nvPr/>
          </p:nvSpPr>
          <p:spPr bwMode="auto">
            <a:xfrm>
              <a:off x="595" y="1474"/>
              <a:ext cx="542"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del Proyecto</a:t>
              </a:r>
              <a:endParaRPr lang="es-ES" sz="1200">
                <a:effectLst/>
                <a:latin typeface="Tahoma" pitchFamily="34" charset="0"/>
              </a:endParaRPr>
            </a:p>
          </p:txBody>
        </p:sp>
        <p:sp>
          <p:nvSpPr>
            <p:cNvPr id="11" name="Rectangle 10"/>
            <p:cNvSpPr>
              <a:spLocks noChangeArrowheads="1"/>
            </p:cNvSpPr>
            <p:nvPr/>
          </p:nvSpPr>
          <p:spPr bwMode="auto">
            <a:xfrm>
              <a:off x="639" y="1553"/>
              <a:ext cx="420"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(iniciales)</a:t>
              </a:r>
              <a:endParaRPr lang="es-ES" sz="1200">
                <a:effectLst/>
                <a:latin typeface="Tahoma" pitchFamily="34" charset="0"/>
              </a:endParaRPr>
            </a:p>
          </p:txBody>
        </p:sp>
        <p:sp>
          <p:nvSpPr>
            <p:cNvPr id="12" name="Rectangle 11"/>
            <p:cNvSpPr>
              <a:spLocks noChangeArrowheads="1"/>
            </p:cNvSpPr>
            <p:nvPr/>
          </p:nvSpPr>
          <p:spPr bwMode="auto">
            <a:xfrm>
              <a:off x="485" y="1936"/>
              <a:ext cx="539" cy="130"/>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Planificación</a:t>
              </a:r>
              <a:endParaRPr lang="es-ES" sz="1200">
                <a:effectLst/>
                <a:latin typeface="Tahoma" pitchFamily="34" charset="0"/>
              </a:endParaRPr>
            </a:p>
          </p:txBody>
        </p:sp>
        <p:sp>
          <p:nvSpPr>
            <p:cNvPr id="13" name="Rectangle 12"/>
            <p:cNvSpPr>
              <a:spLocks noChangeArrowheads="1"/>
            </p:cNvSpPr>
            <p:nvPr/>
          </p:nvSpPr>
          <p:spPr bwMode="auto">
            <a:xfrm>
              <a:off x="480" y="2016"/>
              <a:ext cx="602" cy="130"/>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basada en los</a:t>
              </a:r>
              <a:endParaRPr lang="es-ES" sz="1200">
                <a:effectLst/>
                <a:latin typeface="Tahoma" pitchFamily="34" charset="0"/>
              </a:endParaRPr>
            </a:p>
          </p:txBody>
        </p:sp>
        <p:sp>
          <p:nvSpPr>
            <p:cNvPr id="14" name="Rectangle 13"/>
            <p:cNvSpPr>
              <a:spLocks noChangeArrowheads="1"/>
            </p:cNvSpPr>
            <p:nvPr/>
          </p:nvSpPr>
          <p:spPr bwMode="auto">
            <a:xfrm>
              <a:off x="500" y="2097"/>
              <a:ext cx="536" cy="130"/>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comentarios</a:t>
              </a:r>
              <a:endParaRPr lang="es-ES" sz="1200">
                <a:effectLst/>
                <a:latin typeface="Tahoma" pitchFamily="34" charset="0"/>
              </a:endParaRPr>
            </a:p>
          </p:txBody>
        </p:sp>
        <p:sp>
          <p:nvSpPr>
            <p:cNvPr id="15" name="Rectangle 14"/>
            <p:cNvSpPr>
              <a:spLocks noChangeArrowheads="1"/>
            </p:cNvSpPr>
            <p:nvPr/>
          </p:nvSpPr>
          <p:spPr bwMode="auto">
            <a:xfrm>
              <a:off x="540" y="2178"/>
              <a:ext cx="448" cy="130"/>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del cliente</a:t>
              </a:r>
              <a:endParaRPr lang="es-ES" sz="1200">
                <a:effectLst/>
                <a:latin typeface="Tahoma" pitchFamily="34" charset="0"/>
              </a:endParaRPr>
            </a:p>
          </p:txBody>
        </p:sp>
        <p:sp>
          <p:nvSpPr>
            <p:cNvPr id="16" name="Rectangle 15"/>
            <p:cNvSpPr>
              <a:spLocks noChangeArrowheads="1"/>
            </p:cNvSpPr>
            <p:nvPr/>
          </p:nvSpPr>
          <p:spPr bwMode="auto">
            <a:xfrm>
              <a:off x="530" y="3224"/>
              <a:ext cx="466"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Evaluación</a:t>
              </a:r>
              <a:endParaRPr lang="es-ES" sz="3200">
                <a:effectLst/>
                <a:latin typeface="Tahoma" pitchFamily="34" charset="0"/>
              </a:endParaRPr>
            </a:p>
          </p:txBody>
        </p:sp>
        <p:sp>
          <p:nvSpPr>
            <p:cNvPr id="17" name="Rectangle 16"/>
            <p:cNvSpPr>
              <a:spLocks noChangeArrowheads="1"/>
            </p:cNvSpPr>
            <p:nvPr/>
          </p:nvSpPr>
          <p:spPr bwMode="auto">
            <a:xfrm>
              <a:off x="549" y="3305"/>
              <a:ext cx="448"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del cliente</a:t>
              </a:r>
              <a:endParaRPr lang="es-ES" sz="3200">
                <a:effectLst/>
                <a:latin typeface="Tahoma" pitchFamily="34" charset="0"/>
              </a:endParaRPr>
            </a:p>
          </p:txBody>
        </p:sp>
        <p:sp>
          <p:nvSpPr>
            <p:cNvPr id="18" name="Rectangle 17"/>
            <p:cNvSpPr>
              <a:spLocks noChangeArrowheads="1"/>
            </p:cNvSpPr>
            <p:nvPr/>
          </p:nvSpPr>
          <p:spPr bwMode="auto">
            <a:xfrm>
              <a:off x="4248" y="983"/>
              <a:ext cx="788"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Análisis de Riesgo</a:t>
              </a:r>
              <a:endParaRPr lang="es-ES" sz="3200">
                <a:effectLst/>
                <a:latin typeface="Tahoma" pitchFamily="34" charset="0"/>
              </a:endParaRPr>
            </a:p>
          </p:txBody>
        </p:sp>
        <p:sp>
          <p:nvSpPr>
            <p:cNvPr id="19" name="Rectangle 18"/>
            <p:cNvSpPr>
              <a:spLocks noChangeArrowheads="1"/>
            </p:cNvSpPr>
            <p:nvPr/>
          </p:nvSpPr>
          <p:spPr bwMode="auto">
            <a:xfrm>
              <a:off x="4337" y="1064"/>
              <a:ext cx="605"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basado en los</a:t>
              </a:r>
              <a:endParaRPr lang="es-ES" sz="3200">
                <a:effectLst/>
                <a:latin typeface="Tahoma" pitchFamily="34" charset="0"/>
              </a:endParaRPr>
            </a:p>
          </p:txBody>
        </p:sp>
        <p:sp>
          <p:nvSpPr>
            <p:cNvPr id="20" name="Rectangle 19"/>
            <p:cNvSpPr>
              <a:spLocks noChangeArrowheads="1"/>
            </p:cNvSpPr>
            <p:nvPr/>
          </p:nvSpPr>
          <p:spPr bwMode="auto">
            <a:xfrm>
              <a:off x="4302" y="1143"/>
              <a:ext cx="660" cy="130"/>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requerimientos</a:t>
              </a:r>
              <a:endParaRPr lang="es-ES" sz="3200">
                <a:effectLst/>
                <a:latin typeface="Tahoma" pitchFamily="34" charset="0"/>
              </a:endParaRPr>
            </a:p>
          </p:txBody>
        </p:sp>
        <p:sp>
          <p:nvSpPr>
            <p:cNvPr id="21" name="Rectangle 20"/>
            <p:cNvSpPr>
              <a:spLocks noChangeArrowheads="1"/>
            </p:cNvSpPr>
            <p:nvPr/>
          </p:nvSpPr>
          <p:spPr bwMode="auto">
            <a:xfrm>
              <a:off x="4431" y="1226"/>
              <a:ext cx="342"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iniciales</a:t>
              </a:r>
              <a:endParaRPr lang="es-ES" sz="3200">
                <a:effectLst/>
                <a:latin typeface="Tahoma" pitchFamily="34" charset="0"/>
              </a:endParaRPr>
            </a:p>
          </p:txBody>
        </p:sp>
        <p:sp>
          <p:nvSpPr>
            <p:cNvPr id="22" name="Rectangle 21"/>
            <p:cNvSpPr>
              <a:spLocks noChangeArrowheads="1"/>
            </p:cNvSpPr>
            <p:nvPr/>
          </p:nvSpPr>
          <p:spPr bwMode="auto">
            <a:xfrm>
              <a:off x="4317" y="1507"/>
              <a:ext cx="787"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Análisis de Riesgo</a:t>
              </a:r>
              <a:endParaRPr lang="es-ES" sz="3200">
                <a:effectLst/>
                <a:latin typeface="Tahoma" pitchFamily="34" charset="0"/>
              </a:endParaRPr>
            </a:p>
          </p:txBody>
        </p:sp>
        <p:sp>
          <p:nvSpPr>
            <p:cNvPr id="23" name="Rectangle 22"/>
            <p:cNvSpPr>
              <a:spLocks noChangeArrowheads="1"/>
            </p:cNvSpPr>
            <p:nvPr/>
          </p:nvSpPr>
          <p:spPr bwMode="auto">
            <a:xfrm>
              <a:off x="4425" y="1587"/>
              <a:ext cx="558"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basado en la</a:t>
              </a:r>
              <a:endParaRPr lang="es-ES" sz="3200">
                <a:effectLst/>
                <a:latin typeface="Tahoma" pitchFamily="34" charset="0"/>
              </a:endParaRPr>
            </a:p>
          </p:txBody>
        </p:sp>
        <p:sp>
          <p:nvSpPr>
            <p:cNvPr id="24" name="Rectangle 23"/>
            <p:cNvSpPr>
              <a:spLocks noChangeArrowheads="1"/>
            </p:cNvSpPr>
            <p:nvPr/>
          </p:nvSpPr>
          <p:spPr bwMode="auto">
            <a:xfrm>
              <a:off x="4297" y="1668"/>
              <a:ext cx="844"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reacción del cliente</a:t>
              </a:r>
              <a:endParaRPr lang="es-ES" sz="3200">
                <a:effectLst/>
                <a:latin typeface="Tahoma" pitchFamily="34" charset="0"/>
              </a:endParaRPr>
            </a:p>
          </p:txBody>
        </p:sp>
        <p:sp>
          <p:nvSpPr>
            <p:cNvPr id="25" name="Rectangle 24"/>
            <p:cNvSpPr>
              <a:spLocks noChangeArrowheads="1"/>
            </p:cNvSpPr>
            <p:nvPr/>
          </p:nvSpPr>
          <p:spPr bwMode="auto">
            <a:xfrm>
              <a:off x="4176" y="2928"/>
              <a:ext cx="1093" cy="130"/>
            </a:xfrm>
            <a:prstGeom prst="rect">
              <a:avLst/>
            </a:prstGeom>
            <a:noFill/>
            <a:ln w="9525">
              <a:noFill/>
              <a:miter lim="800000"/>
              <a:headEnd/>
              <a:tailEnd/>
            </a:ln>
          </p:spPr>
          <p:txBody>
            <a:bodyPr wrap="none" lIns="0" tIns="0" rIns="0" bIns="0">
              <a:spAutoFit/>
            </a:bodyPr>
            <a:lstStyle/>
            <a:p>
              <a:pPr eaLnBrk="0" hangingPunct="0"/>
              <a:r>
                <a:rPr lang="es-ES" sz="1200" b="1">
                  <a:solidFill>
                    <a:srgbClr val="000000"/>
                  </a:solidFill>
                  <a:effectLst/>
                  <a:latin typeface="Tahoma" pitchFamily="34" charset="0"/>
                </a:rPr>
                <a:t>Hacia el Sistema Final</a:t>
              </a:r>
              <a:endParaRPr lang="es-ES" sz="3200">
                <a:effectLst/>
                <a:latin typeface="Tahoma" pitchFamily="34" charset="0"/>
              </a:endParaRPr>
            </a:p>
          </p:txBody>
        </p:sp>
        <p:sp>
          <p:nvSpPr>
            <p:cNvPr id="26" name="Rectangle 25"/>
            <p:cNvSpPr>
              <a:spLocks noChangeArrowheads="1"/>
            </p:cNvSpPr>
            <p:nvPr/>
          </p:nvSpPr>
          <p:spPr bwMode="auto">
            <a:xfrm>
              <a:off x="4069" y="3265"/>
              <a:ext cx="995"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Prototipo inicial del Sw</a:t>
              </a:r>
              <a:endParaRPr lang="es-ES" sz="3200">
                <a:effectLst/>
                <a:latin typeface="Tahoma" pitchFamily="34" charset="0"/>
              </a:endParaRPr>
            </a:p>
          </p:txBody>
        </p:sp>
        <p:sp>
          <p:nvSpPr>
            <p:cNvPr id="27" name="Rectangle 26"/>
            <p:cNvSpPr>
              <a:spLocks noChangeArrowheads="1"/>
            </p:cNvSpPr>
            <p:nvPr/>
          </p:nvSpPr>
          <p:spPr bwMode="auto">
            <a:xfrm>
              <a:off x="3900" y="3459"/>
              <a:ext cx="1222" cy="130"/>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Prototipo del siguiente nivel</a:t>
              </a:r>
              <a:endParaRPr lang="es-ES" sz="3200">
                <a:effectLst/>
                <a:latin typeface="Tahoma" pitchFamily="34" charset="0"/>
              </a:endParaRPr>
            </a:p>
          </p:txBody>
        </p:sp>
        <p:sp>
          <p:nvSpPr>
            <p:cNvPr id="28" name="Rectangle 27"/>
            <p:cNvSpPr>
              <a:spLocks noChangeArrowheads="1"/>
            </p:cNvSpPr>
            <p:nvPr/>
          </p:nvSpPr>
          <p:spPr bwMode="auto">
            <a:xfrm>
              <a:off x="3949" y="3640"/>
              <a:ext cx="958" cy="130"/>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Sistema de Ingeniería</a:t>
              </a:r>
              <a:endParaRPr lang="es-ES" sz="3200">
                <a:effectLst/>
                <a:latin typeface="Tahoma" pitchFamily="34" charset="0"/>
              </a:endParaRPr>
            </a:p>
          </p:txBody>
        </p:sp>
        <p:sp>
          <p:nvSpPr>
            <p:cNvPr id="29" name="Rectangle 28"/>
            <p:cNvSpPr>
              <a:spLocks noChangeArrowheads="1"/>
            </p:cNvSpPr>
            <p:nvPr/>
          </p:nvSpPr>
          <p:spPr bwMode="auto">
            <a:xfrm>
              <a:off x="3278" y="3870"/>
              <a:ext cx="634" cy="129"/>
            </a:xfrm>
            <a:prstGeom prst="rect">
              <a:avLst/>
            </a:prstGeom>
            <a:noFill/>
            <a:ln w="9525">
              <a:noFill/>
              <a:miter lim="800000"/>
              <a:headEnd/>
              <a:tailEnd/>
            </a:ln>
          </p:spPr>
          <p:txBody>
            <a:bodyPr wrap="none" lIns="0" tIns="0" rIns="0" bIns="0">
              <a:spAutoFit/>
            </a:bodyPr>
            <a:lstStyle/>
            <a:p>
              <a:pPr eaLnBrk="0" hangingPunct="0"/>
              <a:r>
                <a:rPr lang="es-ES" sz="1200" b="1">
                  <a:solidFill>
                    <a:srgbClr val="000000"/>
                  </a:solidFill>
                  <a:effectLst/>
                  <a:latin typeface="Tahoma" pitchFamily="34" charset="0"/>
                </a:rPr>
                <a:t>INGENIERÍA</a:t>
              </a:r>
              <a:endParaRPr lang="es-ES" sz="3200">
                <a:effectLst/>
                <a:latin typeface="Tahoma" pitchFamily="34" charset="0"/>
              </a:endParaRPr>
            </a:p>
          </p:txBody>
        </p:sp>
        <p:sp>
          <p:nvSpPr>
            <p:cNvPr id="30" name="Rectangle 29"/>
            <p:cNvSpPr>
              <a:spLocks noChangeArrowheads="1"/>
            </p:cNvSpPr>
            <p:nvPr/>
          </p:nvSpPr>
          <p:spPr bwMode="auto">
            <a:xfrm>
              <a:off x="1146" y="3828"/>
              <a:ext cx="887" cy="129"/>
            </a:xfrm>
            <a:prstGeom prst="rect">
              <a:avLst/>
            </a:prstGeom>
            <a:noFill/>
            <a:ln w="9525">
              <a:noFill/>
              <a:miter lim="800000"/>
              <a:headEnd/>
              <a:tailEnd/>
            </a:ln>
          </p:spPr>
          <p:txBody>
            <a:bodyPr wrap="none" lIns="0" tIns="0" rIns="0" bIns="0">
              <a:spAutoFit/>
            </a:bodyPr>
            <a:lstStyle/>
            <a:p>
              <a:pPr eaLnBrk="0" hangingPunct="0"/>
              <a:r>
                <a:rPr lang="es-ES" sz="1200" b="1">
                  <a:solidFill>
                    <a:srgbClr val="000000"/>
                  </a:solidFill>
                  <a:effectLst/>
                  <a:latin typeface="Tahoma" pitchFamily="34" charset="0"/>
                </a:rPr>
                <a:t>EVALUACIÓN DEL</a:t>
              </a:r>
              <a:endParaRPr lang="es-ES" sz="3200">
                <a:effectLst/>
                <a:latin typeface="Tahoma" pitchFamily="34" charset="0"/>
              </a:endParaRPr>
            </a:p>
          </p:txBody>
        </p:sp>
        <p:sp>
          <p:nvSpPr>
            <p:cNvPr id="31" name="Rectangle 30"/>
            <p:cNvSpPr>
              <a:spLocks noChangeArrowheads="1"/>
            </p:cNvSpPr>
            <p:nvPr/>
          </p:nvSpPr>
          <p:spPr bwMode="auto">
            <a:xfrm>
              <a:off x="1350" y="3907"/>
              <a:ext cx="432" cy="129"/>
            </a:xfrm>
            <a:prstGeom prst="rect">
              <a:avLst/>
            </a:prstGeom>
            <a:noFill/>
            <a:ln w="9525">
              <a:noFill/>
              <a:miter lim="800000"/>
              <a:headEnd/>
              <a:tailEnd/>
            </a:ln>
          </p:spPr>
          <p:txBody>
            <a:bodyPr wrap="none" lIns="0" tIns="0" rIns="0" bIns="0">
              <a:spAutoFit/>
            </a:bodyPr>
            <a:lstStyle/>
            <a:p>
              <a:pPr eaLnBrk="0" hangingPunct="0"/>
              <a:r>
                <a:rPr lang="es-ES" sz="1200" b="1">
                  <a:solidFill>
                    <a:srgbClr val="000000"/>
                  </a:solidFill>
                  <a:effectLst/>
                  <a:latin typeface="Tahoma" pitchFamily="34" charset="0"/>
                </a:rPr>
                <a:t>CLIENTE</a:t>
              </a:r>
              <a:endParaRPr lang="es-ES" sz="3200">
                <a:effectLst/>
                <a:latin typeface="Tahoma" pitchFamily="34" charset="0"/>
              </a:endParaRPr>
            </a:p>
          </p:txBody>
        </p:sp>
        <p:sp>
          <p:nvSpPr>
            <p:cNvPr id="33" name="Rectangle 31"/>
            <p:cNvSpPr>
              <a:spLocks noChangeArrowheads="1"/>
            </p:cNvSpPr>
            <p:nvPr/>
          </p:nvSpPr>
          <p:spPr bwMode="auto">
            <a:xfrm>
              <a:off x="1255" y="969"/>
              <a:ext cx="823" cy="129"/>
            </a:xfrm>
            <a:prstGeom prst="rect">
              <a:avLst/>
            </a:prstGeom>
            <a:noFill/>
            <a:ln w="9525">
              <a:noFill/>
              <a:miter lim="800000"/>
              <a:headEnd/>
              <a:tailEnd/>
            </a:ln>
          </p:spPr>
          <p:txBody>
            <a:bodyPr wrap="none" lIns="0" tIns="0" rIns="0" bIns="0">
              <a:spAutoFit/>
            </a:bodyPr>
            <a:lstStyle/>
            <a:p>
              <a:pPr eaLnBrk="0" hangingPunct="0"/>
              <a:r>
                <a:rPr lang="es-ES" sz="1200" b="1">
                  <a:solidFill>
                    <a:srgbClr val="000000"/>
                  </a:solidFill>
                  <a:effectLst/>
                  <a:latin typeface="Tahoma" pitchFamily="34" charset="0"/>
                </a:rPr>
                <a:t>PLANIFICACIÓN</a:t>
              </a:r>
              <a:endParaRPr lang="es-ES" sz="3200">
                <a:effectLst/>
                <a:latin typeface="Tahoma" pitchFamily="34" charset="0"/>
              </a:endParaRPr>
            </a:p>
          </p:txBody>
        </p:sp>
        <p:sp>
          <p:nvSpPr>
            <p:cNvPr id="34" name="Rectangle 32"/>
            <p:cNvSpPr>
              <a:spLocks noChangeArrowheads="1"/>
            </p:cNvSpPr>
            <p:nvPr/>
          </p:nvSpPr>
          <p:spPr bwMode="auto">
            <a:xfrm>
              <a:off x="3095" y="969"/>
              <a:ext cx="1084" cy="129"/>
            </a:xfrm>
            <a:prstGeom prst="rect">
              <a:avLst/>
            </a:prstGeom>
            <a:noFill/>
            <a:ln w="9525">
              <a:noFill/>
              <a:miter lim="800000"/>
              <a:headEnd/>
              <a:tailEnd/>
            </a:ln>
          </p:spPr>
          <p:txBody>
            <a:bodyPr wrap="none" lIns="0" tIns="0" rIns="0" bIns="0">
              <a:spAutoFit/>
            </a:bodyPr>
            <a:lstStyle/>
            <a:p>
              <a:pPr eaLnBrk="0" hangingPunct="0"/>
              <a:r>
                <a:rPr lang="es-ES" sz="1200" b="1">
                  <a:solidFill>
                    <a:srgbClr val="000000"/>
                  </a:solidFill>
                  <a:effectLst/>
                  <a:latin typeface="Tahoma" pitchFamily="34" charset="0"/>
                </a:rPr>
                <a:t>ANÁLISIS DE RIESGO</a:t>
              </a:r>
              <a:endParaRPr lang="es-ES" sz="3200">
                <a:effectLst/>
                <a:latin typeface="Tahoma" pitchFamily="34" charset="0"/>
              </a:endParaRPr>
            </a:p>
          </p:txBody>
        </p:sp>
        <p:sp>
          <p:nvSpPr>
            <p:cNvPr id="35" name="Rectangle 33"/>
            <p:cNvSpPr>
              <a:spLocks noChangeArrowheads="1"/>
            </p:cNvSpPr>
            <p:nvPr/>
          </p:nvSpPr>
          <p:spPr bwMode="auto">
            <a:xfrm>
              <a:off x="4502" y="2326"/>
              <a:ext cx="505"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Decisión de</a:t>
              </a:r>
              <a:endParaRPr lang="es-ES" sz="3200">
                <a:effectLst/>
                <a:latin typeface="Tahoma" pitchFamily="34" charset="0"/>
              </a:endParaRPr>
            </a:p>
          </p:txBody>
        </p:sp>
        <p:sp>
          <p:nvSpPr>
            <p:cNvPr id="36" name="Rectangle 34"/>
            <p:cNvSpPr>
              <a:spLocks noChangeArrowheads="1"/>
            </p:cNvSpPr>
            <p:nvPr/>
          </p:nvSpPr>
          <p:spPr bwMode="auto">
            <a:xfrm>
              <a:off x="4388" y="2406"/>
              <a:ext cx="746" cy="130"/>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Seguir/No Seguir</a:t>
              </a:r>
              <a:endParaRPr lang="es-ES" sz="3200">
                <a:effectLst/>
                <a:latin typeface="Tahoma" pitchFamily="34" charset="0"/>
              </a:endParaRPr>
            </a:p>
          </p:txBody>
        </p:sp>
        <p:sp>
          <p:nvSpPr>
            <p:cNvPr id="37" name="Rectangle 35"/>
            <p:cNvSpPr>
              <a:spLocks noChangeArrowheads="1"/>
            </p:cNvSpPr>
            <p:nvPr/>
          </p:nvSpPr>
          <p:spPr bwMode="auto">
            <a:xfrm>
              <a:off x="2325" y="4060"/>
              <a:ext cx="661" cy="129"/>
            </a:xfrm>
            <a:prstGeom prst="rect">
              <a:avLst/>
            </a:prstGeom>
            <a:noFill/>
            <a:ln w="9525">
              <a:noFill/>
              <a:miter lim="800000"/>
              <a:headEnd/>
              <a:tailEnd/>
            </a:ln>
          </p:spPr>
          <p:txBody>
            <a:bodyPr wrap="none" lIns="0" tIns="0" rIns="0" bIns="0">
              <a:spAutoFit/>
            </a:bodyPr>
            <a:lstStyle/>
            <a:p>
              <a:pPr eaLnBrk="0" hangingPunct="0"/>
              <a:r>
                <a:rPr lang="es-ES" sz="1200">
                  <a:solidFill>
                    <a:srgbClr val="000000"/>
                  </a:solidFill>
                  <a:effectLst/>
                  <a:latin typeface="Tahoma" pitchFamily="34" charset="0"/>
                </a:rPr>
                <a:t>Boehm  (1986)</a:t>
              </a:r>
              <a:endParaRPr lang="es-ES" sz="3200">
                <a:effectLst/>
                <a:latin typeface="Tahoma" pitchFamily="34" charset="0"/>
              </a:endParaRPr>
            </a:p>
          </p:txBody>
        </p:sp>
        <p:sp>
          <p:nvSpPr>
            <p:cNvPr id="38" name="Line 36"/>
            <p:cNvSpPr>
              <a:spLocks noChangeShapeType="1"/>
            </p:cNvSpPr>
            <p:nvPr/>
          </p:nvSpPr>
          <p:spPr bwMode="auto">
            <a:xfrm>
              <a:off x="2578" y="950"/>
              <a:ext cx="1" cy="2838"/>
            </a:xfrm>
            <a:prstGeom prst="line">
              <a:avLst/>
            </a:prstGeom>
            <a:noFill/>
            <a:ln w="0">
              <a:solidFill>
                <a:srgbClr val="000000"/>
              </a:solidFill>
              <a:prstDash val="sysDash"/>
              <a:round/>
              <a:headEnd/>
              <a:tailEnd/>
            </a:ln>
          </p:spPr>
          <p:txBody>
            <a:bodyPr/>
            <a:lstStyle/>
            <a:p>
              <a:endParaRPr lang="es-ES"/>
            </a:p>
          </p:txBody>
        </p:sp>
        <p:sp>
          <p:nvSpPr>
            <p:cNvPr id="39" name="Line 37"/>
            <p:cNvSpPr>
              <a:spLocks noChangeShapeType="1"/>
            </p:cNvSpPr>
            <p:nvPr/>
          </p:nvSpPr>
          <p:spPr bwMode="auto">
            <a:xfrm>
              <a:off x="1012" y="2459"/>
              <a:ext cx="3280" cy="1"/>
            </a:xfrm>
            <a:prstGeom prst="line">
              <a:avLst/>
            </a:prstGeom>
            <a:noFill/>
            <a:ln w="0">
              <a:solidFill>
                <a:srgbClr val="000000"/>
              </a:solidFill>
              <a:prstDash val="sysDash"/>
              <a:round/>
              <a:headEnd/>
              <a:tailEnd/>
            </a:ln>
          </p:spPr>
          <p:txBody>
            <a:bodyPr/>
            <a:lstStyle/>
            <a:p>
              <a:endParaRPr lang="es-ES"/>
            </a:p>
          </p:txBody>
        </p:sp>
        <p:sp>
          <p:nvSpPr>
            <p:cNvPr id="40" name="Line 38"/>
            <p:cNvSpPr>
              <a:spLocks noChangeShapeType="1"/>
            </p:cNvSpPr>
            <p:nvPr/>
          </p:nvSpPr>
          <p:spPr bwMode="auto">
            <a:xfrm flipH="1">
              <a:off x="3919" y="2459"/>
              <a:ext cx="75" cy="484"/>
            </a:xfrm>
            <a:prstGeom prst="line">
              <a:avLst/>
            </a:prstGeom>
            <a:noFill/>
            <a:ln w="30163">
              <a:solidFill>
                <a:srgbClr val="000000"/>
              </a:solidFill>
              <a:round/>
              <a:headEnd/>
              <a:tailEnd/>
            </a:ln>
          </p:spPr>
          <p:txBody>
            <a:bodyPr/>
            <a:lstStyle/>
            <a:p>
              <a:endParaRPr lang="es-ES"/>
            </a:p>
          </p:txBody>
        </p:sp>
        <p:sp>
          <p:nvSpPr>
            <p:cNvPr id="41" name="Freeform 39"/>
            <p:cNvSpPr>
              <a:spLocks/>
            </p:cNvSpPr>
            <p:nvPr/>
          </p:nvSpPr>
          <p:spPr bwMode="auto">
            <a:xfrm>
              <a:off x="2578" y="1372"/>
              <a:ext cx="1416" cy="1087"/>
            </a:xfrm>
            <a:custGeom>
              <a:avLst/>
              <a:gdLst/>
              <a:ahLst/>
              <a:cxnLst>
                <a:cxn ang="0">
                  <a:pos x="0" y="0"/>
                </a:cxn>
                <a:cxn ang="0">
                  <a:pos x="154" y="4"/>
                </a:cxn>
                <a:cxn ang="0">
                  <a:pos x="289" y="7"/>
                </a:cxn>
                <a:cxn ang="0">
                  <a:pos x="419" y="18"/>
                </a:cxn>
                <a:cxn ang="0">
                  <a:pos x="539" y="36"/>
                </a:cxn>
                <a:cxn ang="0">
                  <a:pos x="650" y="57"/>
                </a:cxn>
                <a:cxn ang="0">
                  <a:pos x="751" y="81"/>
                </a:cxn>
                <a:cxn ang="0">
                  <a:pos x="848" y="109"/>
                </a:cxn>
                <a:cxn ang="0">
                  <a:pos x="929" y="148"/>
                </a:cxn>
                <a:cxn ang="0">
                  <a:pos x="1006" y="190"/>
                </a:cxn>
                <a:cxn ang="0">
                  <a:pos x="1074" y="236"/>
                </a:cxn>
                <a:cxn ang="0">
                  <a:pos x="1136" y="289"/>
                </a:cxn>
                <a:cxn ang="0">
                  <a:pos x="1189" y="348"/>
                </a:cxn>
                <a:cxn ang="0">
                  <a:pos x="1233" y="415"/>
                </a:cxn>
                <a:cxn ang="0">
                  <a:pos x="1271" y="489"/>
                </a:cxn>
                <a:cxn ang="0">
                  <a:pos x="1305" y="566"/>
                </a:cxn>
                <a:cxn ang="0">
                  <a:pos x="1329" y="654"/>
                </a:cxn>
                <a:cxn ang="0">
                  <a:pos x="1348" y="749"/>
                </a:cxn>
                <a:cxn ang="0">
                  <a:pos x="1363" y="851"/>
                </a:cxn>
                <a:cxn ang="0">
                  <a:pos x="1372" y="960"/>
                </a:cxn>
                <a:cxn ang="0">
                  <a:pos x="1372" y="1076"/>
                </a:cxn>
                <a:cxn ang="0">
                  <a:pos x="1372" y="1139"/>
                </a:cxn>
              </a:cxnLst>
              <a:rect l="0" t="0" r="r" b="b"/>
              <a:pathLst>
                <a:path w="1372" h="1139">
                  <a:moveTo>
                    <a:pt x="0" y="0"/>
                  </a:moveTo>
                  <a:lnTo>
                    <a:pt x="154" y="4"/>
                  </a:lnTo>
                  <a:lnTo>
                    <a:pt x="289" y="7"/>
                  </a:lnTo>
                  <a:lnTo>
                    <a:pt x="419" y="18"/>
                  </a:lnTo>
                  <a:lnTo>
                    <a:pt x="539" y="36"/>
                  </a:lnTo>
                  <a:lnTo>
                    <a:pt x="650" y="57"/>
                  </a:lnTo>
                  <a:lnTo>
                    <a:pt x="751" y="81"/>
                  </a:lnTo>
                  <a:lnTo>
                    <a:pt x="848" y="109"/>
                  </a:lnTo>
                  <a:lnTo>
                    <a:pt x="929" y="148"/>
                  </a:lnTo>
                  <a:lnTo>
                    <a:pt x="1006" y="190"/>
                  </a:lnTo>
                  <a:lnTo>
                    <a:pt x="1074" y="236"/>
                  </a:lnTo>
                  <a:lnTo>
                    <a:pt x="1136" y="289"/>
                  </a:lnTo>
                  <a:lnTo>
                    <a:pt x="1189" y="348"/>
                  </a:lnTo>
                  <a:lnTo>
                    <a:pt x="1233" y="415"/>
                  </a:lnTo>
                  <a:lnTo>
                    <a:pt x="1271" y="489"/>
                  </a:lnTo>
                  <a:lnTo>
                    <a:pt x="1305" y="566"/>
                  </a:lnTo>
                  <a:lnTo>
                    <a:pt x="1329" y="654"/>
                  </a:lnTo>
                  <a:lnTo>
                    <a:pt x="1348" y="749"/>
                  </a:lnTo>
                  <a:lnTo>
                    <a:pt x="1363" y="851"/>
                  </a:lnTo>
                  <a:lnTo>
                    <a:pt x="1372" y="960"/>
                  </a:lnTo>
                  <a:lnTo>
                    <a:pt x="1372" y="1076"/>
                  </a:lnTo>
                  <a:lnTo>
                    <a:pt x="1372" y="1139"/>
                  </a:lnTo>
                </a:path>
              </a:pathLst>
            </a:custGeom>
            <a:noFill/>
            <a:ln w="30163">
              <a:solidFill>
                <a:srgbClr val="000000"/>
              </a:solidFill>
              <a:prstDash val="solid"/>
              <a:round/>
              <a:headEnd/>
              <a:tailEnd/>
            </a:ln>
          </p:spPr>
          <p:txBody>
            <a:bodyPr/>
            <a:lstStyle/>
            <a:p>
              <a:endParaRPr lang="es-ES"/>
            </a:p>
          </p:txBody>
        </p:sp>
        <p:sp>
          <p:nvSpPr>
            <p:cNvPr id="42" name="Freeform 40"/>
            <p:cNvSpPr>
              <a:spLocks/>
            </p:cNvSpPr>
            <p:nvPr/>
          </p:nvSpPr>
          <p:spPr bwMode="auto">
            <a:xfrm>
              <a:off x="1310" y="1372"/>
              <a:ext cx="1268" cy="1087"/>
            </a:xfrm>
            <a:custGeom>
              <a:avLst/>
              <a:gdLst/>
              <a:ahLst/>
              <a:cxnLst>
                <a:cxn ang="0">
                  <a:pos x="0" y="1139"/>
                </a:cxn>
                <a:cxn ang="0">
                  <a:pos x="5" y="1016"/>
                </a:cxn>
                <a:cxn ang="0">
                  <a:pos x="10" y="900"/>
                </a:cxn>
                <a:cxn ang="0">
                  <a:pos x="24" y="791"/>
                </a:cxn>
                <a:cxn ang="0">
                  <a:pos x="39" y="693"/>
                </a:cxn>
                <a:cxn ang="0">
                  <a:pos x="63" y="601"/>
                </a:cxn>
                <a:cxn ang="0">
                  <a:pos x="87" y="517"/>
                </a:cxn>
                <a:cxn ang="0">
                  <a:pos x="121" y="440"/>
                </a:cxn>
                <a:cxn ang="0">
                  <a:pos x="159" y="369"/>
                </a:cxn>
                <a:cxn ang="0">
                  <a:pos x="203" y="306"/>
                </a:cxn>
                <a:cxn ang="0">
                  <a:pos x="256" y="250"/>
                </a:cxn>
                <a:cxn ang="0">
                  <a:pos x="313" y="201"/>
                </a:cxn>
                <a:cxn ang="0">
                  <a:pos x="376" y="155"/>
                </a:cxn>
                <a:cxn ang="0">
                  <a:pos x="448" y="116"/>
                </a:cxn>
                <a:cxn ang="0">
                  <a:pos x="525" y="85"/>
                </a:cxn>
                <a:cxn ang="0">
                  <a:pos x="612" y="60"/>
                </a:cxn>
                <a:cxn ang="0">
                  <a:pos x="703" y="36"/>
                </a:cxn>
                <a:cxn ang="0">
                  <a:pos x="804" y="22"/>
                </a:cxn>
                <a:cxn ang="0">
                  <a:pos x="915" y="11"/>
                </a:cxn>
                <a:cxn ang="0">
                  <a:pos x="1031" y="4"/>
                </a:cxn>
                <a:cxn ang="0">
                  <a:pos x="1156" y="0"/>
                </a:cxn>
                <a:cxn ang="0">
                  <a:pos x="1228" y="0"/>
                </a:cxn>
              </a:cxnLst>
              <a:rect l="0" t="0" r="r" b="b"/>
              <a:pathLst>
                <a:path w="1228" h="1139">
                  <a:moveTo>
                    <a:pt x="0" y="1139"/>
                  </a:moveTo>
                  <a:lnTo>
                    <a:pt x="5" y="1016"/>
                  </a:lnTo>
                  <a:lnTo>
                    <a:pt x="10" y="900"/>
                  </a:lnTo>
                  <a:lnTo>
                    <a:pt x="24" y="791"/>
                  </a:lnTo>
                  <a:lnTo>
                    <a:pt x="39" y="693"/>
                  </a:lnTo>
                  <a:lnTo>
                    <a:pt x="63" y="601"/>
                  </a:lnTo>
                  <a:lnTo>
                    <a:pt x="87" y="517"/>
                  </a:lnTo>
                  <a:lnTo>
                    <a:pt x="121" y="440"/>
                  </a:lnTo>
                  <a:lnTo>
                    <a:pt x="159" y="369"/>
                  </a:lnTo>
                  <a:lnTo>
                    <a:pt x="203" y="306"/>
                  </a:lnTo>
                  <a:lnTo>
                    <a:pt x="256" y="250"/>
                  </a:lnTo>
                  <a:lnTo>
                    <a:pt x="313" y="201"/>
                  </a:lnTo>
                  <a:lnTo>
                    <a:pt x="376" y="155"/>
                  </a:lnTo>
                  <a:lnTo>
                    <a:pt x="448" y="116"/>
                  </a:lnTo>
                  <a:lnTo>
                    <a:pt x="525" y="85"/>
                  </a:lnTo>
                  <a:lnTo>
                    <a:pt x="612" y="60"/>
                  </a:lnTo>
                  <a:lnTo>
                    <a:pt x="703" y="36"/>
                  </a:lnTo>
                  <a:lnTo>
                    <a:pt x="804" y="22"/>
                  </a:lnTo>
                  <a:lnTo>
                    <a:pt x="915" y="11"/>
                  </a:lnTo>
                  <a:lnTo>
                    <a:pt x="1031" y="4"/>
                  </a:lnTo>
                  <a:lnTo>
                    <a:pt x="1156" y="0"/>
                  </a:lnTo>
                  <a:lnTo>
                    <a:pt x="1228" y="0"/>
                  </a:lnTo>
                </a:path>
              </a:pathLst>
            </a:custGeom>
            <a:noFill/>
            <a:ln w="30163">
              <a:solidFill>
                <a:srgbClr val="000000"/>
              </a:solidFill>
              <a:prstDash val="solid"/>
              <a:round/>
              <a:headEnd/>
              <a:tailEnd/>
            </a:ln>
          </p:spPr>
          <p:txBody>
            <a:bodyPr/>
            <a:lstStyle/>
            <a:p>
              <a:endParaRPr lang="es-ES"/>
            </a:p>
          </p:txBody>
        </p:sp>
        <p:sp>
          <p:nvSpPr>
            <p:cNvPr id="43" name="Freeform 41"/>
            <p:cNvSpPr>
              <a:spLocks/>
            </p:cNvSpPr>
            <p:nvPr/>
          </p:nvSpPr>
          <p:spPr bwMode="auto">
            <a:xfrm>
              <a:off x="1310" y="2459"/>
              <a:ext cx="1268" cy="906"/>
            </a:xfrm>
            <a:custGeom>
              <a:avLst/>
              <a:gdLst/>
              <a:ahLst/>
              <a:cxnLst>
                <a:cxn ang="0">
                  <a:pos x="1228" y="949"/>
                </a:cxn>
                <a:cxn ang="0">
                  <a:pos x="1098" y="949"/>
                </a:cxn>
                <a:cxn ang="0">
                  <a:pos x="973" y="942"/>
                </a:cxn>
                <a:cxn ang="0">
                  <a:pos x="857" y="935"/>
                </a:cxn>
                <a:cxn ang="0">
                  <a:pos x="752" y="921"/>
                </a:cxn>
                <a:cxn ang="0">
                  <a:pos x="650" y="904"/>
                </a:cxn>
                <a:cxn ang="0">
                  <a:pos x="559" y="882"/>
                </a:cxn>
                <a:cxn ang="0">
                  <a:pos x="477" y="858"/>
                </a:cxn>
                <a:cxn ang="0">
                  <a:pos x="400" y="830"/>
                </a:cxn>
                <a:cxn ang="0">
                  <a:pos x="333" y="795"/>
                </a:cxn>
                <a:cxn ang="0">
                  <a:pos x="270" y="756"/>
                </a:cxn>
                <a:cxn ang="0">
                  <a:pos x="217" y="710"/>
                </a:cxn>
                <a:cxn ang="0">
                  <a:pos x="169" y="661"/>
                </a:cxn>
                <a:cxn ang="0">
                  <a:pos x="130" y="608"/>
                </a:cxn>
                <a:cxn ang="0">
                  <a:pos x="92" y="549"/>
                </a:cxn>
                <a:cxn ang="0">
                  <a:pos x="63" y="482"/>
                </a:cxn>
                <a:cxn ang="0">
                  <a:pos x="44" y="411"/>
                </a:cxn>
                <a:cxn ang="0">
                  <a:pos x="24" y="334"/>
                </a:cxn>
                <a:cxn ang="0">
                  <a:pos x="15" y="250"/>
                </a:cxn>
                <a:cxn ang="0">
                  <a:pos x="5" y="158"/>
                </a:cxn>
                <a:cxn ang="0">
                  <a:pos x="0" y="64"/>
                </a:cxn>
                <a:cxn ang="0">
                  <a:pos x="0" y="0"/>
                </a:cxn>
              </a:cxnLst>
              <a:rect l="0" t="0" r="r" b="b"/>
              <a:pathLst>
                <a:path w="1228" h="949">
                  <a:moveTo>
                    <a:pt x="1228" y="949"/>
                  </a:moveTo>
                  <a:lnTo>
                    <a:pt x="1098" y="949"/>
                  </a:lnTo>
                  <a:lnTo>
                    <a:pt x="973" y="942"/>
                  </a:lnTo>
                  <a:lnTo>
                    <a:pt x="857" y="935"/>
                  </a:lnTo>
                  <a:lnTo>
                    <a:pt x="752" y="921"/>
                  </a:lnTo>
                  <a:lnTo>
                    <a:pt x="650" y="904"/>
                  </a:lnTo>
                  <a:lnTo>
                    <a:pt x="559" y="882"/>
                  </a:lnTo>
                  <a:lnTo>
                    <a:pt x="477" y="858"/>
                  </a:lnTo>
                  <a:lnTo>
                    <a:pt x="400" y="830"/>
                  </a:lnTo>
                  <a:lnTo>
                    <a:pt x="333" y="795"/>
                  </a:lnTo>
                  <a:lnTo>
                    <a:pt x="270" y="756"/>
                  </a:lnTo>
                  <a:lnTo>
                    <a:pt x="217" y="710"/>
                  </a:lnTo>
                  <a:lnTo>
                    <a:pt x="169" y="661"/>
                  </a:lnTo>
                  <a:lnTo>
                    <a:pt x="130" y="608"/>
                  </a:lnTo>
                  <a:lnTo>
                    <a:pt x="92" y="549"/>
                  </a:lnTo>
                  <a:lnTo>
                    <a:pt x="63" y="482"/>
                  </a:lnTo>
                  <a:lnTo>
                    <a:pt x="44" y="411"/>
                  </a:lnTo>
                  <a:lnTo>
                    <a:pt x="24" y="334"/>
                  </a:lnTo>
                  <a:lnTo>
                    <a:pt x="15" y="250"/>
                  </a:lnTo>
                  <a:lnTo>
                    <a:pt x="5" y="158"/>
                  </a:lnTo>
                  <a:lnTo>
                    <a:pt x="0" y="64"/>
                  </a:lnTo>
                  <a:lnTo>
                    <a:pt x="0" y="0"/>
                  </a:lnTo>
                </a:path>
              </a:pathLst>
            </a:custGeom>
            <a:noFill/>
            <a:ln w="30163">
              <a:solidFill>
                <a:srgbClr val="000000"/>
              </a:solidFill>
              <a:prstDash val="solid"/>
              <a:round/>
              <a:headEnd/>
              <a:tailEnd/>
            </a:ln>
          </p:spPr>
          <p:txBody>
            <a:bodyPr/>
            <a:lstStyle/>
            <a:p>
              <a:endParaRPr lang="es-ES"/>
            </a:p>
          </p:txBody>
        </p:sp>
        <p:sp>
          <p:nvSpPr>
            <p:cNvPr id="44" name="Freeform 42"/>
            <p:cNvSpPr>
              <a:spLocks/>
            </p:cNvSpPr>
            <p:nvPr/>
          </p:nvSpPr>
          <p:spPr bwMode="auto">
            <a:xfrm>
              <a:off x="2578" y="2459"/>
              <a:ext cx="1043" cy="906"/>
            </a:xfrm>
            <a:custGeom>
              <a:avLst/>
              <a:gdLst/>
              <a:ahLst/>
              <a:cxnLst>
                <a:cxn ang="0">
                  <a:pos x="1011" y="0"/>
                </a:cxn>
                <a:cxn ang="0">
                  <a:pos x="1011" y="102"/>
                </a:cxn>
                <a:cxn ang="0">
                  <a:pos x="1006" y="201"/>
                </a:cxn>
                <a:cxn ang="0">
                  <a:pos x="997" y="288"/>
                </a:cxn>
                <a:cxn ang="0">
                  <a:pos x="982" y="373"/>
                </a:cxn>
                <a:cxn ang="0">
                  <a:pos x="968" y="450"/>
                </a:cxn>
                <a:cxn ang="0">
                  <a:pos x="944" y="520"/>
                </a:cxn>
                <a:cxn ang="0">
                  <a:pos x="920" y="584"/>
                </a:cxn>
                <a:cxn ang="0">
                  <a:pos x="886" y="643"/>
                </a:cxn>
                <a:cxn ang="0">
                  <a:pos x="852" y="696"/>
                </a:cxn>
                <a:cxn ang="0">
                  <a:pos x="809" y="742"/>
                </a:cxn>
                <a:cxn ang="0">
                  <a:pos x="761" y="784"/>
                </a:cxn>
                <a:cxn ang="0">
                  <a:pos x="708" y="819"/>
                </a:cxn>
                <a:cxn ang="0">
                  <a:pos x="650" y="851"/>
                </a:cxn>
                <a:cxn ang="0">
                  <a:pos x="588" y="879"/>
                </a:cxn>
                <a:cxn ang="0">
                  <a:pos x="520" y="900"/>
                </a:cxn>
                <a:cxn ang="0">
                  <a:pos x="443" y="918"/>
                </a:cxn>
                <a:cxn ang="0">
                  <a:pos x="361" y="932"/>
                </a:cxn>
                <a:cxn ang="0">
                  <a:pos x="275" y="942"/>
                </a:cxn>
                <a:cxn ang="0">
                  <a:pos x="178" y="949"/>
                </a:cxn>
                <a:cxn ang="0">
                  <a:pos x="72" y="949"/>
                </a:cxn>
                <a:cxn ang="0">
                  <a:pos x="0" y="949"/>
                </a:cxn>
              </a:cxnLst>
              <a:rect l="0" t="0" r="r" b="b"/>
              <a:pathLst>
                <a:path w="1011" h="949">
                  <a:moveTo>
                    <a:pt x="1011" y="0"/>
                  </a:moveTo>
                  <a:lnTo>
                    <a:pt x="1011" y="102"/>
                  </a:lnTo>
                  <a:lnTo>
                    <a:pt x="1006" y="201"/>
                  </a:lnTo>
                  <a:lnTo>
                    <a:pt x="997" y="288"/>
                  </a:lnTo>
                  <a:lnTo>
                    <a:pt x="982" y="373"/>
                  </a:lnTo>
                  <a:lnTo>
                    <a:pt x="968" y="450"/>
                  </a:lnTo>
                  <a:lnTo>
                    <a:pt x="944" y="520"/>
                  </a:lnTo>
                  <a:lnTo>
                    <a:pt x="920" y="584"/>
                  </a:lnTo>
                  <a:lnTo>
                    <a:pt x="886" y="643"/>
                  </a:lnTo>
                  <a:lnTo>
                    <a:pt x="852" y="696"/>
                  </a:lnTo>
                  <a:lnTo>
                    <a:pt x="809" y="742"/>
                  </a:lnTo>
                  <a:lnTo>
                    <a:pt x="761" y="784"/>
                  </a:lnTo>
                  <a:lnTo>
                    <a:pt x="708" y="819"/>
                  </a:lnTo>
                  <a:lnTo>
                    <a:pt x="650" y="851"/>
                  </a:lnTo>
                  <a:lnTo>
                    <a:pt x="588" y="879"/>
                  </a:lnTo>
                  <a:lnTo>
                    <a:pt x="520" y="900"/>
                  </a:lnTo>
                  <a:lnTo>
                    <a:pt x="443" y="918"/>
                  </a:lnTo>
                  <a:lnTo>
                    <a:pt x="361" y="932"/>
                  </a:lnTo>
                  <a:lnTo>
                    <a:pt x="275" y="942"/>
                  </a:lnTo>
                  <a:lnTo>
                    <a:pt x="178" y="949"/>
                  </a:lnTo>
                  <a:lnTo>
                    <a:pt x="72" y="949"/>
                  </a:lnTo>
                  <a:lnTo>
                    <a:pt x="0" y="949"/>
                  </a:lnTo>
                </a:path>
              </a:pathLst>
            </a:custGeom>
            <a:noFill/>
            <a:ln w="30163">
              <a:solidFill>
                <a:srgbClr val="000000"/>
              </a:solidFill>
              <a:prstDash val="solid"/>
              <a:round/>
              <a:headEnd/>
              <a:tailEnd/>
            </a:ln>
          </p:spPr>
          <p:txBody>
            <a:bodyPr/>
            <a:lstStyle/>
            <a:p>
              <a:endParaRPr lang="es-ES"/>
            </a:p>
          </p:txBody>
        </p:sp>
        <p:sp>
          <p:nvSpPr>
            <p:cNvPr id="45" name="Freeform 43"/>
            <p:cNvSpPr>
              <a:spLocks/>
            </p:cNvSpPr>
            <p:nvPr/>
          </p:nvSpPr>
          <p:spPr bwMode="auto">
            <a:xfrm>
              <a:off x="2578" y="1675"/>
              <a:ext cx="1043" cy="784"/>
            </a:xfrm>
            <a:custGeom>
              <a:avLst/>
              <a:gdLst/>
              <a:ahLst/>
              <a:cxnLst>
                <a:cxn ang="0">
                  <a:pos x="0" y="0"/>
                </a:cxn>
                <a:cxn ang="0">
                  <a:pos x="111" y="0"/>
                </a:cxn>
                <a:cxn ang="0">
                  <a:pos x="217" y="7"/>
                </a:cxn>
                <a:cxn ang="0">
                  <a:pos x="313" y="14"/>
                </a:cxn>
                <a:cxn ang="0">
                  <a:pos x="400" y="24"/>
                </a:cxn>
                <a:cxn ang="0">
                  <a:pos x="482" y="38"/>
                </a:cxn>
                <a:cxn ang="0">
                  <a:pos x="554" y="56"/>
                </a:cxn>
                <a:cxn ang="0">
                  <a:pos x="626" y="77"/>
                </a:cxn>
                <a:cxn ang="0">
                  <a:pos x="689" y="102"/>
                </a:cxn>
                <a:cxn ang="0">
                  <a:pos x="742" y="133"/>
                </a:cxn>
                <a:cxn ang="0">
                  <a:pos x="795" y="165"/>
                </a:cxn>
                <a:cxn ang="0">
                  <a:pos x="838" y="204"/>
                </a:cxn>
                <a:cxn ang="0">
                  <a:pos x="876" y="246"/>
                </a:cxn>
                <a:cxn ang="0">
                  <a:pos x="910" y="291"/>
                </a:cxn>
                <a:cxn ang="0">
                  <a:pos x="939" y="344"/>
                </a:cxn>
                <a:cxn ang="0">
                  <a:pos x="963" y="400"/>
                </a:cxn>
                <a:cxn ang="0">
                  <a:pos x="982" y="460"/>
                </a:cxn>
                <a:cxn ang="0">
                  <a:pos x="997" y="527"/>
                </a:cxn>
                <a:cxn ang="0">
                  <a:pos x="1006" y="601"/>
                </a:cxn>
                <a:cxn ang="0">
                  <a:pos x="1011" y="678"/>
                </a:cxn>
                <a:cxn ang="0">
                  <a:pos x="1011" y="759"/>
                </a:cxn>
                <a:cxn ang="0">
                  <a:pos x="1011" y="822"/>
                </a:cxn>
              </a:cxnLst>
              <a:rect l="0" t="0" r="r" b="b"/>
              <a:pathLst>
                <a:path w="1011" h="822">
                  <a:moveTo>
                    <a:pt x="0" y="0"/>
                  </a:moveTo>
                  <a:lnTo>
                    <a:pt x="111" y="0"/>
                  </a:lnTo>
                  <a:lnTo>
                    <a:pt x="217" y="7"/>
                  </a:lnTo>
                  <a:lnTo>
                    <a:pt x="313" y="14"/>
                  </a:lnTo>
                  <a:lnTo>
                    <a:pt x="400" y="24"/>
                  </a:lnTo>
                  <a:lnTo>
                    <a:pt x="482" y="38"/>
                  </a:lnTo>
                  <a:lnTo>
                    <a:pt x="554" y="56"/>
                  </a:lnTo>
                  <a:lnTo>
                    <a:pt x="626" y="77"/>
                  </a:lnTo>
                  <a:lnTo>
                    <a:pt x="689" y="102"/>
                  </a:lnTo>
                  <a:lnTo>
                    <a:pt x="742" y="133"/>
                  </a:lnTo>
                  <a:lnTo>
                    <a:pt x="795" y="165"/>
                  </a:lnTo>
                  <a:lnTo>
                    <a:pt x="838" y="204"/>
                  </a:lnTo>
                  <a:lnTo>
                    <a:pt x="876" y="246"/>
                  </a:lnTo>
                  <a:lnTo>
                    <a:pt x="910" y="291"/>
                  </a:lnTo>
                  <a:lnTo>
                    <a:pt x="939" y="344"/>
                  </a:lnTo>
                  <a:lnTo>
                    <a:pt x="963" y="400"/>
                  </a:lnTo>
                  <a:lnTo>
                    <a:pt x="982" y="460"/>
                  </a:lnTo>
                  <a:lnTo>
                    <a:pt x="997" y="527"/>
                  </a:lnTo>
                  <a:lnTo>
                    <a:pt x="1006" y="601"/>
                  </a:lnTo>
                  <a:lnTo>
                    <a:pt x="1011" y="678"/>
                  </a:lnTo>
                  <a:lnTo>
                    <a:pt x="1011" y="759"/>
                  </a:lnTo>
                  <a:lnTo>
                    <a:pt x="1011" y="822"/>
                  </a:lnTo>
                </a:path>
              </a:pathLst>
            </a:custGeom>
            <a:noFill/>
            <a:ln w="30163">
              <a:solidFill>
                <a:srgbClr val="000000"/>
              </a:solidFill>
              <a:prstDash val="solid"/>
              <a:round/>
              <a:headEnd/>
              <a:tailEnd/>
            </a:ln>
          </p:spPr>
          <p:txBody>
            <a:bodyPr/>
            <a:lstStyle/>
            <a:p>
              <a:endParaRPr lang="es-ES"/>
            </a:p>
          </p:txBody>
        </p:sp>
        <p:sp>
          <p:nvSpPr>
            <p:cNvPr id="46" name="Freeform 44"/>
            <p:cNvSpPr>
              <a:spLocks/>
            </p:cNvSpPr>
            <p:nvPr/>
          </p:nvSpPr>
          <p:spPr bwMode="auto">
            <a:xfrm>
              <a:off x="1684" y="1675"/>
              <a:ext cx="894" cy="784"/>
            </a:xfrm>
            <a:custGeom>
              <a:avLst/>
              <a:gdLst/>
              <a:ahLst/>
              <a:cxnLst>
                <a:cxn ang="0">
                  <a:pos x="0" y="822"/>
                </a:cxn>
                <a:cxn ang="0">
                  <a:pos x="4" y="734"/>
                </a:cxn>
                <a:cxn ang="0">
                  <a:pos x="9" y="650"/>
                </a:cxn>
                <a:cxn ang="0">
                  <a:pos x="14" y="573"/>
                </a:cxn>
                <a:cxn ang="0">
                  <a:pos x="28" y="499"/>
                </a:cxn>
                <a:cxn ang="0">
                  <a:pos x="43" y="432"/>
                </a:cxn>
                <a:cxn ang="0">
                  <a:pos x="62" y="372"/>
                </a:cxn>
                <a:cxn ang="0">
                  <a:pos x="86" y="316"/>
                </a:cxn>
                <a:cxn ang="0">
                  <a:pos x="110" y="267"/>
                </a:cxn>
                <a:cxn ang="0">
                  <a:pos x="139" y="221"/>
                </a:cxn>
                <a:cxn ang="0">
                  <a:pos x="178" y="179"/>
                </a:cxn>
                <a:cxn ang="0">
                  <a:pos x="216" y="144"/>
                </a:cxn>
                <a:cxn ang="0">
                  <a:pos x="260" y="112"/>
                </a:cxn>
                <a:cxn ang="0">
                  <a:pos x="308" y="84"/>
                </a:cxn>
                <a:cxn ang="0">
                  <a:pos x="361" y="60"/>
                </a:cxn>
                <a:cxn ang="0">
                  <a:pos x="423" y="42"/>
                </a:cxn>
                <a:cxn ang="0">
                  <a:pos x="486" y="24"/>
                </a:cxn>
                <a:cxn ang="0">
                  <a:pos x="553" y="14"/>
                </a:cxn>
                <a:cxn ang="0">
                  <a:pos x="630" y="7"/>
                </a:cxn>
                <a:cxn ang="0">
                  <a:pos x="712" y="3"/>
                </a:cxn>
                <a:cxn ang="0">
                  <a:pos x="794" y="0"/>
                </a:cxn>
                <a:cxn ang="0">
                  <a:pos x="866" y="0"/>
                </a:cxn>
              </a:cxnLst>
              <a:rect l="0" t="0" r="r" b="b"/>
              <a:pathLst>
                <a:path w="866" h="822">
                  <a:moveTo>
                    <a:pt x="0" y="822"/>
                  </a:moveTo>
                  <a:lnTo>
                    <a:pt x="4" y="734"/>
                  </a:lnTo>
                  <a:lnTo>
                    <a:pt x="9" y="650"/>
                  </a:lnTo>
                  <a:lnTo>
                    <a:pt x="14" y="573"/>
                  </a:lnTo>
                  <a:lnTo>
                    <a:pt x="28" y="499"/>
                  </a:lnTo>
                  <a:lnTo>
                    <a:pt x="43" y="432"/>
                  </a:lnTo>
                  <a:lnTo>
                    <a:pt x="62" y="372"/>
                  </a:lnTo>
                  <a:lnTo>
                    <a:pt x="86" y="316"/>
                  </a:lnTo>
                  <a:lnTo>
                    <a:pt x="110" y="267"/>
                  </a:lnTo>
                  <a:lnTo>
                    <a:pt x="139" y="221"/>
                  </a:lnTo>
                  <a:lnTo>
                    <a:pt x="178" y="179"/>
                  </a:lnTo>
                  <a:lnTo>
                    <a:pt x="216" y="144"/>
                  </a:lnTo>
                  <a:lnTo>
                    <a:pt x="260" y="112"/>
                  </a:lnTo>
                  <a:lnTo>
                    <a:pt x="308" y="84"/>
                  </a:lnTo>
                  <a:lnTo>
                    <a:pt x="361" y="60"/>
                  </a:lnTo>
                  <a:lnTo>
                    <a:pt x="423" y="42"/>
                  </a:lnTo>
                  <a:lnTo>
                    <a:pt x="486" y="24"/>
                  </a:lnTo>
                  <a:lnTo>
                    <a:pt x="553" y="14"/>
                  </a:lnTo>
                  <a:lnTo>
                    <a:pt x="630" y="7"/>
                  </a:lnTo>
                  <a:lnTo>
                    <a:pt x="712" y="3"/>
                  </a:lnTo>
                  <a:lnTo>
                    <a:pt x="794" y="0"/>
                  </a:lnTo>
                  <a:lnTo>
                    <a:pt x="866" y="0"/>
                  </a:lnTo>
                </a:path>
              </a:pathLst>
            </a:custGeom>
            <a:noFill/>
            <a:ln w="30163">
              <a:solidFill>
                <a:srgbClr val="000000"/>
              </a:solidFill>
              <a:prstDash val="solid"/>
              <a:round/>
              <a:headEnd/>
              <a:tailEnd/>
            </a:ln>
          </p:spPr>
          <p:txBody>
            <a:bodyPr/>
            <a:lstStyle/>
            <a:p>
              <a:endParaRPr lang="es-ES"/>
            </a:p>
          </p:txBody>
        </p:sp>
        <p:sp>
          <p:nvSpPr>
            <p:cNvPr id="47" name="Freeform 45"/>
            <p:cNvSpPr>
              <a:spLocks/>
            </p:cNvSpPr>
            <p:nvPr/>
          </p:nvSpPr>
          <p:spPr bwMode="auto">
            <a:xfrm>
              <a:off x="1684" y="2459"/>
              <a:ext cx="894" cy="605"/>
            </a:xfrm>
            <a:custGeom>
              <a:avLst/>
              <a:gdLst/>
              <a:ahLst/>
              <a:cxnLst>
                <a:cxn ang="0">
                  <a:pos x="866" y="633"/>
                </a:cxn>
                <a:cxn ang="0">
                  <a:pos x="775" y="633"/>
                </a:cxn>
                <a:cxn ang="0">
                  <a:pos x="688" y="629"/>
                </a:cxn>
                <a:cxn ang="0">
                  <a:pos x="606" y="622"/>
                </a:cxn>
                <a:cxn ang="0">
                  <a:pos x="529" y="615"/>
                </a:cxn>
                <a:cxn ang="0">
                  <a:pos x="462" y="605"/>
                </a:cxn>
                <a:cxn ang="0">
                  <a:pos x="394" y="591"/>
                </a:cxn>
                <a:cxn ang="0">
                  <a:pos x="337" y="573"/>
                </a:cxn>
                <a:cxn ang="0">
                  <a:pos x="284" y="556"/>
                </a:cxn>
                <a:cxn ang="0">
                  <a:pos x="235" y="534"/>
                </a:cxn>
                <a:cxn ang="0">
                  <a:pos x="192" y="510"/>
                </a:cxn>
                <a:cxn ang="0">
                  <a:pos x="154" y="482"/>
                </a:cxn>
                <a:cxn ang="0">
                  <a:pos x="120" y="450"/>
                </a:cxn>
                <a:cxn ang="0">
                  <a:pos x="91" y="415"/>
                </a:cxn>
                <a:cxn ang="0">
                  <a:pos x="67" y="376"/>
                </a:cxn>
                <a:cxn ang="0">
                  <a:pos x="48" y="334"/>
                </a:cxn>
                <a:cxn ang="0">
                  <a:pos x="28" y="288"/>
                </a:cxn>
                <a:cxn ang="0">
                  <a:pos x="19" y="236"/>
                </a:cxn>
                <a:cxn ang="0">
                  <a:pos x="9" y="183"/>
                </a:cxn>
                <a:cxn ang="0">
                  <a:pos x="4" y="127"/>
                </a:cxn>
                <a:cxn ang="0">
                  <a:pos x="0" y="64"/>
                </a:cxn>
                <a:cxn ang="0">
                  <a:pos x="0" y="0"/>
                </a:cxn>
              </a:cxnLst>
              <a:rect l="0" t="0" r="r" b="b"/>
              <a:pathLst>
                <a:path w="866" h="633">
                  <a:moveTo>
                    <a:pt x="866" y="633"/>
                  </a:moveTo>
                  <a:lnTo>
                    <a:pt x="775" y="633"/>
                  </a:lnTo>
                  <a:lnTo>
                    <a:pt x="688" y="629"/>
                  </a:lnTo>
                  <a:lnTo>
                    <a:pt x="606" y="622"/>
                  </a:lnTo>
                  <a:lnTo>
                    <a:pt x="529" y="615"/>
                  </a:lnTo>
                  <a:lnTo>
                    <a:pt x="462" y="605"/>
                  </a:lnTo>
                  <a:lnTo>
                    <a:pt x="394" y="591"/>
                  </a:lnTo>
                  <a:lnTo>
                    <a:pt x="337" y="573"/>
                  </a:lnTo>
                  <a:lnTo>
                    <a:pt x="284" y="556"/>
                  </a:lnTo>
                  <a:lnTo>
                    <a:pt x="235" y="534"/>
                  </a:lnTo>
                  <a:lnTo>
                    <a:pt x="192" y="510"/>
                  </a:lnTo>
                  <a:lnTo>
                    <a:pt x="154" y="482"/>
                  </a:lnTo>
                  <a:lnTo>
                    <a:pt x="120" y="450"/>
                  </a:lnTo>
                  <a:lnTo>
                    <a:pt x="91" y="415"/>
                  </a:lnTo>
                  <a:lnTo>
                    <a:pt x="67" y="376"/>
                  </a:lnTo>
                  <a:lnTo>
                    <a:pt x="48" y="334"/>
                  </a:lnTo>
                  <a:lnTo>
                    <a:pt x="28" y="288"/>
                  </a:lnTo>
                  <a:lnTo>
                    <a:pt x="19" y="236"/>
                  </a:lnTo>
                  <a:lnTo>
                    <a:pt x="9" y="183"/>
                  </a:lnTo>
                  <a:lnTo>
                    <a:pt x="4" y="127"/>
                  </a:lnTo>
                  <a:lnTo>
                    <a:pt x="0" y="64"/>
                  </a:lnTo>
                  <a:lnTo>
                    <a:pt x="0" y="0"/>
                  </a:lnTo>
                </a:path>
              </a:pathLst>
            </a:custGeom>
            <a:noFill/>
            <a:ln w="30163">
              <a:solidFill>
                <a:srgbClr val="000000"/>
              </a:solidFill>
              <a:prstDash val="solid"/>
              <a:round/>
              <a:headEnd/>
              <a:tailEnd/>
            </a:ln>
          </p:spPr>
          <p:txBody>
            <a:bodyPr/>
            <a:lstStyle/>
            <a:p>
              <a:endParaRPr lang="es-ES"/>
            </a:p>
          </p:txBody>
        </p:sp>
        <p:sp>
          <p:nvSpPr>
            <p:cNvPr id="48" name="Freeform 46"/>
            <p:cNvSpPr>
              <a:spLocks/>
            </p:cNvSpPr>
            <p:nvPr/>
          </p:nvSpPr>
          <p:spPr bwMode="auto">
            <a:xfrm>
              <a:off x="2578" y="2459"/>
              <a:ext cx="671" cy="605"/>
            </a:xfrm>
            <a:custGeom>
              <a:avLst/>
              <a:gdLst/>
              <a:ahLst/>
              <a:cxnLst>
                <a:cxn ang="0">
                  <a:pos x="650" y="0"/>
                </a:cxn>
                <a:cxn ang="0">
                  <a:pos x="650" y="71"/>
                </a:cxn>
                <a:cxn ang="0">
                  <a:pos x="650" y="134"/>
                </a:cxn>
                <a:cxn ang="0">
                  <a:pos x="641" y="194"/>
                </a:cxn>
                <a:cxn ang="0">
                  <a:pos x="636" y="250"/>
                </a:cxn>
                <a:cxn ang="0">
                  <a:pos x="621" y="299"/>
                </a:cxn>
                <a:cxn ang="0">
                  <a:pos x="612" y="345"/>
                </a:cxn>
                <a:cxn ang="0">
                  <a:pos x="592" y="390"/>
                </a:cxn>
                <a:cxn ang="0">
                  <a:pos x="573" y="429"/>
                </a:cxn>
                <a:cxn ang="0">
                  <a:pos x="554" y="464"/>
                </a:cxn>
                <a:cxn ang="0">
                  <a:pos x="525" y="496"/>
                </a:cxn>
                <a:cxn ang="0">
                  <a:pos x="496" y="524"/>
                </a:cxn>
                <a:cxn ang="0">
                  <a:pos x="467" y="549"/>
                </a:cxn>
                <a:cxn ang="0">
                  <a:pos x="429" y="570"/>
                </a:cxn>
                <a:cxn ang="0">
                  <a:pos x="390" y="587"/>
                </a:cxn>
                <a:cxn ang="0">
                  <a:pos x="347" y="601"/>
                </a:cxn>
                <a:cxn ang="0">
                  <a:pos x="304" y="612"/>
                </a:cxn>
                <a:cxn ang="0">
                  <a:pos x="251" y="622"/>
                </a:cxn>
                <a:cxn ang="0">
                  <a:pos x="198" y="629"/>
                </a:cxn>
                <a:cxn ang="0">
                  <a:pos x="140" y="633"/>
                </a:cxn>
                <a:cxn ang="0">
                  <a:pos x="72" y="633"/>
                </a:cxn>
                <a:cxn ang="0">
                  <a:pos x="0" y="633"/>
                </a:cxn>
              </a:cxnLst>
              <a:rect l="0" t="0" r="r" b="b"/>
              <a:pathLst>
                <a:path w="650" h="633">
                  <a:moveTo>
                    <a:pt x="650" y="0"/>
                  </a:moveTo>
                  <a:lnTo>
                    <a:pt x="650" y="71"/>
                  </a:lnTo>
                  <a:lnTo>
                    <a:pt x="650" y="134"/>
                  </a:lnTo>
                  <a:lnTo>
                    <a:pt x="641" y="194"/>
                  </a:lnTo>
                  <a:lnTo>
                    <a:pt x="636" y="250"/>
                  </a:lnTo>
                  <a:lnTo>
                    <a:pt x="621" y="299"/>
                  </a:lnTo>
                  <a:lnTo>
                    <a:pt x="612" y="345"/>
                  </a:lnTo>
                  <a:lnTo>
                    <a:pt x="592" y="390"/>
                  </a:lnTo>
                  <a:lnTo>
                    <a:pt x="573" y="429"/>
                  </a:lnTo>
                  <a:lnTo>
                    <a:pt x="554" y="464"/>
                  </a:lnTo>
                  <a:lnTo>
                    <a:pt x="525" y="496"/>
                  </a:lnTo>
                  <a:lnTo>
                    <a:pt x="496" y="524"/>
                  </a:lnTo>
                  <a:lnTo>
                    <a:pt x="467" y="549"/>
                  </a:lnTo>
                  <a:lnTo>
                    <a:pt x="429" y="570"/>
                  </a:lnTo>
                  <a:lnTo>
                    <a:pt x="390" y="587"/>
                  </a:lnTo>
                  <a:lnTo>
                    <a:pt x="347" y="601"/>
                  </a:lnTo>
                  <a:lnTo>
                    <a:pt x="304" y="612"/>
                  </a:lnTo>
                  <a:lnTo>
                    <a:pt x="251" y="622"/>
                  </a:lnTo>
                  <a:lnTo>
                    <a:pt x="198" y="629"/>
                  </a:lnTo>
                  <a:lnTo>
                    <a:pt x="140" y="633"/>
                  </a:lnTo>
                  <a:lnTo>
                    <a:pt x="72" y="633"/>
                  </a:lnTo>
                  <a:lnTo>
                    <a:pt x="0" y="633"/>
                  </a:lnTo>
                </a:path>
              </a:pathLst>
            </a:custGeom>
            <a:noFill/>
            <a:ln w="30163">
              <a:solidFill>
                <a:srgbClr val="000000"/>
              </a:solidFill>
              <a:prstDash val="solid"/>
              <a:round/>
              <a:headEnd/>
              <a:tailEnd/>
            </a:ln>
          </p:spPr>
          <p:txBody>
            <a:bodyPr/>
            <a:lstStyle/>
            <a:p>
              <a:endParaRPr lang="es-ES"/>
            </a:p>
          </p:txBody>
        </p:sp>
        <p:sp>
          <p:nvSpPr>
            <p:cNvPr id="49" name="Freeform 47"/>
            <p:cNvSpPr>
              <a:spLocks/>
            </p:cNvSpPr>
            <p:nvPr/>
          </p:nvSpPr>
          <p:spPr bwMode="auto">
            <a:xfrm>
              <a:off x="2578" y="1976"/>
              <a:ext cx="671" cy="483"/>
            </a:xfrm>
            <a:custGeom>
              <a:avLst/>
              <a:gdLst/>
              <a:ahLst/>
              <a:cxnLst>
                <a:cxn ang="0">
                  <a:pos x="0" y="0"/>
                </a:cxn>
                <a:cxn ang="0">
                  <a:pos x="72" y="0"/>
                </a:cxn>
                <a:cxn ang="0">
                  <a:pos x="140" y="4"/>
                </a:cxn>
                <a:cxn ang="0">
                  <a:pos x="202" y="7"/>
                </a:cxn>
                <a:cxn ang="0">
                  <a:pos x="260" y="14"/>
                </a:cxn>
                <a:cxn ang="0">
                  <a:pos x="308" y="21"/>
                </a:cxn>
                <a:cxn ang="0">
                  <a:pos x="356" y="32"/>
                </a:cxn>
                <a:cxn ang="0">
                  <a:pos x="405" y="46"/>
                </a:cxn>
                <a:cxn ang="0">
                  <a:pos x="443" y="60"/>
                </a:cxn>
                <a:cxn ang="0">
                  <a:pos x="477" y="77"/>
                </a:cxn>
                <a:cxn ang="0">
                  <a:pos x="511" y="99"/>
                </a:cxn>
                <a:cxn ang="0">
                  <a:pos x="539" y="120"/>
                </a:cxn>
                <a:cxn ang="0">
                  <a:pos x="564" y="144"/>
                </a:cxn>
                <a:cxn ang="0">
                  <a:pos x="588" y="172"/>
                </a:cxn>
                <a:cxn ang="0">
                  <a:pos x="607" y="200"/>
                </a:cxn>
                <a:cxn ang="0">
                  <a:pos x="621" y="236"/>
                </a:cxn>
                <a:cxn ang="0">
                  <a:pos x="631" y="271"/>
                </a:cxn>
                <a:cxn ang="0">
                  <a:pos x="641" y="309"/>
                </a:cxn>
                <a:cxn ang="0">
                  <a:pos x="650" y="352"/>
                </a:cxn>
                <a:cxn ang="0">
                  <a:pos x="650" y="394"/>
                </a:cxn>
                <a:cxn ang="0">
                  <a:pos x="650" y="443"/>
                </a:cxn>
                <a:cxn ang="0">
                  <a:pos x="650" y="506"/>
                </a:cxn>
              </a:cxnLst>
              <a:rect l="0" t="0" r="r" b="b"/>
              <a:pathLst>
                <a:path w="650" h="506">
                  <a:moveTo>
                    <a:pt x="0" y="0"/>
                  </a:moveTo>
                  <a:lnTo>
                    <a:pt x="72" y="0"/>
                  </a:lnTo>
                  <a:lnTo>
                    <a:pt x="140" y="4"/>
                  </a:lnTo>
                  <a:lnTo>
                    <a:pt x="202" y="7"/>
                  </a:lnTo>
                  <a:lnTo>
                    <a:pt x="260" y="14"/>
                  </a:lnTo>
                  <a:lnTo>
                    <a:pt x="308" y="21"/>
                  </a:lnTo>
                  <a:lnTo>
                    <a:pt x="356" y="32"/>
                  </a:lnTo>
                  <a:lnTo>
                    <a:pt x="405" y="46"/>
                  </a:lnTo>
                  <a:lnTo>
                    <a:pt x="443" y="60"/>
                  </a:lnTo>
                  <a:lnTo>
                    <a:pt x="477" y="77"/>
                  </a:lnTo>
                  <a:lnTo>
                    <a:pt x="511" y="99"/>
                  </a:lnTo>
                  <a:lnTo>
                    <a:pt x="539" y="120"/>
                  </a:lnTo>
                  <a:lnTo>
                    <a:pt x="564" y="144"/>
                  </a:lnTo>
                  <a:lnTo>
                    <a:pt x="588" y="172"/>
                  </a:lnTo>
                  <a:lnTo>
                    <a:pt x="607" y="200"/>
                  </a:lnTo>
                  <a:lnTo>
                    <a:pt x="621" y="236"/>
                  </a:lnTo>
                  <a:lnTo>
                    <a:pt x="631" y="271"/>
                  </a:lnTo>
                  <a:lnTo>
                    <a:pt x="641" y="309"/>
                  </a:lnTo>
                  <a:lnTo>
                    <a:pt x="650" y="352"/>
                  </a:lnTo>
                  <a:lnTo>
                    <a:pt x="650" y="394"/>
                  </a:lnTo>
                  <a:lnTo>
                    <a:pt x="650" y="443"/>
                  </a:lnTo>
                  <a:lnTo>
                    <a:pt x="650" y="506"/>
                  </a:lnTo>
                </a:path>
              </a:pathLst>
            </a:custGeom>
            <a:noFill/>
            <a:ln w="30163">
              <a:solidFill>
                <a:srgbClr val="000000"/>
              </a:solidFill>
              <a:prstDash val="solid"/>
              <a:round/>
              <a:headEnd/>
              <a:tailEnd/>
            </a:ln>
          </p:spPr>
          <p:txBody>
            <a:bodyPr/>
            <a:lstStyle/>
            <a:p>
              <a:endParaRPr lang="es-ES"/>
            </a:p>
          </p:txBody>
        </p:sp>
        <p:sp>
          <p:nvSpPr>
            <p:cNvPr id="50" name="Freeform 48"/>
            <p:cNvSpPr>
              <a:spLocks/>
            </p:cNvSpPr>
            <p:nvPr/>
          </p:nvSpPr>
          <p:spPr bwMode="auto">
            <a:xfrm>
              <a:off x="2056" y="1976"/>
              <a:ext cx="522" cy="483"/>
            </a:xfrm>
            <a:custGeom>
              <a:avLst/>
              <a:gdLst/>
              <a:ahLst/>
              <a:cxnLst>
                <a:cxn ang="0">
                  <a:pos x="0" y="506"/>
                </a:cxn>
                <a:cxn ang="0">
                  <a:pos x="4" y="450"/>
                </a:cxn>
                <a:cxn ang="0">
                  <a:pos x="4" y="401"/>
                </a:cxn>
                <a:cxn ang="0">
                  <a:pos x="9" y="352"/>
                </a:cxn>
                <a:cxn ang="0">
                  <a:pos x="14" y="309"/>
                </a:cxn>
                <a:cxn ang="0">
                  <a:pos x="24" y="267"/>
                </a:cxn>
                <a:cxn ang="0">
                  <a:pos x="33" y="229"/>
                </a:cxn>
                <a:cxn ang="0">
                  <a:pos x="48" y="197"/>
                </a:cxn>
                <a:cxn ang="0">
                  <a:pos x="62" y="165"/>
                </a:cxn>
                <a:cxn ang="0">
                  <a:pos x="77" y="137"/>
                </a:cxn>
                <a:cxn ang="0">
                  <a:pos x="96" y="113"/>
                </a:cxn>
                <a:cxn ang="0">
                  <a:pos x="120" y="88"/>
                </a:cxn>
                <a:cxn ang="0">
                  <a:pos x="144" y="70"/>
                </a:cxn>
                <a:cxn ang="0">
                  <a:pos x="168" y="53"/>
                </a:cxn>
                <a:cxn ang="0">
                  <a:pos x="197" y="39"/>
                </a:cxn>
                <a:cxn ang="0">
                  <a:pos x="231" y="25"/>
                </a:cxn>
                <a:cxn ang="0">
                  <a:pos x="264" y="18"/>
                </a:cxn>
                <a:cxn ang="0">
                  <a:pos x="303" y="11"/>
                </a:cxn>
                <a:cxn ang="0">
                  <a:pos x="346" y="4"/>
                </a:cxn>
                <a:cxn ang="0">
                  <a:pos x="390" y="0"/>
                </a:cxn>
                <a:cxn ang="0">
                  <a:pos x="433" y="0"/>
                </a:cxn>
                <a:cxn ang="0">
                  <a:pos x="505" y="0"/>
                </a:cxn>
              </a:cxnLst>
              <a:rect l="0" t="0" r="r" b="b"/>
              <a:pathLst>
                <a:path w="505" h="506">
                  <a:moveTo>
                    <a:pt x="0" y="506"/>
                  </a:moveTo>
                  <a:lnTo>
                    <a:pt x="4" y="450"/>
                  </a:lnTo>
                  <a:lnTo>
                    <a:pt x="4" y="401"/>
                  </a:lnTo>
                  <a:lnTo>
                    <a:pt x="9" y="352"/>
                  </a:lnTo>
                  <a:lnTo>
                    <a:pt x="14" y="309"/>
                  </a:lnTo>
                  <a:lnTo>
                    <a:pt x="24" y="267"/>
                  </a:lnTo>
                  <a:lnTo>
                    <a:pt x="33" y="229"/>
                  </a:lnTo>
                  <a:lnTo>
                    <a:pt x="48" y="197"/>
                  </a:lnTo>
                  <a:lnTo>
                    <a:pt x="62" y="165"/>
                  </a:lnTo>
                  <a:lnTo>
                    <a:pt x="77" y="137"/>
                  </a:lnTo>
                  <a:lnTo>
                    <a:pt x="96" y="113"/>
                  </a:lnTo>
                  <a:lnTo>
                    <a:pt x="120" y="88"/>
                  </a:lnTo>
                  <a:lnTo>
                    <a:pt x="144" y="70"/>
                  </a:lnTo>
                  <a:lnTo>
                    <a:pt x="168" y="53"/>
                  </a:lnTo>
                  <a:lnTo>
                    <a:pt x="197" y="39"/>
                  </a:lnTo>
                  <a:lnTo>
                    <a:pt x="231" y="25"/>
                  </a:lnTo>
                  <a:lnTo>
                    <a:pt x="264" y="18"/>
                  </a:lnTo>
                  <a:lnTo>
                    <a:pt x="303" y="11"/>
                  </a:lnTo>
                  <a:lnTo>
                    <a:pt x="346" y="4"/>
                  </a:lnTo>
                  <a:lnTo>
                    <a:pt x="390" y="0"/>
                  </a:lnTo>
                  <a:lnTo>
                    <a:pt x="433" y="0"/>
                  </a:lnTo>
                  <a:lnTo>
                    <a:pt x="505" y="0"/>
                  </a:lnTo>
                </a:path>
              </a:pathLst>
            </a:custGeom>
            <a:noFill/>
            <a:ln w="30163">
              <a:solidFill>
                <a:srgbClr val="000000"/>
              </a:solidFill>
              <a:prstDash val="solid"/>
              <a:round/>
              <a:headEnd/>
              <a:tailEnd/>
            </a:ln>
          </p:spPr>
          <p:txBody>
            <a:bodyPr/>
            <a:lstStyle/>
            <a:p>
              <a:endParaRPr lang="es-ES"/>
            </a:p>
          </p:txBody>
        </p:sp>
        <p:sp>
          <p:nvSpPr>
            <p:cNvPr id="51" name="Freeform 49"/>
            <p:cNvSpPr>
              <a:spLocks/>
            </p:cNvSpPr>
            <p:nvPr/>
          </p:nvSpPr>
          <p:spPr bwMode="auto">
            <a:xfrm>
              <a:off x="2056" y="2459"/>
              <a:ext cx="522" cy="303"/>
            </a:xfrm>
            <a:custGeom>
              <a:avLst/>
              <a:gdLst/>
              <a:ahLst/>
              <a:cxnLst>
                <a:cxn ang="0">
                  <a:pos x="505" y="317"/>
                </a:cxn>
                <a:cxn ang="0">
                  <a:pos x="452" y="317"/>
                </a:cxn>
                <a:cxn ang="0">
                  <a:pos x="404" y="317"/>
                </a:cxn>
                <a:cxn ang="0">
                  <a:pos x="356" y="313"/>
                </a:cxn>
                <a:cxn ang="0">
                  <a:pos x="308" y="310"/>
                </a:cxn>
                <a:cxn ang="0">
                  <a:pos x="269" y="303"/>
                </a:cxn>
                <a:cxn ang="0">
                  <a:pos x="231" y="299"/>
                </a:cxn>
                <a:cxn ang="0">
                  <a:pos x="197" y="292"/>
                </a:cxn>
                <a:cxn ang="0">
                  <a:pos x="168" y="281"/>
                </a:cxn>
                <a:cxn ang="0">
                  <a:pos x="139" y="271"/>
                </a:cxn>
                <a:cxn ang="0">
                  <a:pos x="115" y="260"/>
                </a:cxn>
                <a:cxn ang="0">
                  <a:pos x="91" y="250"/>
                </a:cxn>
                <a:cxn ang="0">
                  <a:pos x="72" y="236"/>
                </a:cxn>
                <a:cxn ang="0">
                  <a:pos x="53" y="218"/>
                </a:cxn>
                <a:cxn ang="0">
                  <a:pos x="38" y="201"/>
                </a:cxn>
                <a:cxn ang="0">
                  <a:pos x="29" y="183"/>
                </a:cxn>
                <a:cxn ang="0">
                  <a:pos x="19" y="162"/>
                </a:cxn>
                <a:cxn ang="0">
                  <a:pos x="9" y="141"/>
                </a:cxn>
                <a:cxn ang="0">
                  <a:pos x="4" y="116"/>
                </a:cxn>
                <a:cxn ang="0">
                  <a:pos x="4" y="92"/>
                </a:cxn>
                <a:cxn ang="0">
                  <a:pos x="0" y="64"/>
                </a:cxn>
                <a:cxn ang="0">
                  <a:pos x="0" y="0"/>
                </a:cxn>
              </a:cxnLst>
              <a:rect l="0" t="0" r="r" b="b"/>
              <a:pathLst>
                <a:path w="505" h="317">
                  <a:moveTo>
                    <a:pt x="505" y="317"/>
                  </a:moveTo>
                  <a:lnTo>
                    <a:pt x="452" y="317"/>
                  </a:lnTo>
                  <a:lnTo>
                    <a:pt x="404" y="317"/>
                  </a:lnTo>
                  <a:lnTo>
                    <a:pt x="356" y="313"/>
                  </a:lnTo>
                  <a:lnTo>
                    <a:pt x="308" y="310"/>
                  </a:lnTo>
                  <a:lnTo>
                    <a:pt x="269" y="303"/>
                  </a:lnTo>
                  <a:lnTo>
                    <a:pt x="231" y="299"/>
                  </a:lnTo>
                  <a:lnTo>
                    <a:pt x="197" y="292"/>
                  </a:lnTo>
                  <a:lnTo>
                    <a:pt x="168" y="281"/>
                  </a:lnTo>
                  <a:lnTo>
                    <a:pt x="139" y="271"/>
                  </a:lnTo>
                  <a:lnTo>
                    <a:pt x="115" y="260"/>
                  </a:lnTo>
                  <a:lnTo>
                    <a:pt x="91" y="250"/>
                  </a:lnTo>
                  <a:lnTo>
                    <a:pt x="72" y="236"/>
                  </a:lnTo>
                  <a:lnTo>
                    <a:pt x="53" y="218"/>
                  </a:lnTo>
                  <a:lnTo>
                    <a:pt x="38" y="201"/>
                  </a:lnTo>
                  <a:lnTo>
                    <a:pt x="29" y="183"/>
                  </a:lnTo>
                  <a:lnTo>
                    <a:pt x="19" y="162"/>
                  </a:lnTo>
                  <a:lnTo>
                    <a:pt x="9" y="141"/>
                  </a:lnTo>
                  <a:lnTo>
                    <a:pt x="4" y="116"/>
                  </a:lnTo>
                  <a:lnTo>
                    <a:pt x="4" y="92"/>
                  </a:lnTo>
                  <a:lnTo>
                    <a:pt x="0" y="64"/>
                  </a:lnTo>
                  <a:lnTo>
                    <a:pt x="0" y="0"/>
                  </a:lnTo>
                </a:path>
              </a:pathLst>
            </a:custGeom>
            <a:noFill/>
            <a:ln w="30163">
              <a:solidFill>
                <a:srgbClr val="000000"/>
              </a:solidFill>
              <a:prstDash val="solid"/>
              <a:round/>
              <a:headEnd/>
              <a:tailEnd/>
            </a:ln>
          </p:spPr>
          <p:txBody>
            <a:bodyPr/>
            <a:lstStyle/>
            <a:p>
              <a:endParaRPr lang="es-ES"/>
            </a:p>
          </p:txBody>
        </p:sp>
        <p:sp>
          <p:nvSpPr>
            <p:cNvPr id="52" name="Freeform 50"/>
            <p:cNvSpPr>
              <a:spLocks/>
            </p:cNvSpPr>
            <p:nvPr/>
          </p:nvSpPr>
          <p:spPr bwMode="auto">
            <a:xfrm>
              <a:off x="2578" y="2459"/>
              <a:ext cx="298" cy="303"/>
            </a:xfrm>
            <a:custGeom>
              <a:avLst/>
              <a:gdLst/>
              <a:ahLst/>
              <a:cxnLst>
                <a:cxn ang="0">
                  <a:pos x="289" y="0"/>
                </a:cxn>
                <a:cxn ang="0">
                  <a:pos x="289" y="35"/>
                </a:cxn>
                <a:cxn ang="0">
                  <a:pos x="289" y="67"/>
                </a:cxn>
                <a:cxn ang="0">
                  <a:pos x="289" y="95"/>
                </a:cxn>
                <a:cxn ang="0">
                  <a:pos x="284" y="123"/>
                </a:cxn>
                <a:cxn ang="0">
                  <a:pos x="279" y="151"/>
                </a:cxn>
                <a:cxn ang="0">
                  <a:pos x="275" y="172"/>
                </a:cxn>
                <a:cxn ang="0">
                  <a:pos x="270" y="194"/>
                </a:cxn>
                <a:cxn ang="0">
                  <a:pos x="260" y="215"/>
                </a:cxn>
                <a:cxn ang="0">
                  <a:pos x="255" y="232"/>
                </a:cxn>
                <a:cxn ang="0">
                  <a:pos x="246" y="246"/>
                </a:cxn>
                <a:cxn ang="0">
                  <a:pos x="231" y="260"/>
                </a:cxn>
                <a:cxn ang="0">
                  <a:pos x="222" y="274"/>
                </a:cxn>
                <a:cxn ang="0">
                  <a:pos x="207" y="285"/>
                </a:cxn>
                <a:cxn ang="0">
                  <a:pos x="193" y="292"/>
                </a:cxn>
                <a:cxn ang="0">
                  <a:pos x="178" y="303"/>
                </a:cxn>
                <a:cxn ang="0">
                  <a:pos x="159" y="306"/>
                </a:cxn>
                <a:cxn ang="0">
                  <a:pos x="140" y="310"/>
                </a:cxn>
                <a:cxn ang="0">
                  <a:pos x="121" y="313"/>
                </a:cxn>
                <a:cxn ang="0">
                  <a:pos x="96" y="317"/>
                </a:cxn>
                <a:cxn ang="0">
                  <a:pos x="72" y="317"/>
                </a:cxn>
                <a:cxn ang="0">
                  <a:pos x="0" y="317"/>
                </a:cxn>
              </a:cxnLst>
              <a:rect l="0" t="0" r="r" b="b"/>
              <a:pathLst>
                <a:path w="289" h="317">
                  <a:moveTo>
                    <a:pt x="289" y="0"/>
                  </a:moveTo>
                  <a:lnTo>
                    <a:pt x="289" y="35"/>
                  </a:lnTo>
                  <a:lnTo>
                    <a:pt x="289" y="67"/>
                  </a:lnTo>
                  <a:lnTo>
                    <a:pt x="289" y="95"/>
                  </a:lnTo>
                  <a:lnTo>
                    <a:pt x="284" y="123"/>
                  </a:lnTo>
                  <a:lnTo>
                    <a:pt x="279" y="151"/>
                  </a:lnTo>
                  <a:lnTo>
                    <a:pt x="275" y="172"/>
                  </a:lnTo>
                  <a:lnTo>
                    <a:pt x="270" y="194"/>
                  </a:lnTo>
                  <a:lnTo>
                    <a:pt x="260" y="215"/>
                  </a:lnTo>
                  <a:lnTo>
                    <a:pt x="255" y="232"/>
                  </a:lnTo>
                  <a:lnTo>
                    <a:pt x="246" y="246"/>
                  </a:lnTo>
                  <a:lnTo>
                    <a:pt x="231" y="260"/>
                  </a:lnTo>
                  <a:lnTo>
                    <a:pt x="222" y="274"/>
                  </a:lnTo>
                  <a:lnTo>
                    <a:pt x="207" y="285"/>
                  </a:lnTo>
                  <a:lnTo>
                    <a:pt x="193" y="292"/>
                  </a:lnTo>
                  <a:lnTo>
                    <a:pt x="178" y="303"/>
                  </a:lnTo>
                  <a:lnTo>
                    <a:pt x="159" y="306"/>
                  </a:lnTo>
                  <a:lnTo>
                    <a:pt x="140" y="310"/>
                  </a:lnTo>
                  <a:lnTo>
                    <a:pt x="121" y="313"/>
                  </a:lnTo>
                  <a:lnTo>
                    <a:pt x="96" y="317"/>
                  </a:lnTo>
                  <a:lnTo>
                    <a:pt x="72" y="317"/>
                  </a:lnTo>
                  <a:lnTo>
                    <a:pt x="0" y="317"/>
                  </a:lnTo>
                </a:path>
              </a:pathLst>
            </a:custGeom>
            <a:noFill/>
            <a:ln w="30163">
              <a:solidFill>
                <a:srgbClr val="000000"/>
              </a:solidFill>
              <a:prstDash val="solid"/>
              <a:round/>
              <a:headEnd/>
              <a:tailEnd/>
            </a:ln>
          </p:spPr>
          <p:txBody>
            <a:bodyPr/>
            <a:lstStyle/>
            <a:p>
              <a:endParaRPr lang="es-ES"/>
            </a:p>
          </p:txBody>
        </p:sp>
        <p:sp>
          <p:nvSpPr>
            <p:cNvPr id="53" name="Freeform 51"/>
            <p:cNvSpPr>
              <a:spLocks/>
            </p:cNvSpPr>
            <p:nvPr/>
          </p:nvSpPr>
          <p:spPr bwMode="auto">
            <a:xfrm>
              <a:off x="2578" y="2278"/>
              <a:ext cx="298" cy="181"/>
            </a:xfrm>
            <a:custGeom>
              <a:avLst/>
              <a:gdLst/>
              <a:ahLst/>
              <a:cxnLst>
                <a:cxn ang="0">
                  <a:pos x="0" y="0"/>
                </a:cxn>
                <a:cxn ang="0">
                  <a:pos x="34" y="0"/>
                </a:cxn>
                <a:cxn ang="0">
                  <a:pos x="63" y="0"/>
                </a:cxn>
                <a:cxn ang="0">
                  <a:pos x="92" y="4"/>
                </a:cxn>
                <a:cxn ang="0">
                  <a:pos x="116" y="4"/>
                </a:cxn>
                <a:cxn ang="0">
                  <a:pos x="140" y="7"/>
                </a:cxn>
                <a:cxn ang="0">
                  <a:pos x="159" y="11"/>
                </a:cxn>
                <a:cxn ang="0">
                  <a:pos x="178" y="14"/>
                </a:cxn>
                <a:cxn ang="0">
                  <a:pos x="198" y="18"/>
                </a:cxn>
                <a:cxn ang="0">
                  <a:pos x="212" y="22"/>
                </a:cxn>
                <a:cxn ang="0">
                  <a:pos x="226" y="29"/>
                </a:cxn>
                <a:cxn ang="0">
                  <a:pos x="241" y="36"/>
                </a:cxn>
                <a:cxn ang="0">
                  <a:pos x="251" y="43"/>
                </a:cxn>
                <a:cxn ang="0">
                  <a:pos x="260" y="50"/>
                </a:cxn>
                <a:cxn ang="0">
                  <a:pos x="270" y="57"/>
                </a:cxn>
                <a:cxn ang="0">
                  <a:pos x="275" y="67"/>
                </a:cxn>
                <a:cxn ang="0">
                  <a:pos x="284" y="78"/>
                </a:cxn>
                <a:cxn ang="0">
                  <a:pos x="289" y="88"/>
                </a:cxn>
                <a:cxn ang="0">
                  <a:pos x="289" y="99"/>
                </a:cxn>
                <a:cxn ang="0">
                  <a:pos x="289" y="113"/>
                </a:cxn>
                <a:cxn ang="0">
                  <a:pos x="289" y="127"/>
                </a:cxn>
                <a:cxn ang="0">
                  <a:pos x="289" y="190"/>
                </a:cxn>
              </a:cxnLst>
              <a:rect l="0" t="0" r="r" b="b"/>
              <a:pathLst>
                <a:path w="289" h="190">
                  <a:moveTo>
                    <a:pt x="0" y="0"/>
                  </a:moveTo>
                  <a:lnTo>
                    <a:pt x="34" y="0"/>
                  </a:lnTo>
                  <a:lnTo>
                    <a:pt x="63" y="0"/>
                  </a:lnTo>
                  <a:lnTo>
                    <a:pt x="92" y="4"/>
                  </a:lnTo>
                  <a:lnTo>
                    <a:pt x="116" y="4"/>
                  </a:lnTo>
                  <a:lnTo>
                    <a:pt x="140" y="7"/>
                  </a:lnTo>
                  <a:lnTo>
                    <a:pt x="159" y="11"/>
                  </a:lnTo>
                  <a:lnTo>
                    <a:pt x="178" y="14"/>
                  </a:lnTo>
                  <a:lnTo>
                    <a:pt x="198" y="18"/>
                  </a:lnTo>
                  <a:lnTo>
                    <a:pt x="212" y="22"/>
                  </a:lnTo>
                  <a:lnTo>
                    <a:pt x="226" y="29"/>
                  </a:lnTo>
                  <a:lnTo>
                    <a:pt x="241" y="36"/>
                  </a:lnTo>
                  <a:lnTo>
                    <a:pt x="251" y="43"/>
                  </a:lnTo>
                  <a:lnTo>
                    <a:pt x="260" y="50"/>
                  </a:lnTo>
                  <a:lnTo>
                    <a:pt x="270" y="57"/>
                  </a:lnTo>
                  <a:lnTo>
                    <a:pt x="275" y="67"/>
                  </a:lnTo>
                  <a:lnTo>
                    <a:pt x="284" y="78"/>
                  </a:lnTo>
                  <a:lnTo>
                    <a:pt x="289" y="88"/>
                  </a:lnTo>
                  <a:lnTo>
                    <a:pt x="289" y="99"/>
                  </a:lnTo>
                  <a:lnTo>
                    <a:pt x="289" y="113"/>
                  </a:lnTo>
                  <a:lnTo>
                    <a:pt x="289" y="127"/>
                  </a:lnTo>
                  <a:lnTo>
                    <a:pt x="289" y="190"/>
                  </a:lnTo>
                </a:path>
              </a:pathLst>
            </a:custGeom>
            <a:noFill/>
            <a:ln w="30163">
              <a:solidFill>
                <a:srgbClr val="000000"/>
              </a:solidFill>
              <a:prstDash val="solid"/>
              <a:round/>
              <a:headEnd/>
              <a:tailEnd/>
            </a:ln>
          </p:spPr>
          <p:txBody>
            <a:bodyPr/>
            <a:lstStyle/>
            <a:p>
              <a:endParaRPr lang="es-ES"/>
            </a:p>
          </p:txBody>
        </p:sp>
        <p:sp>
          <p:nvSpPr>
            <p:cNvPr id="54" name="Freeform 52"/>
            <p:cNvSpPr>
              <a:spLocks/>
            </p:cNvSpPr>
            <p:nvPr/>
          </p:nvSpPr>
          <p:spPr bwMode="auto">
            <a:xfrm>
              <a:off x="2429" y="2278"/>
              <a:ext cx="149" cy="181"/>
            </a:xfrm>
            <a:custGeom>
              <a:avLst/>
              <a:gdLst/>
              <a:ahLst/>
              <a:cxnLst>
                <a:cxn ang="0">
                  <a:pos x="0" y="190"/>
                </a:cxn>
                <a:cxn ang="0">
                  <a:pos x="5" y="169"/>
                </a:cxn>
                <a:cxn ang="0">
                  <a:pos x="5" y="152"/>
                </a:cxn>
                <a:cxn ang="0">
                  <a:pos x="5" y="134"/>
                </a:cxn>
                <a:cxn ang="0">
                  <a:pos x="5" y="116"/>
                </a:cxn>
                <a:cxn ang="0">
                  <a:pos x="5" y="99"/>
                </a:cxn>
                <a:cxn ang="0">
                  <a:pos x="9" y="88"/>
                </a:cxn>
                <a:cxn ang="0">
                  <a:pos x="9" y="74"/>
                </a:cxn>
                <a:cxn ang="0">
                  <a:pos x="14" y="64"/>
                </a:cxn>
                <a:cxn ang="0">
                  <a:pos x="14" y="53"/>
                </a:cxn>
                <a:cxn ang="0">
                  <a:pos x="19" y="43"/>
                </a:cxn>
                <a:cxn ang="0">
                  <a:pos x="24" y="32"/>
                </a:cxn>
                <a:cxn ang="0">
                  <a:pos x="24" y="25"/>
                </a:cxn>
                <a:cxn ang="0">
                  <a:pos x="29" y="22"/>
                </a:cxn>
                <a:cxn ang="0">
                  <a:pos x="33" y="14"/>
                </a:cxn>
                <a:cxn ang="0">
                  <a:pos x="38" y="11"/>
                </a:cxn>
                <a:cxn ang="0">
                  <a:pos x="48" y="7"/>
                </a:cxn>
                <a:cxn ang="0">
                  <a:pos x="53" y="4"/>
                </a:cxn>
                <a:cxn ang="0">
                  <a:pos x="58" y="0"/>
                </a:cxn>
                <a:cxn ang="0">
                  <a:pos x="67" y="0"/>
                </a:cxn>
                <a:cxn ang="0">
                  <a:pos x="72" y="0"/>
                </a:cxn>
                <a:cxn ang="0">
                  <a:pos x="144" y="0"/>
                </a:cxn>
              </a:cxnLst>
              <a:rect l="0" t="0" r="r" b="b"/>
              <a:pathLst>
                <a:path w="144" h="190">
                  <a:moveTo>
                    <a:pt x="0" y="190"/>
                  </a:moveTo>
                  <a:lnTo>
                    <a:pt x="5" y="169"/>
                  </a:lnTo>
                  <a:lnTo>
                    <a:pt x="5" y="152"/>
                  </a:lnTo>
                  <a:lnTo>
                    <a:pt x="5" y="134"/>
                  </a:lnTo>
                  <a:lnTo>
                    <a:pt x="5" y="116"/>
                  </a:lnTo>
                  <a:lnTo>
                    <a:pt x="5" y="99"/>
                  </a:lnTo>
                  <a:lnTo>
                    <a:pt x="9" y="88"/>
                  </a:lnTo>
                  <a:lnTo>
                    <a:pt x="9" y="74"/>
                  </a:lnTo>
                  <a:lnTo>
                    <a:pt x="14" y="64"/>
                  </a:lnTo>
                  <a:lnTo>
                    <a:pt x="14" y="53"/>
                  </a:lnTo>
                  <a:lnTo>
                    <a:pt x="19" y="43"/>
                  </a:lnTo>
                  <a:lnTo>
                    <a:pt x="24" y="32"/>
                  </a:lnTo>
                  <a:lnTo>
                    <a:pt x="24" y="25"/>
                  </a:lnTo>
                  <a:lnTo>
                    <a:pt x="29" y="22"/>
                  </a:lnTo>
                  <a:lnTo>
                    <a:pt x="33" y="14"/>
                  </a:lnTo>
                  <a:lnTo>
                    <a:pt x="38" y="11"/>
                  </a:lnTo>
                  <a:lnTo>
                    <a:pt x="48" y="7"/>
                  </a:lnTo>
                  <a:lnTo>
                    <a:pt x="53" y="4"/>
                  </a:lnTo>
                  <a:lnTo>
                    <a:pt x="58" y="0"/>
                  </a:lnTo>
                  <a:lnTo>
                    <a:pt x="67" y="0"/>
                  </a:lnTo>
                  <a:lnTo>
                    <a:pt x="72" y="0"/>
                  </a:lnTo>
                  <a:lnTo>
                    <a:pt x="144" y="0"/>
                  </a:lnTo>
                </a:path>
              </a:pathLst>
            </a:custGeom>
            <a:noFill/>
            <a:ln w="30226">
              <a:solidFill>
                <a:srgbClr val="000000"/>
              </a:solidFill>
              <a:prstDash val="solid"/>
              <a:round/>
              <a:headEnd type="oval" w="med" len="med"/>
              <a:tailEnd/>
            </a:ln>
          </p:spPr>
          <p:txBody>
            <a:bodyPr/>
            <a:lstStyle/>
            <a:p>
              <a:endParaRPr lang="es-ES"/>
            </a:p>
          </p:txBody>
        </p:sp>
        <p:sp>
          <p:nvSpPr>
            <p:cNvPr id="55" name="Line 53"/>
            <p:cNvSpPr>
              <a:spLocks noChangeShapeType="1"/>
            </p:cNvSpPr>
            <p:nvPr/>
          </p:nvSpPr>
          <p:spPr bwMode="auto">
            <a:xfrm flipH="1">
              <a:off x="3473" y="1553"/>
              <a:ext cx="446" cy="363"/>
            </a:xfrm>
            <a:prstGeom prst="line">
              <a:avLst/>
            </a:prstGeom>
            <a:noFill/>
            <a:ln w="0">
              <a:solidFill>
                <a:srgbClr val="000000"/>
              </a:solidFill>
              <a:round/>
              <a:headEnd/>
              <a:tailEnd/>
            </a:ln>
          </p:spPr>
          <p:txBody>
            <a:bodyPr/>
            <a:lstStyle/>
            <a:p>
              <a:endParaRPr lang="es-ES"/>
            </a:p>
          </p:txBody>
        </p:sp>
        <p:sp>
          <p:nvSpPr>
            <p:cNvPr id="56" name="Freeform 54"/>
            <p:cNvSpPr>
              <a:spLocks/>
            </p:cNvSpPr>
            <p:nvPr/>
          </p:nvSpPr>
          <p:spPr bwMode="auto">
            <a:xfrm>
              <a:off x="3473" y="1863"/>
              <a:ext cx="64" cy="53"/>
            </a:xfrm>
            <a:custGeom>
              <a:avLst/>
              <a:gdLst/>
              <a:ahLst/>
              <a:cxnLst>
                <a:cxn ang="0">
                  <a:pos x="62" y="24"/>
                </a:cxn>
                <a:cxn ang="0">
                  <a:pos x="0" y="56"/>
                </a:cxn>
                <a:cxn ang="0">
                  <a:pos x="38" y="0"/>
                </a:cxn>
                <a:cxn ang="0">
                  <a:pos x="62" y="24"/>
                </a:cxn>
              </a:cxnLst>
              <a:rect l="0" t="0" r="r" b="b"/>
              <a:pathLst>
                <a:path w="62" h="56">
                  <a:moveTo>
                    <a:pt x="62" y="24"/>
                  </a:moveTo>
                  <a:lnTo>
                    <a:pt x="0" y="56"/>
                  </a:lnTo>
                  <a:lnTo>
                    <a:pt x="38" y="0"/>
                  </a:lnTo>
                  <a:lnTo>
                    <a:pt x="62" y="24"/>
                  </a:lnTo>
                  <a:close/>
                </a:path>
              </a:pathLst>
            </a:custGeom>
            <a:solidFill>
              <a:srgbClr val="000000"/>
            </a:solidFill>
            <a:ln w="0">
              <a:solidFill>
                <a:srgbClr val="000000"/>
              </a:solidFill>
              <a:prstDash val="solid"/>
              <a:round/>
              <a:headEnd/>
              <a:tailEnd/>
            </a:ln>
          </p:spPr>
          <p:txBody>
            <a:bodyPr/>
            <a:lstStyle/>
            <a:p>
              <a:endParaRPr lang="es-ES"/>
            </a:p>
          </p:txBody>
        </p:sp>
        <p:sp>
          <p:nvSpPr>
            <p:cNvPr id="57" name="Line 55"/>
            <p:cNvSpPr>
              <a:spLocks noChangeShapeType="1"/>
            </p:cNvSpPr>
            <p:nvPr/>
          </p:nvSpPr>
          <p:spPr bwMode="auto">
            <a:xfrm flipH="1">
              <a:off x="3026" y="1192"/>
              <a:ext cx="671" cy="844"/>
            </a:xfrm>
            <a:prstGeom prst="line">
              <a:avLst/>
            </a:prstGeom>
            <a:noFill/>
            <a:ln w="0">
              <a:solidFill>
                <a:srgbClr val="000000"/>
              </a:solidFill>
              <a:round/>
              <a:headEnd/>
              <a:tailEnd/>
            </a:ln>
          </p:spPr>
          <p:txBody>
            <a:bodyPr/>
            <a:lstStyle/>
            <a:p>
              <a:endParaRPr lang="es-ES"/>
            </a:p>
          </p:txBody>
        </p:sp>
        <p:sp>
          <p:nvSpPr>
            <p:cNvPr id="58" name="Freeform 56"/>
            <p:cNvSpPr>
              <a:spLocks/>
            </p:cNvSpPr>
            <p:nvPr/>
          </p:nvSpPr>
          <p:spPr bwMode="auto">
            <a:xfrm>
              <a:off x="3026" y="1980"/>
              <a:ext cx="53" cy="56"/>
            </a:xfrm>
            <a:custGeom>
              <a:avLst/>
              <a:gdLst/>
              <a:ahLst/>
              <a:cxnLst>
                <a:cxn ang="0">
                  <a:pos x="52" y="14"/>
                </a:cxn>
                <a:cxn ang="0">
                  <a:pos x="0" y="59"/>
                </a:cxn>
                <a:cxn ang="0">
                  <a:pos x="24" y="0"/>
                </a:cxn>
                <a:cxn ang="0">
                  <a:pos x="52" y="14"/>
                </a:cxn>
              </a:cxnLst>
              <a:rect l="0" t="0" r="r" b="b"/>
              <a:pathLst>
                <a:path w="52" h="59">
                  <a:moveTo>
                    <a:pt x="52" y="14"/>
                  </a:moveTo>
                  <a:lnTo>
                    <a:pt x="0" y="59"/>
                  </a:lnTo>
                  <a:lnTo>
                    <a:pt x="24" y="0"/>
                  </a:lnTo>
                  <a:lnTo>
                    <a:pt x="52" y="14"/>
                  </a:lnTo>
                  <a:close/>
                </a:path>
              </a:pathLst>
            </a:custGeom>
            <a:solidFill>
              <a:srgbClr val="000000"/>
            </a:solidFill>
            <a:ln w="0">
              <a:solidFill>
                <a:srgbClr val="000000"/>
              </a:solidFill>
              <a:prstDash val="solid"/>
              <a:round/>
              <a:headEnd/>
              <a:tailEnd/>
            </a:ln>
          </p:spPr>
          <p:txBody>
            <a:bodyPr/>
            <a:lstStyle/>
            <a:p>
              <a:endParaRPr lang="es-ES"/>
            </a:p>
          </p:txBody>
        </p:sp>
        <p:sp>
          <p:nvSpPr>
            <p:cNvPr id="59" name="Line 57"/>
            <p:cNvSpPr>
              <a:spLocks noChangeShapeType="1"/>
            </p:cNvSpPr>
            <p:nvPr/>
          </p:nvSpPr>
          <p:spPr bwMode="auto">
            <a:xfrm flipH="1" flipV="1">
              <a:off x="2876" y="2641"/>
              <a:ext cx="895" cy="664"/>
            </a:xfrm>
            <a:prstGeom prst="line">
              <a:avLst/>
            </a:prstGeom>
            <a:noFill/>
            <a:ln w="0">
              <a:solidFill>
                <a:srgbClr val="000000"/>
              </a:solidFill>
              <a:round/>
              <a:headEnd/>
              <a:tailEnd/>
            </a:ln>
          </p:spPr>
          <p:txBody>
            <a:bodyPr/>
            <a:lstStyle/>
            <a:p>
              <a:endParaRPr lang="es-ES"/>
            </a:p>
          </p:txBody>
        </p:sp>
        <p:sp>
          <p:nvSpPr>
            <p:cNvPr id="60" name="Freeform 58"/>
            <p:cNvSpPr>
              <a:spLocks/>
            </p:cNvSpPr>
            <p:nvPr/>
          </p:nvSpPr>
          <p:spPr bwMode="auto">
            <a:xfrm>
              <a:off x="2876" y="2641"/>
              <a:ext cx="69" cy="50"/>
            </a:xfrm>
            <a:custGeom>
              <a:avLst/>
              <a:gdLst/>
              <a:ahLst/>
              <a:cxnLst>
                <a:cxn ang="0">
                  <a:pos x="43" y="53"/>
                </a:cxn>
                <a:cxn ang="0">
                  <a:pos x="0" y="0"/>
                </a:cxn>
                <a:cxn ang="0">
                  <a:pos x="67" y="32"/>
                </a:cxn>
                <a:cxn ang="0">
                  <a:pos x="43" y="53"/>
                </a:cxn>
              </a:cxnLst>
              <a:rect l="0" t="0" r="r" b="b"/>
              <a:pathLst>
                <a:path w="67" h="53">
                  <a:moveTo>
                    <a:pt x="43" y="53"/>
                  </a:moveTo>
                  <a:lnTo>
                    <a:pt x="0" y="0"/>
                  </a:lnTo>
                  <a:lnTo>
                    <a:pt x="67" y="32"/>
                  </a:lnTo>
                  <a:lnTo>
                    <a:pt x="43" y="53"/>
                  </a:lnTo>
                  <a:close/>
                </a:path>
              </a:pathLst>
            </a:custGeom>
            <a:solidFill>
              <a:srgbClr val="000000"/>
            </a:solidFill>
            <a:ln w="0">
              <a:solidFill>
                <a:srgbClr val="000000"/>
              </a:solidFill>
              <a:prstDash val="solid"/>
              <a:round/>
              <a:headEnd/>
              <a:tailEnd/>
            </a:ln>
          </p:spPr>
          <p:txBody>
            <a:bodyPr/>
            <a:lstStyle/>
            <a:p>
              <a:endParaRPr lang="es-ES"/>
            </a:p>
          </p:txBody>
        </p:sp>
        <p:sp>
          <p:nvSpPr>
            <p:cNvPr id="61" name="Line 59"/>
            <p:cNvSpPr>
              <a:spLocks noChangeShapeType="1"/>
            </p:cNvSpPr>
            <p:nvPr/>
          </p:nvSpPr>
          <p:spPr bwMode="auto">
            <a:xfrm flipH="1" flipV="1">
              <a:off x="2950" y="3004"/>
              <a:ext cx="747" cy="483"/>
            </a:xfrm>
            <a:prstGeom prst="line">
              <a:avLst/>
            </a:prstGeom>
            <a:noFill/>
            <a:ln w="0">
              <a:solidFill>
                <a:srgbClr val="000000"/>
              </a:solidFill>
              <a:round/>
              <a:headEnd/>
              <a:tailEnd/>
            </a:ln>
          </p:spPr>
          <p:txBody>
            <a:bodyPr/>
            <a:lstStyle/>
            <a:p>
              <a:endParaRPr lang="es-ES"/>
            </a:p>
          </p:txBody>
        </p:sp>
        <p:sp>
          <p:nvSpPr>
            <p:cNvPr id="62" name="Freeform 60"/>
            <p:cNvSpPr>
              <a:spLocks/>
            </p:cNvSpPr>
            <p:nvPr/>
          </p:nvSpPr>
          <p:spPr bwMode="auto">
            <a:xfrm>
              <a:off x="2950" y="3004"/>
              <a:ext cx="70" cy="49"/>
            </a:xfrm>
            <a:custGeom>
              <a:avLst/>
              <a:gdLst/>
              <a:ahLst/>
              <a:cxnLst>
                <a:cxn ang="0">
                  <a:pos x="44" y="52"/>
                </a:cxn>
                <a:cxn ang="0">
                  <a:pos x="0" y="0"/>
                </a:cxn>
                <a:cxn ang="0">
                  <a:pos x="68" y="28"/>
                </a:cxn>
                <a:cxn ang="0">
                  <a:pos x="44" y="52"/>
                </a:cxn>
              </a:cxnLst>
              <a:rect l="0" t="0" r="r" b="b"/>
              <a:pathLst>
                <a:path w="68" h="52">
                  <a:moveTo>
                    <a:pt x="44" y="52"/>
                  </a:moveTo>
                  <a:lnTo>
                    <a:pt x="0" y="0"/>
                  </a:lnTo>
                  <a:lnTo>
                    <a:pt x="68" y="28"/>
                  </a:lnTo>
                  <a:lnTo>
                    <a:pt x="44" y="52"/>
                  </a:lnTo>
                  <a:close/>
                </a:path>
              </a:pathLst>
            </a:custGeom>
            <a:solidFill>
              <a:srgbClr val="000000"/>
            </a:solidFill>
            <a:ln w="0">
              <a:solidFill>
                <a:srgbClr val="000000"/>
              </a:solidFill>
              <a:prstDash val="solid"/>
              <a:round/>
              <a:headEnd/>
              <a:tailEnd/>
            </a:ln>
          </p:spPr>
          <p:txBody>
            <a:bodyPr/>
            <a:lstStyle/>
            <a:p>
              <a:endParaRPr lang="es-ES"/>
            </a:p>
          </p:txBody>
        </p:sp>
        <p:sp>
          <p:nvSpPr>
            <p:cNvPr id="63" name="Line 61"/>
            <p:cNvSpPr>
              <a:spLocks noChangeShapeType="1"/>
            </p:cNvSpPr>
            <p:nvPr/>
          </p:nvSpPr>
          <p:spPr bwMode="auto">
            <a:xfrm flipH="1" flipV="1">
              <a:off x="3026" y="3365"/>
              <a:ext cx="595" cy="303"/>
            </a:xfrm>
            <a:prstGeom prst="line">
              <a:avLst/>
            </a:prstGeom>
            <a:noFill/>
            <a:ln w="0">
              <a:solidFill>
                <a:srgbClr val="000000"/>
              </a:solidFill>
              <a:round/>
              <a:headEnd/>
              <a:tailEnd/>
            </a:ln>
          </p:spPr>
          <p:txBody>
            <a:bodyPr/>
            <a:lstStyle/>
            <a:p>
              <a:endParaRPr lang="es-ES"/>
            </a:p>
          </p:txBody>
        </p:sp>
        <p:sp>
          <p:nvSpPr>
            <p:cNvPr id="64" name="Freeform 62"/>
            <p:cNvSpPr>
              <a:spLocks/>
            </p:cNvSpPr>
            <p:nvPr/>
          </p:nvSpPr>
          <p:spPr bwMode="auto">
            <a:xfrm>
              <a:off x="3026" y="3365"/>
              <a:ext cx="74" cy="44"/>
            </a:xfrm>
            <a:custGeom>
              <a:avLst/>
              <a:gdLst/>
              <a:ahLst/>
              <a:cxnLst>
                <a:cxn ang="0">
                  <a:pos x="52" y="46"/>
                </a:cxn>
                <a:cxn ang="0">
                  <a:pos x="0" y="0"/>
                </a:cxn>
                <a:cxn ang="0">
                  <a:pos x="72" y="21"/>
                </a:cxn>
                <a:cxn ang="0">
                  <a:pos x="52" y="46"/>
                </a:cxn>
              </a:cxnLst>
              <a:rect l="0" t="0" r="r" b="b"/>
              <a:pathLst>
                <a:path w="72" h="46">
                  <a:moveTo>
                    <a:pt x="52" y="46"/>
                  </a:moveTo>
                  <a:lnTo>
                    <a:pt x="0" y="0"/>
                  </a:lnTo>
                  <a:lnTo>
                    <a:pt x="72" y="21"/>
                  </a:lnTo>
                  <a:lnTo>
                    <a:pt x="52" y="46"/>
                  </a:lnTo>
                  <a:close/>
                </a:path>
              </a:pathLst>
            </a:custGeom>
            <a:solidFill>
              <a:srgbClr val="000000"/>
            </a:solidFill>
            <a:ln w="0">
              <a:solidFill>
                <a:srgbClr val="000000"/>
              </a:solidFill>
              <a:prstDash val="solid"/>
              <a:round/>
              <a:headEnd/>
              <a:tailEnd/>
            </a:ln>
          </p:spPr>
          <p:txBody>
            <a:bodyPr/>
            <a:lstStyle/>
            <a:p>
              <a:endParaRPr lang="es-ES"/>
            </a:p>
          </p:txBody>
        </p:sp>
        <p:sp>
          <p:nvSpPr>
            <p:cNvPr id="65" name="Line 63"/>
            <p:cNvSpPr>
              <a:spLocks noChangeShapeType="1"/>
            </p:cNvSpPr>
            <p:nvPr/>
          </p:nvSpPr>
          <p:spPr bwMode="auto">
            <a:xfrm flipV="1">
              <a:off x="1087" y="2701"/>
              <a:ext cx="1044" cy="544"/>
            </a:xfrm>
            <a:prstGeom prst="line">
              <a:avLst/>
            </a:prstGeom>
            <a:noFill/>
            <a:ln w="0">
              <a:solidFill>
                <a:srgbClr val="000000"/>
              </a:solidFill>
              <a:round/>
              <a:headEnd/>
              <a:tailEnd/>
            </a:ln>
          </p:spPr>
          <p:txBody>
            <a:bodyPr/>
            <a:lstStyle/>
            <a:p>
              <a:endParaRPr lang="es-ES"/>
            </a:p>
          </p:txBody>
        </p:sp>
        <p:sp>
          <p:nvSpPr>
            <p:cNvPr id="66" name="Freeform 64"/>
            <p:cNvSpPr>
              <a:spLocks/>
            </p:cNvSpPr>
            <p:nvPr/>
          </p:nvSpPr>
          <p:spPr bwMode="auto">
            <a:xfrm>
              <a:off x="2056" y="2701"/>
              <a:ext cx="75" cy="44"/>
            </a:xfrm>
            <a:custGeom>
              <a:avLst/>
              <a:gdLst/>
              <a:ahLst/>
              <a:cxnLst>
                <a:cxn ang="0">
                  <a:pos x="0" y="21"/>
                </a:cxn>
                <a:cxn ang="0">
                  <a:pos x="72" y="0"/>
                </a:cxn>
                <a:cxn ang="0">
                  <a:pos x="24" y="46"/>
                </a:cxn>
                <a:cxn ang="0">
                  <a:pos x="0" y="21"/>
                </a:cxn>
              </a:cxnLst>
              <a:rect l="0" t="0" r="r" b="b"/>
              <a:pathLst>
                <a:path w="72" h="46">
                  <a:moveTo>
                    <a:pt x="0" y="21"/>
                  </a:moveTo>
                  <a:lnTo>
                    <a:pt x="72" y="0"/>
                  </a:lnTo>
                  <a:lnTo>
                    <a:pt x="24" y="46"/>
                  </a:lnTo>
                  <a:lnTo>
                    <a:pt x="0" y="21"/>
                  </a:lnTo>
                  <a:close/>
                </a:path>
              </a:pathLst>
            </a:custGeom>
            <a:solidFill>
              <a:srgbClr val="000000"/>
            </a:solidFill>
            <a:ln w="0">
              <a:solidFill>
                <a:srgbClr val="000000"/>
              </a:solidFill>
              <a:prstDash val="solid"/>
              <a:round/>
              <a:headEnd/>
              <a:tailEnd/>
            </a:ln>
          </p:spPr>
          <p:txBody>
            <a:bodyPr/>
            <a:lstStyle/>
            <a:p>
              <a:endParaRPr lang="es-ES"/>
            </a:p>
          </p:txBody>
        </p:sp>
        <p:sp>
          <p:nvSpPr>
            <p:cNvPr id="67" name="Line 65"/>
            <p:cNvSpPr>
              <a:spLocks noChangeShapeType="1"/>
            </p:cNvSpPr>
            <p:nvPr/>
          </p:nvSpPr>
          <p:spPr bwMode="auto">
            <a:xfrm flipV="1">
              <a:off x="1087" y="3004"/>
              <a:ext cx="969" cy="241"/>
            </a:xfrm>
            <a:prstGeom prst="line">
              <a:avLst/>
            </a:prstGeom>
            <a:noFill/>
            <a:ln w="0">
              <a:solidFill>
                <a:srgbClr val="000000"/>
              </a:solidFill>
              <a:round/>
              <a:headEnd/>
              <a:tailEnd/>
            </a:ln>
          </p:spPr>
          <p:txBody>
            <a:bodyPr/>
            <a:lstStyle/>
            <a:p>
              <a:endParaRPr lang="es-ES"/>
            </a:p>
          </p:txBody>
        </p:sp>
        <p:sp>
          <p:nvSpPr>
            <p:cNvPr id="68" name="Freeform 66"/>
            <p:cNvSpPr>
              <a:spLocks/>
            </p:cNvSpPr>
            <p:nvPr/>
          </p:nvSpPr>
          <p:spPr bwMode="auto">
            <a:xfrm>
              <a:off x="1981" y="3004"/>
              <a:ext cx="75" cy="33"/>
            </a:xfrm>
            <a:custGeom>
              <a:avLst/>
              <a:gdLst/>
              <a:ahLst/>
              <a:cxnLst>
                <a:cxn ang="0">
                  <a:pos x="0" y="3"/>
                </a:cxn>
                <a:cxn ang="0">
                  <a:pos x="73" y="0"/>
                </a:cxn>
                <a:cxn ang="0">
                  <a:pos x="10" y="35"/>
                </a:cxn>
                <a:cxn ang="0">
                  <a:pos x="0" y="3"/>
                </a:cxn>
              </a:cxnLst>
              <a:rect l="0" t="0" r="r" b="b"/>
              <a:pathLst>
                <a:path w="73" h="35">
                  <a:moveTo>
                    <a:pt x="0" y="3"/>
                  </a:moveTo>
                  <a:lnTo>
                    <a:pt x="73" y="0"/>
                  </a:lnTo>
                  <a:lnTo>
                    <a:pt x="10" y="35"/>
                  </a:lnTo>
                  <a:lnTo>
                    <a:pt x="0" y="3"/>
                  </a:lnTo>
                  <a:close/>
                </a:path>
              </a:pathLst>
            </a:custGeom>
            <a:solidFill>
              <a:srgbClr val="000000"/>
            </a:solidFill>
            <a:ln w="0">
              <a:solidFill>
                <a:srgbClr val="000000"/>
              </a:solidFill>
              <a:prstDash val="solid"/>
              <a:round/>
              <a:headEnd/>
              <a:tailEnd/>
            </a:ln>
          </p:spPr>
          <p:txBody>
            <a:bodyPr/>
            <a:lstStyle/>
            <a:p>
              <a:endParaRPr lang="es-ES"/>
            </a:p>
          </p:txBody>
        </p:sp>
        <p:sp>
          <p:nvSpPr>
            <p:cNvPr id="69" name="Line 67"/>
            <p:cNvSpPr>
              <a:spLocks noChangeShapeType="1"/>
            </p:cNvSpPr>
            <p:nvPr/>
          </p:nvSpPr>
          <p:spPr bwMode="auto">
            <a:xfrm>
              <a:off x="1087" y="3245"/>
              <a:ext cx="745" cy="60"/>
            </a:xfrm>
            <a:prstGeom prst="line">
              <a:avLst/>
            </a:prstGeom>
            <a:noFill/>
            <a:ln w="0">
              <a:solidFill>
                <a:srgbClr val="000000"/>
              </a:solidFill>
              <a:round/>
              <a:headEnd/>
              <a:tailEnd/>
            </a:ln>
          </p:spPr>
          <p:txBody>
            <a:bodyPr/>
            <a:lstStyle/>
            <a:p>
              <a:endParaRPr lang="es-ES"/>
            </a:p>
          </p:txBody>
        </p:sp>
        <p:sp>
          <p:nvSpPr>
            <p:cNvPr id="70" name="Freeform 68"/>
            <p:cNvSpPr>
              <a:spLocks/>
            </p:cNvSpPr>
            <p:nvPr/>
          </p:nvSpPr>
          <p:spPr bwMode="auto">
            <a:xfrm>
              <a:off x="1758" y="3285"/>
              <a:ext cx="74" cy="31"/>
            </a:xfrm>
            <a:custGeom>
              <a:avLst/>
              <a:gdLst/>
              <a:ahLst/>
              <a:cxnLst>
                <a:cxn ang="0">
                  <a:pos x="0" y="0"/>
                </a:cxn>
                <a:cxn ang="0">
                  <a:pos x="72" y="21"/>
                </a:cxn>
                <a:cxn ang="0">
                  <a:pos x="0" y="32"/>
                </a:cxn>
                <a:cxn ang="0">
                  <a:pos x="0" y="0"/>
                </a:cxn>
              </a:cxnLst>
              <a:rect l="0" t="0" r="r" b="b"/>
              <a:pathLst>
                <a:path w="72" h="32">
                  <a:moveTo>
                    <a:pt x="0" y="0"/>
                  </a:moveTo>
                  <a:lnTo>
                    <a:pt x="72" y="21"/>
                  </a:lnTo>
                  <a:lnTo>
                    <a:pt x="0" y="32"/>
                  </a:lnTo>
                  <a:lnTo>
                    <a:pt x="0" y="0"/>
                  </a:lnTo>
                  <a:close/>
                </a:path>
              </a:pathLst>
            </a:custGeom>
            <a:solidFill>
              <a:srgbClr val="000000"/>
            </a:solidFill>
            <a:ln w="0">
              <a:solidFill>
                <a:srgbClr val="000000"/>
              </a:solidFill>
              <a:prstDash val="solid"/>
              <a:round/>
              <a:headEnd/>
              <a:tailEnd/>
            </a:ln>
          </p:spPr>
          <p:txBody>
            <a:bodyPr/>
            <a:lstStyle/>
            <a:p>
              <a:endParaRPr lang="es-ES"/>
            </a:p>
          </p:txBody>
        </p:sp>
        <p:sp>
          <p:nvSpPr>
            <p:cNvPr id="71" name="Line 69"/>
            <p:cNvSpPr>
              <a:spLocks noChangeShapeType="1"/>
            </p:cNvSpPr>
            <p:nvPr/>
          </p:nvSpPr>
          <p:spPr bwMode="auto">
            <a:xfrm>
              <a:off x="2592" y="2448"/>
              <a:ext cx="1890" cy="399"/>
            </a:xfrm>
            <a:prstGeom prst="line">
              <a:avLst/>
            </a:prstGeom>
            <a:noFill/>
            <a:ln w="38100">
              <a:solidFill>
                <a:srgbClr val="000000"/>
              </a:solidFill>
              <a:prstDash val="sysDot"/>
              <a:round/>
              <a:headEnd/>
              <a:tailEnd type="arrow" w="med" len="sm"/>
            </a:ln>
          </p:spPr>
          <p:txBody>
            <a:bodyPr/>
            <a:lstStyle/>
            <a:p>
              <a:endParaRPr lang="es-ES"/>
            </a:p>
          </p:txBody>
        </p:sp>
        <p:sp>
          <p:nvSpPr>
            <p:cNvPr id="72" name="Line 70"/>
            <p:cNvSpPr>
              <a:spLocks noChangeShapeType="1"/>
            </p:cNvSpPr>
            <p:nvPr/>
          </p:nvSpPr>
          <p:spPr bwMode="auto">
            <a:xfrm>
              <a:off x="1608" y="1312"/>
              <a:ext cx="821" cy="1027"/>
            </a:xfrm>
            <a:prstGeom prst="line">
              <a:avLst/>
            </a:prstGeom>
            <a:noFill/>
            <a:ln w="0">
              <a:solidFill>
                <a:srgbClr val="000000"/>
              </a:solidFill>
              <a:round/>
              <a:headEnd/>
              <a:tailEnd/>
            </a:ln>
          </p:spPr>
          <p:txBody>
            <a:bodyPr/>
            <a:lstStyle/>
            <a:p>
              <a:endParaRPr lang="es-ES"/>
            </a:p>
          </p:txBody>
        </p:sp>
        <p:sp>
          <p:nvSpPr>
            <p:cNvPr id="73" name="Freeform 71"/>
            <p:cNvSpPr>
              <a:spLocks/>
            </p:cNvSpPr>
            <p:nvPr/>
          </p:nvSpPr>
          <p:spPr bwMode="auto">
            <a:xfrm>
              <a:off x="2374" y="2278"/>
              <a:ext cx="55" cy="61"/>
            </a:xfrm>
            <a:custGeom>
              <a:avLst/>
              <a:gdLst/>
              <a:ahLst/>
              <a:cxnLst>
                <a:cxn ang="0">
                  <a:pos x="29" y="0"/>
                </a:cxn>
                <a:cxn ang="0">
                  <a:pos x="53" y="64"/>
                </a:cxn>
                <a:cxn ang="0">
                  <a:pos x="0" y="18"/>
                </a:cxn>
                <a:cxn ang="0">
                  <a:pos x="29" y="0"/>
                </a:cxn>
              </a:cxnLst>
              <a:rect l="0" t="0" r="r" b="b"/>
              <a:pathLst>
                <a:path w="53" h="64">
                  <a:moveTo>
                    <a:pt x="29" y="0"/>
                  </a:moveTo>
                  <a:lnTo>
                    <a:pt x="53" y="64"/>
                  </a:lnTo>
                  <a:lnTo>
                    <a:pt x="0" y="18"/>
                  </a:lnTo>
                  <a:lnTo>
                    <a:pt x="29" y="0"/>
                  </a:lnTo>
                  <a:close/>
                </a:path>
              </a:pathLst>
            </a:custGeom>
            <a:solidFill>
              <a:srgbClr val="000000"/>
            </a:solidFill>
            <a:ln w="0">
              <a:solidFill>
                <a:srgbClr val="000000"/>
              </a:solidFill>
              <a:prstDash val="solid"/>
              <a:round/>
              <a:headEnd/>
              <a:tailEnd/>
            </a:ln>
          </p:spPr>
          <p:txBody>
            <a:bodyPr/>
            <a:lstStyle/>
            <a:p>
              <a:endParaRPr lang="es-ES"/>
            </a:p>
          </p:txBody>
        </p:sp>
        <p:sp>
          <p:nvSpPr>
            <p:cNvPr id="74" name="Line 72"/>
            <p:cNvSpPr>
              <a:spLocks noChangeShapeType="1"/>
            </p:cNvSpPr>
            <p:nvPr/>
          </p:nvSpPr>
          <p:spPr bwMode="auto">
            <a:xfrm flipV="1">
              <a:off x="1161" y="1735"/>
              <a:ext cx="299" cy="301"/>
            </a:xfrm>
            <a:prstGeom prst="line">
              <a:avLst/>
            </a:prstGeom>
            <a:noFill/>
            <a:ln w="0">
              <a:solidFill>
                <a:srgbClr val="000000"/>
              </a:solidFill>
              <a:round/>
              <a:headEnd/>
              <a:tailEnd/>
            </a:ln>
          </p:spPr>
          <p:txBody>
            <a:bodyPr/>
            <a:lstStyle/>
            <a:p>
              <a:endParaRPr lang="es-ES"/>
            </a:p>
          </p:txBody>
        </p:sp>
        <p:sp>
          <p:nvSpPr>
            <p:cNvPr id="75" name="Freeform 73"/>
            <p:cNvSpPr>
              <a:spLocks/>
            </p:cNvSpPr>
            <p:nvPr/>
          </p:nvSpPr>
          <p:spPr bwMode="auto">
            <a:xfrm>
              <a:off x="1359" y="1735"/>
              <a:ext cx="60" cy="57"/>
            </a:xfrm>
            <a:custGeom>
              <a:avLst/>
              <a:gdLst/>
              <a:ahLst/>
              <a:cxnLst>
                <a:cxn ang="0">
                  <a:pos x="0" y="39"/>
                </a:cxn>
                <a:cxn ang="0">
                  <a:pos x="58" y="0"/>
                </a:cxn>
                <a:cxn ang="0">
                  <a:pos x="29" y="60"/>
                </a:cxn>
                <a:cxn ang="0">
                  <a:pos x="0" y="39"/>
                </a:cxn>
              </a:cxnLst>
              <a:rect l="0" t="0" r="r" b="b"/>
              <a:pathLst>
                <a:path w="58" h="60">
                  <a:moveTo>
                    <a:pt x="0" y="39"/>
                  </a:moveTo>
                  <a:lnTo>
                    <a:pt x="58" y="0"/>
                  </a:lnTo>
                  <a:lnTo>
                    <a:pt x="29" y="60"/>
                  </a:lnTo>
                  <a:lnTo>
                    <a:pt x="0" y="39"/>
                  </a:lnTo>
                  <a:close/>
                </a:path>
              </a:pathLst>
            </a:custGeom>
            <a:solidFill>
              <a:srgbClr val="000000"/>
            </a:solidFill>
            <a:ln w="0">
              <a:solidFill>
                <a:srgbClr val="000000"/>
              </a:solidFill>
              <a:prstDash val="solid"/>
              <a:round/>
              <a:headEnd/>
              <a:tailEnd/>
            </a:ln>
          </p:spPr>
          <p:txBody>
            <a:bodyPr/>
            <a:lstStyle/>
            <a:p>
              <a:endParaRPr lang="es-ES"/>
            </a:p>
          </p:txBody>
        </p:sp>
        <p:sp>
          <p:nvSpPr>
            <p:cNvPr id="76" name="Line 74"/>
            <p:cNvSpPr>
              <a:spLocks noChangeShapeType="1"/>
            </p:cNvSpPr>
            <p:nvPr/>
          </p:nvSpPr>
          <p:spPr bwMode="auto">
            <a:xfrm>
              <a:off x="3621" y="3668"/>
              <a:ext cx="199" cy="1"/>
            </a:xfrm>
            <a:prstGeom prst="line">
              <a:avLst/>
            </a:prstGeom>
            <a:noFill/>
            <a:ln w="0">
              <a:solidFill>
                <a:srgbClr val="000000"/>
              </a:solidFill>
              <a:round/>
              <a:headEnd/>
              <a:tailEnd/>
            </a:ln>
          </p:spPr>
          <p:txBody>
            <a:bodyPr/>
            <a:lstStyle/>
            <a:p>
              <a:endParaRPr lang="es-ES"/>
            </a:p>
          </p:txBody>
        </p:sp>
        <p:sp>
          <p:nvSpPr>
            <p:cNvPr id="77" name="Line 75"/>
            <p:cNvSpPr>
              <a:spLocks noChangeShapeType="1"/>
            </p:cNvSpPr>
            <p:nvPr/>
          </p:nvSpPr>
          <p:spPr bwMode="auto">
            <a:xfrm>
              <a:off x="1161" y="2036"/>
              <a:ext cx="895" cy="303"/>
            </a:xfrm>
            <a:prstGeom prst="line">
              <a:avLst/>
            </a:prstGeom>
            <a:noFill/>
            <a:ln w="0">
              <a:solidFill>
                <a:srgbClr val="000000"/>
              </a:solidFill>
              <a:round/>
              <a:headEnd/>
              <a:tailEnd/>
            </a:ln>
          </p:spPr>
          <p:txBody>
            <a:bodyPr/>
            <a:lstStyle/>
            <a:p>
              <a:endParaRPr lang="es-ES"/>
            </a:p>
          </p:txBody>
        </p:sp>
        <p:sp>
          <p:nvSpPr>
            <p:cNvPr id="78" name="Freeform 76"/>
            <p:cNvSpPr>
              <a:spLocks/>
            </p:cNvSpPr>
            <p:nvPr/>
          </p:nvSpPr>
          <p:spPr bwMode="auto">
            <a:xfrm>
              <a:off x="1981" y="2302"/>
              <a:ext cx="75" cy="37"/>
            </a:xfrm>
            <a:custGeom>
              <a:avLst/>
              <a:gdLst/>
              <a:ahLst/>
              <a:cxnLst>
                <a:cxn ang="0">
                  <a:pos x="15" y="0"/>
                </a:cxn>
                <a:cxn ang="0">
                  <a:pos x="73" y="39"/>
                </a:cxn>
                <a:cxn ang="0">
                  <a:pos x="0" y="28"/>
                </a:cxn>
                <a:cxn ang="0">
                  <a:pos x="15" y="0"/>
                </a:cxn>
              </a:cxnLst>
              <a:rect l="0" t="0" r="r" b="b"/>
              <a:pathLst>
                <a:path w="73" h="39">
                  <a:moveTo>
                    <a:pt x="15" y="0"/>
                  </a:moveTo>
                  <a:lnTo>
                    <a:pt x="73" y="39"/>
                  </a:lnTo>
                  <a:lnTo>
                    <a:pt x="0" y="28"/>
                  </a:lnTo>
                  <a:lnTo>
                    <a:pt x="15" y="0"/>
                  </a:lnTo>
                  <a:close/>
                </a:path>
              </a:pathLst>
            </a:custGeom>
            <a:solidFill>
              <a:srgbClr val="000000"/>
            </a:solidFill>
            <a:ln w="0">
              <a:solidFill>
                <a:srgbClr val="000000"/>
              </a:solidFill>
              <a:prstDash val="solid"/>
              <a:round/>
              <a:headEnd/>
              <a:tailEnd/>
            </a:ln>
          </p:spPr>
          <p:txBody>
            <a:bodyPr/>
            <a:lstStyle/>
            <a:p>
              <a:endParaRPr lang="es-ES"/>
            </a:p>
          </p:txBody>
        </p:sp>
        <p:sp>
          <p:nvSpPr>
            <p:cNvPr id="79" name="Line 77"/>
            <p:cNvSpPr>
              <a:spLocks noChangeShapeType="1"/>
            </p:cNvSpPr>
            <p:nvPr/>
          </p:nvSpPr>
          <p:spPr bwMode="auto">
            <a:xfrm>
              <a:off x="1310" y="1312"/>
              <a:ext cx="298" cy="1"/>
            </a:xfrm>
            <a:prstGeom prst="line">
              <a:avLst/>
            </a:prstGeom>
            <a:noFill/>
            <a:ln w="0">
              <a:solidFill>
                <a:srgbClr val="000000"/>
              </a:solidFill>
              <a:round/>
              <a:headEnd/>
              <a:tailEnd/>
            </a:ln>
          </p:spPr>
          <p:txBody>
            <a:bodyPr/>
            <a:lstStyle/>
            <a:p>
              <a:endParaRPr lang="es-ES"/>
            </a:p>
          </p:txBody>
        </p:sp>
        <p:sp>
          <p:nvSpPr>
            <p:cNvPr id="80" name="Line 78"/>
            <p:cNvSpPr>
              <a:spLocks noChangeShapeType="1"/>
            </p:cNvSpPr>
            <p:nvPr/>
          </p:nvSpPr>
          <p:spPr bwMode="auto">
            <a:xfrm>
              <a:off x="3697" y="1192"/>
              <a:ext cx="431" cy="0"/>
            </a:xfrm>
            <a:prstGeom prst="line">
              <a:avLst/>
            </a:prstGeom>
            <a:noFill/>
            <a:ln w="0">
              <a:solidFill>
                <a:srgbClr val="000000"/>
              </a:solidFill>
              <a:round/>
              <a:headEnd/>
              <a:tailEnd/>
            </a:ln>
          </p:spPr>
          <p:txBody>
            <a:bodyPr/>
            <a:lstStyle/>
            <a:p>
              <a:endParaRPr lang="es-ES"/>
            </a:p>
          </p:txBody>
        </p:sp>
        <p:sp>
          <p:nvSpPr>
            <p:cNvPr id="81" name="Line 79"/>
            <p:cNvSpPr>
              <a:spLocks noChangeShapeType="1"/>
            </p:cNvSpPr>
            <p:nvPr/>
          </p:nvSpPr>
          <p:spPr bwMode="auto">
            <a:xfrm>
              <a:off x="3919" y="1553"/>
              <a:ext cx="209" cy="1"/>
            </a:xfrm>
            <a:prstGeom prst="line">
              <a:avLst/>
            </a:prstGeom>
            <a:noFill/>
            <a:ln w="0">
              <a:solidFill>
                <a:srgbClr val="000000"/>
              </a:solidFill>
              <a:round/>
              <a:headEnd/>
              <a:tailEnd/>
            </a:ln>
          </p:spPr>
          <p:txBody>
            <a:bodyPr/>
            <a:lstStyle/>
            <a:p>
              <a:endParaRPr lang="es-ES"/>
            </a:p>
          </p:txBody>
        </p:sp>
        <p:sp>
          <p:nvSpPr>
            <p:cNvPr id="82" name="Line 80"/>
            <p:cNvSpPr>
              <a:spLocks noChangeShapeType="1"/>
            </p:cNvSpPr>
            <p:nvPr/>
          </p:nvSpPr>
          <p:spPr bwMode="auto">
            <a:xfrm>
              <a:off x="3771" y="3305"/>
              <a:ext cx="273" cy="1"/>
            </a:xfrm>
            <a:prstGeom prst="line">
              <a:avLst/>
            </a:prstGeom>
            <a:noFill/>
            <a:ln w="0">
              <a:solidFill>
                <a:srgbClr val="000000"/>
              </a:solidFill>
              <a:round/>
              <a:headEnd/>
              <a:tailEnd/>
            </a:ln>
          </p:spPr>
          <p:txBody>
            <a:bodyPr/>
            <a:lstStyle/>
            <a:p>
              <a:endParaRPr lang="es-ES"/>
            </a:p>
          </p:txBody>
        </p:sp>
        <p:sp>
          <p:nvSpPr>
            <p:cNvPr id="83" name="Line 81"/>
            <p:cNvSpPr>
              <a:spLocks noChangeShapeType="1"/>
            </p:cNvSpPr>
            <p:nvPr/>
          </p:nvSpPr>
          <p:spPr bwMode="auto">
            <a:xfrm>
              <a:off x="3697" y="3487"/>
              <a:ext cx="123" cy="1"/>
            </a:xfrm>
            <a:prstGeom prst="line">
              <a:avLst/>
            </a:prstGeom>
            <a:noFill/>
            <a:ln w="0">
              <a:solidFill>
                <a:srgbClr val="000000"/>
              </a:solidFill>
              <a:round/>
              <a:headEnd/>
              <a:tailEnd/>
            </a:ln>
          </p:spPr>
          <p:txBody>
            <a:bodyPr/>
            <a:lstStyle/>
            <a:p>
              <a:endParaRPr lang="es-ES"/>
            </a:p>
          </p:txBody>
        </p:sp>
        <p:sp>
          <p:nvSpPr>
            <p:cNvPr id="84" name="Line 82"/>
            <p:cNvSpPr>
              <a:spLocks noChangeShapeType="1"/>
            </p:cNvSpPr>
            <p:nvPr/>
          </p:nvSpPr>
          <p:spPr bwMode="auto">
            <a:xfrm flipV="1">
              <a:off x="1161" y="1976"/>
              <a:ext cx="597" cy="60"/>
            </a:xfrm>
            <a:prstGeom prst="line">
              <a:avLst/>
            </a:prstGeom>
            <a:noFill/>
            <a:ln w="0">
              <a:solidFill>
                <a:srgbClr val="000000"/>
              </a:solidFill>
              <a:round/>
              <a:headEnd/>
              <a:tailEnd/>
            </a:ln>
          </p:spPr>
          <p:txBody>
            <a:bodyPr/>
            <a:lstStyle/>
            <a:p>
              <a:endParaRPr lang="es-ES"/>
            </a:p>
          </p:txBody>
        </p:sp>
        <p:sp>
          <p:nvSpPr>
            <p:cNvPr id="85" name="Freeform 83"/>
            <p:cNvSpPr>
              <a:spLocks/>
            </p:cNvSpPr>
            <p:nvPr/>
          </p:nvSpPr>
          <p:spPr bwMode="auto">
            <a:xfrm>
              <a:off x="1684" y="1970"/>
              <a:ext cx="74" cy="30"/>
            </a:xfrm>
            <a:custGeom>
              <a:avLst/>
              <a:gdLst/>
              <a:ahLst/>
              <a:cxnLst>
                <a:cxn ang="0">
                  <a:pos x="0" y="0"/>
                </a:cxn>
                <a:cxn ang="0">
                  <a:pos x="72" y="7"/>
                </a:cxn>
                <a:cxn ang="0">
                  <a:pos x="4" y="32"/>
                </a:cxn>
                <a:cxn ang="0">
                  <a:pos x="0" y="0"/>
                </a:cxn>
              </a:cxnLst>
              <a:rect l="0" t="0" r="r" b="b"/>
              <a:pathLst>
                <a:path w="72" h="32">
                  <a:moveTo>
                    <a:pt x="0" y="0"/>
                  </a:moveTo>
                  <a:lnTo>
                    <a:pt x="72" y="7"/>
                  </a:lnTo>
                  <a:lnTo>
                    <a:pt x="4" y="32"/>
                  </a:lnTo>
                  <a:lnTo>
                    <a:pt x="0" y="0"/>
                  </a:lnTo>
                  <a:close/>
                </a:path>
              </a:pathLst>
            </a:custGeom>
            <a:solidFill>
              <a:srgbClr val="000000"/>
            </a:solidFill>
            <a:ln w="0">
              <a:solidFill>
                <a:srgbClr val="000000"/>
              </a:solidFill>
              <a:prstDash val="solid"/>
              <a:round/>
              <a:headEnd/>
              <a:tailEnd/>
            </a:ln>
          </p:spPr>
          <p:txBody>
            <a:bodyPr/>
            <a:lstStyle/>
            <a:p>
              <a:endParaRPr lang="es-ES"/>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RUP – </a:t>
            </a:r>
            <a:r>
              <a:rPr lang="es-CL" dirty="0" err="1" smtClean="0"/>
              <a:t>Rational</a:t>
            </a:r>
            <a:r>
              <a:rPr lang="es-CL" dirty="0" smtClean="0"/>
              <a:t> </a:t>
            </a:r>
            <a:r>
              <a:rPr lang="es-CL" dirty="0" err="1" smtClean="0"/>
              <a:t>Unified</a:t>
            </a:r>
            <a:r>
              <a:rPr lang="es-CL" dirty="0" smtClean="0"/>
              <a:t> </a:t>
            </a:r>
            <a:r>
              <a:rPr lang="es-CL" dirty="0" err="1" smtClean="0"/>
              <a:t>Process</a:t>
            </a:r>
            <a:endParaRPr lang="en-US" dirty="0"/>
          </a:p>
        </p:txBody>
      </p:sp>
      <p:sp>
        <p:nvSpPr>
          <p:cNvPr id="32" name="31 CuadroTexto"/>
          <p:cNvSpPr txBox="1"/>
          <p:nvPr/>
        </p:nvSpPr>
        <p:spPr>
          <a:xfrm>
            <a:off x="443308" y="2215417"/>
            <a:ext cx="10886680" cy="2532681"/>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Corresponde a un </a:t>
            </a:r>
            <a:r>
              <a:rPr lang="es-ES" altLang="es-ES" dirty="0" err="1" smtClean="0">
                <a:solidFill>
                  <a:srgbClr val="002060"/>
                </a:solidFill>
              </a:rPr>
              <a:t>framework</a:t>
            </a:r>
            <a:r>
              <a:rPr lang="es-ES" altLang="es-ES" dirty="0" smtClean="0">
                <a:solidFill>
                  <a:srgbClr val="002060"/>
                </a:solidFill>
              </a:rPr>
              <a:t> que puede ser usado para describir procesos de desarrollo específicos</a:t>
            </a:r>
          </a:p>
          <a:p>
            <a:pPr marL="273050" indent="-273050">
              <a:lnSpc>
                <a:spcPct val="150000"/>
              </a:lnSpc>
              <a:buFont typeface="Wingdings" pitchFamily="2" charset="2"/>
              <a:buChar char="q"/>
            </a:pPr>
            <a:r>
              <a:rPr lang="es-ES" altLang="es-ES" dirty="0" smtClean="0">
                <a:solidFill>
                  <a:srgbClr val="002060"/>
                </a:solidFill>
              </a:rPr>
              <a:t>Cada ciclo de vida del software abarca 4 fases en el siguiente orden: concepción/planificación, elaboración, construcción y transición</a:t>
            </a:r>
          </a:p>
          <a:p>
            <a:pPr marL="273050" indent="-273050">
              <a:lnSpc>
                <a:spcPct val="150000"/>
              </a:lnSpc>
              <a:buFont typeface="Wingdings" pitchFamily="2" charset="2"/>
              <a:buChar char="q"/>
            </a:pPr>
            <a:r>
              <a:rPr lang="es-ES" altLang="es-ES" dirty="0" smtClean="0">
                <a:solidFill>
                  <a:srgbClr val="002060"/>
                </a:solidFill>
              </a:rPr>
              <a:t>La esencia de RUP es la iteración, y cada iteración resulta en un entregable preferentemente ejecutable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RUP – </a:t>
            </a:r>
            <a:r>
              <a:rPr lang="es-CL" dirty="0" err="1" smtClean="0"/>
              <a:t>Rational</a:t>
            </a:r>
            <a:r>
              <a:rPr lang="es-CL" dirty="0" smtClean="0"/>
              <a:t> </a:t>
            </a:r>
            <a:r>
              <a:rPr lang="es-CL" dirty="0" err="1" smtClean="0"/>
              <a:t>Unified</a:t>
            </a:r>
            <a:r>
              <a:rPr lang="es-CL" dirty="0" smtClean="0"/>
              <a:t> </a:t>
            </a:r>
            <a:r>
              <a:rPr lang="es-CL" dirty="0" err="1" smtClean="0"/>
              <a:t>Process</a:t>
            </a:r>
            <a:endParaRPr lang="en-US" dirty="0"/>
          </a:p>
        </p:txBody>
      </p:sp>
      <p:pic>
        <p:nvPicPr>
          <p:cNvPr id="4" name="Picture 3" descr="RUP image2"/>
          <p:cNvPicPr>
            <a:picLocks noChangeAspect="1" noChangeArrowheads="1"/>
          </p:cNvPicPr>
          <p:nvPr/>
        </p:nvPicPr>
        <p:blipFill>
          <a:blip r:embed="rId2"/>
          <a:srcRect/>
          <a:stretch>
            <a:fillRect/>
          </a:stretch>
        </p:blipFill>
        <p:spPr>
          <a:xfrm>
            <a:off x="2358241" y="1746250"/>
            <a:ext cx="7239000" cy="4743450"/>
          </a:xfrm>
          <a:prstGeom prst="rect">
            <a:avLst/>
          </a:prstGeom>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Problemas de los Modelos Tradicionales</a:t>
            </a:r>
            <a:endParaRPr lang="en-US" dirty="0"/>
          </a:p>
        </p:txBody>
      </p:sp>
      <p:sp>
        <p:nvSpPr>
          <p:cNvPr id="32" name="31 CuadroTexto"/>
          <p:cNvSpPr txBox="1"/>
          <p:nvPr/>
        </p:nvSpPr>
        <p:spPr>
          <a:xfrm>
            <a:off x="443308" y="2215417"/>
            <a:ext cx="10886680" cy="1700787"/>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Incumplimiento de los plazos de entrega.</a:t>
            </a:r>
          </a:p>
          <a:p>
            <a:pPr marL="273050" indent="-273050">
              <a:lnSpc>
                <a:spcPct val="150000"/>
              </a:lnSpc>
              <a:buFont typeface="Wingdings" pitchFamily="2" charset="2"/>
              <a:buChar char="q"/>
            </a:pPr>
            <a:r>
              <a:rPr lang="es-ES" altLang="es-ES" dirty="0" smtClean="0">
                <a:solidFill>
                  <a:srgbClr val="002060"/>
                </a:solidFill>
              </a:rPr>
              <a:t>Reducción de las funcionalidades previstas inicialmente.</a:t>
            </a:r>
          </a:p>
          <a:p>
            <a:pPr marL="273050" indent="-273050">
              <a:lnSpc>
                <a:spcPct val="150000"/>
              </a:lnSpc>
              <a:buFont typeface="Wingdings" pitchFamily="2" charset="2"/>
              <a:buChar char="q"/>
            </a:pPr>
            <a:r>
              <a:rPr lang="es-ES" altLang="es-ES" dirty="0" smtClean="0">
                <a:solidFill>
                  <a:srgbClr val="002060"/>
                </a:solidFill>
              </a:rPr>
              <a:t>Difícil adaptación a los cambios.</a:t>
            </a:r>
          </a:p>
          <a:p>
            <a:pPr marL="273050" indent="-273050">
              <a:lnSpc>
                <a:spcPct val="150000"/>
              </a:lnSpc>
              <a:buFont typeface="Wingdings" pitchFamily="2" charset="2"/>
              <a:buChar char="q"/>
            </a:pPr>
            <a:r>
              <a:rPr lang="es-ES" altLang="es-ES" dirty="0" smtClean="0">
                <a:solidFill>
                  <a:srgbClr val="002060"/>
                </a:solidFill>
              </a:rPr>
              <a:t>Excesiva documentación.</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Métodos Ágiles (</a:t>
            </a:r>
            <a:r>
              <a:rPr lang="es-CL" dirty="0" err="1" smtClean="0"/>
              <a:t>MAs</a:t>
            </a:r>
            <a:r>
              <a:rPr lang="es-CL" dirty="0" smtClean="0"/>
              <a:t>)</a:t>
            </a:r>
            <a:endParaRPr lang="en-US" dirty="0"/>
          </a:p>
        </p:txBody>
      </p:sp>
      <p:sp>
        <p:nvSpPr>
          <p:cNvPr id="32" name="31 CuadroTexto"/>
          <p:cNvSpPr txBox="1"/>
          <p:nvPr/>
        </p:nvSpPr>
        <p:spPr>
          <a:xfrm>
            <a:off x="443307" y="2215417"/>
            <a:ext cx="11229581" cy="2532681"/>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En febrero de 2001, tras una reunión celebrada en Utah-EEUU, nace el término “Ágil”, aplicado al desarrollo de software. En esta reunión participaron un grupo de 17 expertos de la industria del software, incluyendo algunos de los creadores o impulsores de metodologías de software. Su objetivo fue esbozar los valores y principios que deberían permitir a los equipos desarrollar software rápidamente y respondiendo a los cambios que puedan surgir a lo largo del proyecto.</a:t>
            </a:r>
          </a:p>
          <a:p>
            <a:pPr marL="273050" indent="-273050">
              <a:lnSpc>
                <a:spcPct val="150000"/>
              </a:lnSpc>
              <a:buFont typeface="Wingdings" pitchFamily="2" charset="2"/>
              <a:buChar char="q"/>
            </a:pPr>
            <a:r>
              <a:rPr lang="es-ES" altLang="es-ES" dirty="0" smtClean="0">
                <a:solidFill>
                  <a:srgbClr val="002060"/>
                </a:solidFill>
              </a:rPr>
              <a:t>Se pretendía ofrecer una alternativa a los procesos de desarrollo de software tradicionales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Métodos Ágiles</a:t>
            </a:r>
            <a:endParaRPr lang="en-US" dirty="0"/>
          </a:p>
        </p:txBody>
      </p:sp>
      <p:sp>
        <p:nvSpPr>
          <p:cNvPr id="32" name="31 CuadroTexto"/>
          <p:cNvSpPr txBox="1"/>
          <p:nvPr/>
        </p:nvSpPr>
        <p:spPr>
          <a:xfrm>
            <a:off x="443307" y="2215417"/>
            <a:ext cx="11229581" cy="1701684"/>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Las Metodologías Ágiles (</a:t>
            </a:r>
            <a:r>
              <a:rPr lang="es-ES" altLang="es-ES" dirty="0" err="1" smtClean="0">
                <a:solidFill>
                  <a:srgbClr val="002060"/>
                </a:solidFill>
              </a:rPr>
              <a:t>MAs</a:t>
            </a:r>
            <a:r>
              <a:rPr lang="es-ES" altLang="es-ES" dirty="0" smtClean="0">
                <a:solidFill>
                  <a:srgbClr val="002060"/>
                </a:solidFill>
              </a:rPr>
              <a:t>) son un conjunto de estrategias de desarrollo que promueven prácticas adaptativas, en lugar de predictivas, como las sugeridas por las Metodologías Tradicionales (</a:t>
            </a:r>
            <a:r>
              <a:rPr lang="es-ES" altLang="es-ES" dirty="0" err="1" smtClean="0">
                <a:solidFill>
                  <a:srgbClr val="002060"/>
                </a:solidFill>
              </a:rPr>
              <a:t>MTs</a:t>
            </a:r>
            <a:r>
              <a:rPr lang="es-ES" altLang="es-ES" dirty="0" smtClean="0">
                <a:solidFill>
                  <a:srgbClr val="002060"/>
                </a:solidFill>
              </a:rPr>
              <a:t>) de Desarrollo de Software. Dicho de otra manera, promueven la adaptabilidad a los cambios por sobre el planeamiento estricto.</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Métodos Ágiles</a:t>
            </a:r>
            <a:endParaRPr lang="en-US" dirty="0"/>
          </a:p>
        </p:txBody>
      </p:sp>
      <p:sp>
        <p:nvSpPr>
          <p:cNvPr id="32" name="31 CuadroTexto"/>
          <p:cNvSpPr txBox="1"/>
          <p:nvPr/>
        </p:nvSpPr>
        <p:spPr>
          <a:xfrm>
            <a:off x="443307" y="2215417"/>
            <a:ext cx="11229581" cy="455189"/>
          </a:xfrm>
          <a:prstGeom prst="rect">
            <a:avLst/>
          </a:prstGeom>
          <a:noFill/>
        </p:spPr>
        <p:txBody>
          <a:bodyPr wrap="square" rtlCol="0">
            <a:spAutoFit/>
          </a:bodyPr>
          <a:lstStyle/>
          <a:p>
            <a:pPr marL="273050" indent="-273050">
              <a:lnSpc>
                <a:spcPct val="150000"/>
              </a:lnSpc>
            </a:pPr>
            <a:r>
              <a:rPr lang="es-ES" altLang="es-ES" dirty="0" smtClean="0">
                <a:solidFill>
                  <a:srgbClr val="002060"/>
                </a:solidFill>
              </a:rPr>
              <a:t>Según el manifiesto ágil se valora:</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Métodos Ágiles</a:t>
            </a:r>
            <a:endParaRPr lang="en-US" dirty="0"/>
          </a:p>
        </p:txBody>
      </p:sp>
      <p:sp>
        <p:nvSpPr>
          <p:cNvPr id="32" name="31 CuadroTexto"/>
          <p:cNvSpPr txBox="1"/>
          <p:nvPr/>
        </p:nvSpPr>
        <p:spPr>
          <a:xfrm>
            <a:off x="443307" y="2215417"/>
            <a:ext cx="11229581" cy="2169825"/>
          </a:xfrm>
          <a:prstGeom prst="rect">
            <a:avLst/>
          </a:prstGeom>
          <a:noFill/>
        </p:spPr>
        <p:txBody>
          <a:bodyPr wrap="square" rtlCol="0">
            <a:spAutoFit/>
          </a:bodyPr>
          <a:lstStyle/>
          <a:p>
            <a:pPr marL="273050" indent="-273050">
              <a:lnSpc>
                <a:spcPct val="150000"/>
              </a:lnSpc>
            </a:pPr>
            <a:r>
              <a:rPr lang="es-ES" altLang="es-ES" b="1" dirty="0" smtClean="0">
                <a:solidFill>
                  <a:srgbClr val="002060"/>
                </a:solidFill>
              </a:rPr>
              <a:t>Al individuo y las interacciones del equipo de desarrollo sobre el proceso y las herramientas.</a:t>
            </a:r>
          </a:p>
          <a:p>
            <a:pPr marL="273050" indent="-273050">
              <a:lnSpc>
                <a:spcPct val="150000"/>
              </a:lnSpc>
            </a:pPr>
            <a:r>
              <a:rPr lang="es-ES" altLang="es-ES" dirty="0" smtClean="0">
                <a:solidFill>
                  <a:srgbClr val="002060"/>
                </a:solidFill>
              </a:rPr>
              <a:t> La gente es el principal factor de éxito de un proyecto software. Es más importante construir un buen equipo que construir el entorno. Muchas veces se comete el error de construir primero el entorno y esperar que el equipo se adapte automáticamente. Es mejor crear el equipo y que éste configure su propio entorno de desarrollo en base a sus necesidades.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Métodos Ágiles</a:t>
            </a:r>
            <a:endParaRPr lang="en-US" dirty="0"/>
          </a:p>
        </p:txBody>
      </p:sp>
      <p:sp>
        <p:nvSpPr>
          <p:cNvPr id="32" name="31 CuadroTexto"/>
          <p:cNvSpPr txBox="1"/>
          <p:nvPr/>
        </p:nvSpPr>
        <p:spPr>
          <a:xfrm>
            <a:off x="443307" y="2215417"/>
            <a:ext cx="11229581" cy="1754326"/>
          </a:xfrm>
          <a:prstGeom prst="rect">
            <a:avLst/>
          </a:prstGeom>
          <a:noFill/>
        </p:spPr>
        <p:txBody>
          <a:bodyPr wrap="square" rtlCol="0">
            <a:spAutoFit/>
          </a:bodyPr>
          <a:lstStyle/>
          <a:p>
            <a:pPr marL="273050" indent="-273050">
              <a:lnSpc>
                <a:spcPct val="150000"/>
              </a:lnSpc>
            </a:pPr>
            <a:r>
              <a:rPr lang="es-ES" altLang="es-ES" b="1" dirty="0" smtClean="0">
                <a:solidFill>
                  <a:srgbClr val="002060"/>
                </a:solidFill>
              </a:rPr>
              <a:t>Desarrollar software que funciona más que conseguir una buena documentación. </a:t>
            </a:r>
          </a:p>
          <a:p>
            <a:pPr marL="273050" indent="-273050">
              <a:lnSpc>
                <a:spcPct val="150000"/>
              </a:lnSpc>
            </a:pPr>
            <a:r>
              <a:rPr lang="es-ES" altLang="es-ES" dirty="0" smtClean="0">
                <a:solidFill>
                  <a:srgbClr val="002060"/>
                </a:solidFill>
              </a:rPr>
              <a:t>La regla a seguir es no producir documentos a menos que sean necesarios de forma inmediata</a:t>
            </a:r>
          </a:p>
          <a:p>
            <a:pPr marL="273050" indent="-273050">
              <a:lnSpc>
                <a:spcPct val="150000"/>
              </a:lnSpc>
            </a:pPr>
            <a:r>
              <a:rPr lang="es-ES" altLang="es-ES" dirty="0" smtClean="0">
                <a:solidFill>
                  <a:srgbClr val="002060"/>
                </a:solidFill>
              </a:rPr>
              <a:t>	para tomar un decisión importante. Estos documentos deben ser breves y centrarse en lo fundamental.</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Métodos Ágiles</a:t>
            </a:r>
            <a:endParaRPr lang="en-US" dirty="0"/>
          </a:p>
        </p:txBody>
      </p:sp>
      <p:sp>
        <p:nvSpPr>
          <p:cNvPr id="32" name="31 CuadroTexto"/>
          <p:cNvSpPr txBox="1"/>
          <p:nvPr/>
        </p:nvSpPr>
        <p:spPr>
          <a:xfrm>
            <a:off x="443307" y="2215417"/>
            <a:ext cx="11229581" cy="1338828"/>
          </a:xfrm>
          <a:prstGeom prst="rect">
            <a:avLst/>
          </a:prstGeom>
          <a:noFill/>
        </p:spPr>
        <p:txBody>
          <a:bodyPr wrap="square" rtlCol="0">
            <a:spAutoFit/>
          </a:bodyPr>
          <a:lstStyle/>
          <a:p>
            <a:pPr marL="273050" indent="-273050">
              <a:lnSpc>
                <a:spcPct val="150000"/>
              </a:lnSpc>
            </a:pPr>
            <a:r>
              <a:rPr lang="es-ES" altLang="es-ES" b="1" dirty="0" smtClean="0">
                <a:solidFill>
                  <a:srgbClr val="002060"/>
                </a:solidFill>
              </a:rPr>
              <a:t>La colaboración con el cliente más que la negociación de un contrato. </a:t>
            </a:r>
          </a:p>
          <a:p>
            <a:pPr marL="273050" indent="-273050">
              <a:lnSpc>
                <a:spcPct val="150000"/>
              </a:lnSpc>
            </a:pPr>
            <a:r>
              <a:rPr lang="es-ES" altLang="es-ES" dirty="0" smtClean="0">
                <a:solidFill>
                  <a:srgbClr val="002060"/>
                </a:solidFill>
              </a:rPr>
              <a:t>Se propone que exista una interacción constante entre el cliente y el equipo de desarrollo. Esta colaboración entre ambos será la que marque la marcha del proyecto y asegure su éxito.</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Métodos Ágiles</a:t>
            </a:r>
            <a:endParaRPr lang="en-US" dirty="0"/>
          </a:p>
        </p:txBody>
      </p:sp>
      <p:sp>
        <p:nvSpPr>
          <p:cNvPr id="32" name="31 CuadroTexto"/>
          <p:cNvSpPr txBox="1"/>
          <p:nvPr/>
        </p:nvSpPr>
        <p:spPr>
          <a:xfrm>
            <a:off x="443307" y="2215417"/>
            <a:ext cx="11229581" cy="1754326"/>
          </a:xfrm>
          <a:prstGeom prst="rect">
            <a:avLst/>
          </a:prstGeom>
          <a:noFill/>
        </p:spPr>
        <p:txBody>
          <a:bodyPr wrap="square" rtlCol="0">
            <a:spAutoFit/>
          </a:bodyPr>
          <a:lstStyle/>
          <a:p>
            <a:pPr marL="273050" indent="-273050">
              <a:lnSpc>
                <a:spcPct val="150000"/>
              </a:lnSpc>
            </a:pPr>
            <a:r>
              <a:rPr lang="es-ES" altLang="es-ES" b="1" dirty="0" smtClean="0">
                <a:solidFill>
                  <a:srgbClr val="002060"/>
                </a:solidFill>
              </a:rPr>
              <a:t>Responder a los cambios más que seguir estrictamente un plan. </a:t>
            </a:r>
          </a:p>
          <a:p>
            <a:pPr marL="273050" indent="-273050">
              <a:lnSpc>
                <a:spcPct val="150000"/>
              </a:lnSpc>
            </a:pPr>
            <a:r>
              <a:rPr lang="es-ES" altLang="es-ES" dirty="0" smtClean="0">
                <a:solidFill>
                  <a:srgbClr val="002060"/>
                </a:solidFill>
              </a:rPr>
              <a:t>La habilidad de responder a los cambios que puedan surgir a lo largo del proyecto (cambios en los requisitos, en la tecnología, en el equipo, etc.) determina también el éxito o fracaso del mismo. </a:t>
            </a:r>
          </a:p>
          <a:p>
            <a:pPr marL="273050" indent="-273050">
              <a:lnSpc>
                <a:spcPct val="150000"/>
              </a:lnSpc>
            </a:pPr>
            <a:r>
              <a:rPr lang="es-ES" altLang="es-ES" dirty="0" smtClean="0">
                <a:solidFill>
                  <a:srgbClr val="002060"/>
                </a:solidFill>
              </a:rPr>
              <a:t>	Por lo tanto, la planificación no debe ser estricta sino flexible y abierta.</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Agilidad vs. Proceso</a:t>
            </a:r>
            <a:endParaRPr lang="en-US" dirty="0"/>
          </a:p>
        </p:txBody>
      </p:sp>
      <p:sp>
        <p:nvSpPr>
          <p:cNvPr id="32" name="31 CuadroTexto"/>
          <p:cNvSpPr txBox="1"/>
          <p:nvPr/>
        </p:nvSpPr>
        <p:spPr>
          <a:xfrm>
            <a:off x="371475" y="1943955"/>
            <a:ext cx="10972800" cy="2947282"/>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En los últimos años distintos trabajos han investigado la relación entre modelos de procesos y métodos ágiles, observando lo siguiente</a:t>
            </a:r>
          </a:p>
          <a:p>
            <a:pPr marL="730250" lvl="1" indent="-273050">
              <a:lnSpc>
                <a:spcPct val="150000"/>
              </a:lnSpc>
              <a:buFont typeface="Wingdings" pitchFamily="2" charset="2"/>
              <a:buChar char="ü"/>
            </a:pPr>
            <a:r>
              <a:rPr lang="es-ES" altLang="es-ES" dirty="0" smtClean="0">
                <a:solidFill>
                  <a:srgbClr val="002060"/>
                </a:solidFill>
              </a:rPr>
              <a:t> El CMM/CMMI del SEI y XP pueden complementarse (enfocando aspectos de gestión vs. técnicos)</a:t>
            </a:r>
          </a:p>
          <a:p>
            <a:pPr marL="730250" lvl="1" indent="-273050">
              <a:lnSpc>
                <a:spcPct val="150000"/>
              </a:lnSpc>
              <a:buFont typeface="Wingdings" pitchFamily="2" charset="2"/>
              <a:buChar char="ü"/>
            </a:pPr>
            <a:r>
              <a:rPr lang="es-ES" altLang="es-ES" dirty="0" smtClean="0">
                <a:solidFill>
                  <a:srgbClr val="002060"/>
                </a:solidFill>
              </a:rPr>
              <a:t>Métodos ágiles coinciden con la esencia del mejoramiento de procesos bajo una interpretación menos literal (que CMMI, por ejemplo)</a:t>
            </a:r>
          </a:p>
          <a:p>
            <a:pPr marL="730250" lvl="1" indent="-273050">
              <a:lnSpc>
                <a:spcPct val="150000"/>
              </a:lnSpc>
              <a:buFont typeface="Wingdings" pitchFamily="2" charset="2"/>
              <a:buChar char="ü"/>
            </a:pPr>
            <a:r>
              <a:rPr lang="es-ES" altLang="es-ES" dirty="0" smtClean="0">
                <a:solidFill>
                  <a:srgbClr val="002060"/>
                </a:solidFill>
              </a:rPr>
              <a:t>Métodos ágiles enfatizan la gestión de proyectos, no la gestión de procesos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Interrogantes</a:t>
            </a:r>
            <a:endParaRPr lang="en-US" dirty="0"/>
          </a:p>
        </p:txBody>
      </p:sp>
      <p:sp>
        <p:nvSpPr>
          <p:cNvPr id="32" name="31 CuadroTexto"/>
          <p:cNvSpPr txBox="1"/>
          <p:nvPr/>
        </p:nvSpPr>
        <p:spPr>
          <a:xfrm>
            <a:off x="371475" y="1833227"/>
            <a:ext cx="10972800" cy="3362780"/>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¿Resuelven los métodos ágiles todos los problemas?</a:t>
            </a:r>
          </a:p>
          <a:p>
            <a:pPr marL="273050" indent="-273050">
              <a:lnSpc>
                <a:spcPct val="150000"/>
              </a:lnSpc>
              <a:buFont typeface="Wingdings" pitchFamily="2" charset="2"/>
              <a:buChar char="q"/>
            </a:pPr>
            <a:r>
              <a:rPr lang="es-ES" altLang="es-ES" dirty="0" smtClean="0">
                <a:solidFill>
                  <a:srgbClr val="002060"/>
                </a:solidFill>
              </a:rPr>
              <a:t>¿Son aplicables a todo tipo de desarrollo?</a:t>
            </a:r>
          </a:p>
          <a:p>
            <a:pPr marL="273050" indent="-273050">
              <a:lnSpc>
                <a:spcPct val="150000"/>
              </a:lnSpc>
              <a:buFont typeface="Wingdings" pitchFamily="2" charset="2"/>
              <a:buChar char="q"/>
            </a:pPr>
            <a:r>
              <a:rPr lang="es-ES" altLang="es-ES" dirty="0" smtClean="0">
                <a:solidFill>
                  <a:srgbClr val="002060"/>
                </a:solidFill>
              </a:rPr>
              <a:t>¿Cuánta agilidad? ¿Cuánto proceso?</a:t>
            </a:r>
          </a:p>
          <a:p>
            <a:pPr marL="273050" indent="-273050">
              <a:lnSpc>
                <a:spcPct val="150000"/>
              </a:lnSpc>
              <a:buFont typeface="Wingdings" pitchFamily="2" charset="2"/>
              <a:buChar char="q"/>
            </a:pPr>
            <a:r>
              <a:rPr lang="es-ES" altLang="es-ES" dirty="0" smtClean="0">
                <a:solidFill>
                  <a:srgbClr val="002060"/>
                </a:solidFill>
              </a:rPr>
              <a:t>Desafío: encontrar un punto de equilibrio, un balance adecuado</a:t>
            </a:r>
          </a:p>
          <a:p>
            <a:pPr marL="273050" indent="-273050">
              <a:lnSpc>
                <a:spcPct val="150000"/>
              </a:lnSpc>
              <a:buFont typeface="Wingdings" pitchFamily="2" charset="2"/>
              <a:buChar char="q"/>
            </a:pPr>
            <a:r>
              <a:rPr lang="es-ES" altLang="es-ES" dirty="0" smtClean="0">
                <a:solidFill>
                  <a:srgbClr val="002060"/>
                </a:solidFill>
              </a:rPr>
              <a:t>Desarrollos potenciales</a:t>
            </a:r>
          </a:p>
          <a:p>
            <a:pPr marL="730250" lvl="1" indent="-273050">
              <a:lnSpc>
                <a:spcPct val="150000"/>
              </a:lnSpc>
              <a:buFont typeface="Wingdings" pitchFamily="2" charset="2"/>
              <a:buChar char="ü"/>
            </a:pPr>
            <a:r>
              <a:rPr lang="es-ES" altLang="es-ES" dirty="0" smtClean="0">
                <a:solidFill>
                  <a:srgbClr val="002060"/>
                </a:solidFill>
              </a:rPr>
              <a:t>Modelos ágiles balanceados para migración a la práctica industrial</a:t>
            </a:r>
          </a:p>
          <a:p>
            <a:pPr marL="730250" lvl="1" indent="-273050">
              <a:lnSpc>
                <a:spcPct val="150000"/>
              </a:lnSpc>
              <a:buFont typeface="Wingdings" pitchFamily="2" charset="2"/>
              <a:buChar char="ü"/>
            </a:pPr>
            <a:r>
              <a:rPr lang="es-ES" altLang="es-ES" dirty="0" smtClean="0">
                <a:solidFill>
                  <a:srgbClr val="002060"/>
                </a:solidFill>
              </a:rPr>
              <a:t>Mecanismos y herramientas ágiles para selección, adaptación, implantación y adopción de métodos ágiles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Metodologías Ágiles</a:t>
            </a:r>
            <a:endParaRPr lang="en-US" dirty="0"/>
          </a:p>
        </p:txBody>
      </p:sp>
      <p:sp>
        <p:nvSpPr>
          <p:cNvPr id="32" name="31 CuadroTexto"/>
          <p:cNvSpPr txBox="1"/>
          <p:nvPr/>
        </p:nvSpPr>
        <p:spPr>
          <a:xfrm>
            <a:off x="371475" y="1833227"/>
            <a:ext cx="10972800" cy="1285288"/>
          </a:xfrm>
          <a:prstGeom prst="rect">
            <a:avLst/>
          </a:prstGeom>
          <a:noFill/>
        </p:spPr>
        <p:txBody>
          <a:bodyPr wrap="square" rtlCol="0">
            <a:spAutoFit/>
          </a:bodyPr>
          <a:lstStyle/>
          <a:p>
            <a:pPr marL="342900" indent="-342900">
              <a:lnSpc>
                <a:spcPct val="150000"/>
              </a:lnSpc>
              <a:buFont typeface="+mj-lt"/>
              <a:buAutoNum type="arabicPeriod"/>
            </a:pPr>
            <a:r>
              <a:rPr lang="es-ES" altLang="es-ES" dirty="0" err="1" smtClean="0">
                <a:solidFill>
                  <a:srgbClr val="002060"/>
                </a:solidFill>
              </a:rPr>
              <a:t>Adaptive</a:t>
            </a:r>
            <a:r>
              <a:rPr lang="es-ES" altLang="es-ES" dirty="0" smtClean="0">
                <a:solidFill>
                  <a:srgbClr val="002060"/>
                </a:solidFill>
              </a:rPr>
              <a:t> Software </a:t>
            </a:r>
            <a:r>
              <a:rPr lang="es-ES" altLang="es-ES" dirty="0" err="1" smtClean="0">
                <a:solidFill>
                  <a:srgbClr val="002060"/>
                </a:solidFill>
              </a:rPr>
              <a:t>Development</a:t>
            </a:r>
            <a:r>
              <a:rPr lang="es-ES" altLang="es-ES" dirty="0" smtClean="0">
                <a:solidFill>
                  <a:srgbClr val="002060"/>
                </a:solidFill>
              </a:rPr>
              <a:t> (ASD)</a:t>
            </a:r>
          </a:p>
          <a:p>
            <a:pPr marL="342900" indent="-342900">
              <a:lnSpc>
                <a:spcPct val="150000"/>
              </a:lnSpc>
              <a:buFont typeface="+mj-lt"/>
              <a:buAutoNum type="arabicPeriod"/>
            </a:pPr>
            <a:r>
              <a:rPr lang="es-ES" altLang="es-ES" dirty="0" smtClean="0">
                <a:solidFill>
                  <a:srgbClr val="002060"/>
                </a:solidFill>
              </a:rPr>
              <a:t>Programación Extrema (XP)</a:t>
            </a:r>
          </a:p>
          <a:p>
            <a:pPr marL="342900" indent="-342900">
              <a:lnSpc>
                <a:spcPct val="150000"/>
              </a:lnSpc>
              <a:buFont typeface="+mj-lt"/>
              <a:buAutoNum type="arabicPeriod"/>
            </a:pPr>
            <a:r>
              <a:rPr lang="es-ES" altLang="es-ES" dirty="0" smtClean="0">
                <a:solidFill>
                  <a:srgbClr val="002060"/>
                </a:solidFill>
              </a:rPr>
              <a:t>SCRUM</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_tradnl" altLang="es-MX" dirty="0" err="1" smtClean="0"/>
              <a:t>Adaptive</a:t>
            </a:r>
            <a:r>
              <a:rPr lang="es-ES_tradnl" altLang="es-MX" dirty="0" smtClean="0"/>
              <a:t> Software </a:t>
            </a:r>
            <a:r>
              <a:rPr lang="es-ES_tradnl" altLang="es-MX" dirty="0" err="1" smtClean="0"/>
              <a:t>Development</a:t>
            </a:r>
            <a:r>
              <a:rPr lang="es-ES_tradnl" altLang="es-MX" dirty="0" smtClean="0"/>
              <a:t> (ASD)</a:t>
            </a:r>
            <a:endParaRPr lang="en-US" dirty="0"/>
          </a:p>
        </p:txBody>
      </p:sp>
      <p:sp>
        <p:nvSpPr>
          <p:cNvPr id="32" name="31 CuadroTexto"/>
          <p:cNvSpPr txBox="1"/>
          <p:nvPr/>
        </p:nvSpPr>
        <p:spPr>
          <a:xfrm>
            <a:off x="443308" y="1872517"/>
            <a:ext cx="10903566" cy="2948179"/>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Desarrollado por J. </a:t>
            </a:r>
            <a:r>
              <a:rPr lang="es-ES" altLang="es-ES" dirty="0" err="1" smtClean="0">
                <a:solidFill>
                  <a:srgbClr val="002060"/>
                </a:solidFill>
              </a:rPr>
              <a:t>Highsmith</a:t>
            </a:r>
            <a:r>
              <a:rPr lang="es-ES" altLang="es-ES" dirty="0" smtClean="0">
                <a:solidFill>
                  <a:srgbClr val="002060"/>
                </a:solidFill>
              </a:rPr>
              <a:t> en el año 2000.</a:t>
            </a:r>
          </a:p>
          <a:p>
            <a:pPr marL="273050" indent="-273050">
              <a:lnSpc>
                <a:spcPct val="150000"/>
              </a:lnSpc>
              <a:buFont typeface="Wingdings" pitchFamily="2" charset="2"/>
              <a:buChar char="q"/>
            </a:pPr>
            <a:r>
              <a:rPr lang="es-ES" altLang="es-ES" dirty="0" smtClean="0">
                <a:solidFill>
                  <a:srgbClr val="002060"/>
                </a:solidFill>
              </a:rPr>
              <a:t>La idea fundamental del ASD es:</a:t>
            </a:r>
            <a:br>
              <a:rPr lang="es-ES" altLang="es-ES" dirty="0" smtClean="0">
                <a:solidFill>
                  <a:srgbClr val="002060"/>
                </a:solidFill>
              </a:rPr>
            </a:br>
            <a:r>
              <a:rPr lang="es-ES" altLang="es-ES" dirty="0" smtClean="0">
                <a:solidFill>
                  <a:srgbClr val="002060"/>
                </a:solidFill>
              </a:rPr>
              <a:t/>
            </a:r>
            <a:br>
              <a:rPr lang="es-ES" altLang="es-ES" dirty="0" smtClean="0">
                <a:solidFill>
                  <a:srgbClr val="002060"/>
                </a:solidFill>
              </a:rPr>
            </a:br>
            <a:r>
              <a:rPr lang="es-ES" altLang="es-ES" dirty="0" smtClean="0">
                <a:solidFill>
                  <a:srgbClr val="002060"/>
                </a:solidFill>
              </a:rPr>
              <a:t>“Balancearse en el borde del Caos”</a:t>
            </a:r>
            <a:br>
              <a:rPr lang="es-ES" altLang="es-ES" dirty="0" smtClean="0">
                <a:solidFill>
                  <a:srgbClr val="002060"/>
                </a:solidFill>
              </a:rPr>
            </a:br>
            <a:r>
              <a:rPr lang="es-ES" altLang="es-ES" dirty="0" smtClean="0">
                <a:solidFill>
                  <a:srgbClr val="002060"/>
                </a:solidFill>
              </a:rPr>
              <a:t/>
            </a:r>
            <a:br>
              <a:rPr lang="es-ES" altLang="es-ES" dirty="0" smtClean="0">
                <a:solidFill>
                  <a:srgbClr val="002060"/>
                </a:solidFill>
              </a:rPr>
            </a:br>
            <a:r>
              <a:rPr lang="es-ES" altLang="es-ES" dirty="0" smtClean="0">
                <a:solidFill>
                  <a:srgbClr val="002060"/>
                </a:solidFill>
              </a:rPr>
              <a:t>Dicho de otra manera, buscar un equilibrio entre crear un ambiente que favorezca la creatividad e innovación, y administrar lo que se está haciendo.</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Proceso del ASD</a:t>
            </a:r>
            <a:endParaRPr lang="en-US" dirty="0"/>
          </a:p>
        </p:txBody>
      </p:sp>
      <p:pic>
        <p:nvPicPr>
          <p:cNvPr id="4" name="Picture 4" descr="asd2"/>
          <p:cNvPicPr>
            <a:picLocks noChangeAspect="1" noChangeArrowheads="1"/>
          </p:cNvPicPr>
          <p:nvPr/>
        </p:nvPicPr>
        <p:blipFill>
          <a:blip r:embed="rId2"/>
          <a:srcRect/>
          <a:stretch>
            <a:fillRect/>
          </a:stretch>
        </p:blipFill>
        <p:spPr bwMode="auto">
          <a:xfrm>
            <a:off x="1797999" y="2071253"/>
            <a:ext cx="9115425" cy="424815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Uso actual del ASD</a:t>
            </a:r>
            <a:endParaRPr lang="en-US" dirty="0"/>
          </a:p>
        </p:txBody>
      </p:sp>
      <p:sp>
        <p:nvSpPr>
          <p:cNvPr id="32" name="31 CuadroTexto"/>
          <p:cNvSpPr txBox="1"/>
          <p:nvPr/>
        </p:nvSpPr>
        <p:spPr>
          <a:xfrm>
            <a:off x="443308" y="1872517"/>
            <a:ext cx="10903566" cy="2117183"/>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Casi no es utilizado porque no se especifican en detalle las pautas (prácticas de desarrollo y gestión) que deben seguirse para su uso.</a:t>
            </a:r>
          </a:p>
          <a:p>
            <a:pPr marL="273050" indent="-273050">
              <a:lnSpc>
                <a:spcPct val="150000"/>
              </a:lnSpc>
              <a:buFont typeface="Wingdings" pitchFamily="2" charset="2"/>
              <a:buChar char="q"/>
            </a:pPr>
            <a:r>
              <a:rPr lang="es-ES" altLang="es-ES" dirty="0" smtClean="0">
                <a:solidFill>
                  <a:srgbClr val="002060"/>
                </a:solidFill>
              </a:rPr>
              <a:t>ASD puede ser utilizado, pero debe complementarse con otra metodología mejor definida.</a:t>
            </a:r>
          </a:p>
          <a:p>
            <a:pPr marL="273050" indent="-273050">
              <a:lnSpc>
                <a:spcPct val="150000"/>
              </a:lnSpc>
              <a:buFont typeface="Wingdings" pitchFamily="2" charset="2"/>
              <a:buChar char="q"/>
            </a:pPr>
            <a:r>
              <a:rPr lang="es-ES" altLang="es-ES" dirty="0" smtClean="0">
                <a:solidFill>
                  <a:srgbClr val="002060"/>
                </a:solidFill>
              </a:rPr>
              <a:t>Sin embargo, ASD provee conceptos sobre la filosofía misma de las </a:t>
            </a:r>
            <a:r>
              <a:rPr lang="es-ES" altLang="es-ES" dirty="0" err="1" smtClean="0">
                <a:solidFill>
                  <a:srgbClr val="002060"/>
                </a:solidFill>
              </a:rPr>
              <a:t>MAs</a:t>
            </a:r>
            <a:r>
              <a:rPr lang="es-ES" altLang="es-ES" dirty="0" smtClean="0">
                <a:solidFill>
                  <a:srgbClr val="002060"/>
                </a:solidFill>
              </a:rPr>
              <a:t>, con ideas sobre desarrollo de sistemas complejos, trabajo colaborativo y agilidad en la cultura administrativa.</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Programación Extrema (XP)</a:t>
            </a:r>
            <a:endParaRPr lang="en-US" dirty="0"/>
          </a:p>
        </p:txBody>
      </p:sp>
      <p:sp>
        <p:nvSpPr>
          <p:cNvPr id="32" name="31 CuadroTexto"/>
          <p:cNvSpPr txBox="1"/>
          <p:nvPr/>
        </p:nvSpPr>
        <p:spPr>
          <a:xfrm>
            <a:off x="443308" y="1872517"/>
            <a:ext cx="10903566" cy="2532681"/>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Desarrollado por K. Beck en 1999.</a:t>
            </a:r>
          </a:p>
          <a:p>
            <a:pPr marL="273050" indent="-273050">
              <a:lnSpc>
                <a:spcPct val="150000"/>
              </a:lnSpc>
              <a:buFont typeface="Wingdings" pitchFamily="2" charset="2"/>
              <a:buChar char="q"/>
            </a:pPr>
            <a:r>
              <a:rPr lang="es-ES" altLang="es-ES" dirty="0" smtClean="0">
                <a:solidFill>
                  <a:srgbClr val="002060"/>
                </a:solidFill>
              </a:rPr>
              <a:t>Probablemente es la metodología ágil más conocida y utilizada en la actualidad.</a:t>
            </a:r>
          </a:p>
          <a:p>
            <a:pPr marL="273050" indent="-273050">
              <a:lnSpc>
                <a:spcPct val="150000"/>
              </a:lnSpc>
              <a:buFont typeface="Wingdings" pitchFamily="2" charset="2"/>
              <a:buChar char="q"/>
            </a:pPr>
            <a:r>
              <a:rPr lang="es-ES" altLang="es-ES" dirty="0" smtClean="0">
                <a:solidFill>
                  <a:srgbClr val="002060"/>
                </a:solidFill>
              </a:rPr>
              <a:t>XP es un conjunto de prácticas ya conocidas, pero combinadas de manera innovadora para lograr una nueva metodología.</a:t>
            </a:r>
          </a:p>
          <a:p>
            <a:pPr marL="273050" indent="-273050">
              <a:lnSpc>
                <a:spcPct val="150000"/>
              </a:lnSpc>
              <a:buFont typeface="Wingdings" pitchFamily="2" charset="2"/>
              <a:buChar char="q"/>
            </a:pPr>
            <a:r>
              <a:rPr lang="es-ES" altLang="es-ES" dirty="0" smtClean="0">
                <a:solidFill>
                  <a:srgbClr val="002060"/>
                </a:solidFill>
              </a:rPr>
              <a:t>Se la conoce como “Extrema” por el hecho de llevar cada una de sus prácticas a niveles extremos de aplicación.</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Programación Extrema (XP)</a:t>
            </a:r>
            <a:endParaRPr lang="en-US" dirty="0"/>
          </a:p>
        </p:txBody>
      </p:sp>
      <p:pic>
        <p:nvPicPr>
          <p:cNvPr id="4" name="Picture 3" descr="xp1"/>
          <p:cNvPicPr>
            <a:picLocks noChangeAspect="1" noChangeArrowheads="1"/>
          </p:cNvPicPr>
          <p:nvPr/>
        </p:nvPicPr>
        <p:blipFill>
          <a:blip r:embed="rId2"/>
          <a:srcRect/>
          <a:stretch>
            <a:fillRect/>
          </a:stretch>
        </p:blipFill>
        <p:spPr bwMode="auto">
          <a:xfrm>
            <a:off x="1942729" y="1825831"/>
            <a:ext cx="9201150" cy="485775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_tradnl" altLang="es-MX" dirty="0" smtClean="0"/>
              <a:t>Prácticas de Programación Extrema</a:t>
            </a:r>
            <a:endParaRPr lang="en-US" dirty="0"/>
          </a:p>
        </p:txBody>
      </p:sp>
      <p:graphicFrame>
        <p:nvGraphicFramePr>
          <p:cNvPr id="5" name="Group 3"/>
          <p:cNvGraphicFramePr>
            <a:graphicFrameLocks/>
          </p:cNvGraphicFramePr>
          <p:nvPr/>
        </p:nvGraphicFramePr>
        <p:xfrm>
          <a:off x="731713" y="1873683"/>
          <a:ext cx="10632971" cy="4428490"/>
        </p:xfrm>
        <a:graphic>
          <a:graphicData uri="http://schemas.openxmlformats.org/drawingml/2006/table">
            <a:tbl>
              <a:tblPr/>
              <a:tblGrid>
                <a:gridCol w="3826225"/>
                <a:gridCol w="6806746"/>
              </a:tblGrid>
              <a:tr h="1136650">
                <a:tc>
                  <a:txBody>
                    <a:bodyPr/>
                    <a:lstStyle/>
                    <a:p>
                      <a:pPr marL="342900" marR="0" lvl="0" indent="-342900" algn="just" defTabSz="914400" rtl="0" eaLnBrk="1" fontAlgn="t" latinLnBrk="0" hangingPunct="1">
                        <a:lnSpc>
                          <a:spcPct val="100000"/>
                        </a:lnSpc>
                        <a:spcBef>
                          <a:spcPct val="0"/>
                        </a:spcBef>
                        <a:spcAft>
                          <a:spcPct val="0"/>
                        </a:spcAft>
                        <a:buClrTx/>
                        <a:buSzTx/>
                        <a:buFontTx/>
                        <a:buNone/>
                        <a:tabLst/>
                      </a:pPr>
                      <a:r>
                        <a:rPr kumimoji="0" lang="en-GB" sz="1600" b="1" i="0" u="none" strike="noStrike" cap="none" normalizeH="0" baseline="0" dirty="0" err="1" smtClean="0">
                          <a:ln>
                            <a:noFill/>
                          </a:ln>
                          <a:solidFill>
                            <a:schemeClr val="bg1"/>
                          </a:solidFill>
                          <a:effectLst/>
                          <a:latin typeface="+mn-lt"/>
                          <a:cs typeface="Arial" charset="0"/>
                        </a:rPr>
                        <a:t>Planificación</a:t>
                      </a:r>
                      <a:r>
                        <a:rPr kumimoji="0" lang="en-GB" sz="1600" b="1" i="0" u="none" strike="noStrike" cap="none" normalizeH="0" baseline="0" dirty="0" smtClean="0">
                          <a:ln>
                            <a:noFill/>
                          </a:ln>
                          <a:solidFill>
                            <a:schemeClr val="bg1"/>
                          </a:solidFill>
                          <a:effectLst/>
                          <a:latin typeface="+mn-lt"/>
                          <a:cs typeface="Arial" charset="0"/>
                        </a:rPr>
                        <a:t> incremental</a:t>
                      </a:r>
                      <a:endParaRPr kumimoji="0" lang="en-GB" sz="3600" b="1" i="0" u="none" strike="noStrike" cap="none" normalizeH="0" baseline="0" dirty="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chemeClr val="bg1"/>
                          </a:solidFill>
                          <a:effectLst/>
                          <a:latin typeface="+mn-lt"/>
                          <a:cs typeface="Arial" charset="0"/>
                        </a:rPr>
                        <a:t>Los </a:t>
                      </a:r>
                      <a:r>
                        <a:rPr kumimoji="0" lang="en-GB" sz="1600" b="0" i="0" u="none" strike="noStrike" cap="none" normalizeH="0" baseline="0" dirty="0" err="1" smtClean="0">
                          <a:ln>
                            <a:noFill/>
                          </a:ln>
                          <a:solidFill>
                            <a:schemeClr val="bg1"/>
                          </a:solidFill>
                          <a:effectLst/>
                          <a:latin typeface="+mn-lt"/>
                          <a:cs typeface="Arial" charset="0"/>
                        </a:rPr>
                        <a:t>requerimientos</a:t>
                      </a:r>
                      <a:r>
                        <a:rPr kumimoji="0" lang="en-GB" sz="1600" b="0" i="0" u="none" strike="noStrike" cap="none" normalizeH="0" baseline="0" dirty="0" smtClean="0">
                          <a:ln>
                            <a:noFill/>
                          </a:ln>
                          <a:solidFill>
                            <a:schemeClr val="bg1"/>
                          </a:solidFill>
                          <a:effectLst/>
                          <a:latin typeface="+mn-lt"/>
                          <a:cs typeface="Arial" charset="0"/>
                        </a:rPr>
                        <a:t> son </a:t>
                      </a:r>
                      <a:r>
                        <a:rPr kumimoji="0" lang="en-GB" sz="1600" b="0" i="0" u="none" strike="noStrike" cap="none" normalizeH="0" baseline="0" dirty="0" err="1" smtClean="0">
                          <a:ln>
                            <a:noFill/>
                          </a:ln>
                          <a:solidFill>
                            <a:schemeClr val="bg1"/>
                          </a:solidFill>
                          <a:effectLst/>
                          <a:latin typeface="+mn-lt"/>
                          <a:cs typeface="Arial" charset="0"/>
                        </a:rPr>
                        <a:t>grabados</a:t>
                      </a:r>
                      <a:r>
                        <a:rPr kumimoji="0" lang="en-GB" sz="1600" b="0" i="0" u="none" strike="noStrike" cap="none" normalizeH="0" baseline="0" dirty="0" smtClean="0">
                          <a:ln>
                            <a:noFill/>
                          </a:ln>
                          <a:solidFill>
                            <a:schemeClr val="bg1"/>
                          </a:solidFill>
                          <a:effectLst/>
                          <a:latin typeface="+mn-lt"/>
                          <a:cs typeface="Arial" charset="0"/>
                        </a:rPr>
                        <a:t> en </a:t>
                      </a:r>
                      <a:r>
                        <a:rPr kumimoji="0" lang="en-GB" sz="1600" b="0" i="0" u="none" strike="noStrike" cap="none" normalizeH="0" baseline="0" dirty="0" err="1" smtClean="0">
                          <a:ln>
                            <a:noFill/>
                          </a:ln>
                          <a:solidFill>
                            <a:schemeClr val="bg1"/>
                          </a:solidFill>
                          <a:effectLst/>
                          <a:latin typeface="+mn-lt"/>
                          <a:cs typeface="Arial" charset="0"/>
                        </a:rPr>
                        <a:t>tarjetas</a:t>
                      </a:r>
                      <a:r>
                        <a:rPr kumimoji="0" lang="en-GB" sz="1600" b="0" i="0" u="none" strike="noStrike" cap="none" normalizeH="0" baseline="0" dirty="0" smtClean="0">
                          <a:ln>
                            <a:noFill/>
                          </a:ln>
                          <a:solidFill>
                            <a:schemeClr val="bg1"/>
                          </a:solidFill>
                          <a:effectLst/>
                          <a:latin typeface="+mn-lt"/>
                          <a:cs typeface="Arial" charset="0"/>
                        </a:rPr>
                        <a:t> de </a:t>
                      </a:r>
                      <a:r>
                        <a:rPr kumimoji="0" lang="en-GB" sz="1600" b="0" i="0" u="none" strike="noStrike" cap="none" normalizeH="0" baseline="0" dirty="0" err="1" smtClean="0">
                          <a:ln>
                            <a:noFill/>
                          </a:ln>
                          <a:solidFill>
                            <a:schemeClr val="bg1"/>
                          </a:solidFill>
                          <a:effectLst/>
                          <a:latin typeface="+mn-lt"/>
                          <a:cs typeface="Arial" charset="0"/>
                        </a:rPr>
                        <a:t>Historia</a:t>
                      </a:r>
                      <a:r>
                        <a:rPr kumimoji="0" lang="en-GB" sz="1600" b="0" i="0" u="none" strike="noStrike" cap="none" normalizeH="0" baseline="0" dirty="0" smtClean="0">
                          <a:ln>
                            <a:noFill/>
                          </a:ln>
                          <a:solidFill>
                            <a:schemeClr val="bg1"/>
                          </a:solidFill>
                          <a:effectLst/>
                          <a:latin typeface="+mn-lt"/>
                          <a:cs typeface="Arial" charset="0"/>
                        </a:rPr>
                        <a:t> y </a:t>
                      </a:r>
                      <a:r>
                        <a:rPr kumimoji="0" lang="en-GB" sz="1600" b="0" i="0" u="none" strike="noStrike" cap="none" normalizeH="0" baseline="0" dirty="0" err="1" smtClean="0">
                          <a:ln>
                            <a:noFill/>
                          </a:ln>
                          <a:solidFill>
                            <a:schemeClr val="bg1"/>
                          </a:solidFill>
                          <a:effectLst/>
                          <a:latin typeface="+mn-lt"/>
                          <a:cs typeface="Arial" charset="0"/>
                        </a:rPr>
                        <a:t>las</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historias</a:t>
                      </a:r>
                      <a:r>
                        <a:rPr kumimoji="0" lang="en-GB" sz="1600" b="0" i="0" u="none" strike="noStrike" cap="none" normalizeH="0" baseline="0" dirty="0" smtClean="0">
                          <a:ln>
                            <a:noFill/>
                          </a:ln>
                          <a:solidFill>
                            <a:schemeClr val="bg1"/>
                          </a:solidFill>
                          <a:effectLst/>
                          <a:latin typeface="+mn-lt"/>
                          <a:cs typeface="Arial" charset="0"/>
                        </a:rPr>
                        <a:t> a ser </a:t>
                      </a:r>
                      <a:r>
                        <a:rPr kumimoji="0" lang="en-GB" sz="1600" b="0" i="0" u="none" strike="noStrike" cap="none" normalizeH="0" baseline="0" dirty="0" err="1" smtClean="0">
                          <a:ln>
                            <a:noFill/>
                          </a:ln>
                          <a:solidFill>
                            <a:schemeClr val="bg1"/>
                          </a:solidFill>
                          <a:effectLst/>
                          <a:latin typeface="+mn-lt"/>
                          <a:cs typeface="Arial" charset="0"/>
                        </a:rPr>
                        <a:t>incluídas</a:t>
                      </a:r>
                      <a:r>
                        <a:rPr kumimoji="0" lang="en-GB" sz="1600" b="0" i="0" u="none" strike="noStrike" cap="none" normalizeH="0" baseline="0" dirty="0" smtClean="0">
                          <a:ln>
                            <a:noFill/>
                          </a:ln>
                          <a:solidFill>
                            <a:schemeClr val="bg1"/>
                          </a:solidFill>
                          <a:effectLst/>
                          <a:latin typeface="+mn-lt"/>
                          <a:cs typeface="Arial" charset="0"/>
                        </a:rPr>
                        <a:t> en </a:t>
                      </a:r>
                      <a:r>
                        <a:rPr kumimoji="0" lang="en-GB" sz="1600" b="0" i="0" u="none" strike="noStrike" cap="none" normalizeH="0" baseline="0" dirty="0" err="1" smtClean="0">
                          <a:ln>
                            <a:noFill/>
                          </a:ln>
                          <a:solidFill>
                            <a:schemeClr val="bg1"/>
                          </a:solidFill>
                          <a:effectLst/>
                          <a:latin typeface="+mn-lt"/>
                          <a:cs typeface="Arial" charset="0"/>
                        </a:rPr>
                        <a:t>una</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versión</a:t>
                      </a:r>
                      <a:r>
                        <a:rPr kumimoji="0" lang="en-GB" sz="1600" b="0" i="0" u="none" strike="noStrike" cap="none" normalizeH="0" baseline="0" dirty="0" smtClean="0">
                          <a:ln>
                            <a:noFill/>
                          </a:ln>
                          <a:solidFill>
                            <a:schemeClr val="bg1"/>
                          </a:solidFill>
                          <a:effectLst/>
                          <a:latin typeface="+mn-lt"/>
                          <a:cs typeface="Arial" charset="0"/>
                        </a:rPr>
                        <a:t> son </a:t>
                      </a:r>
                      <a:r>
                        <a:rPr kumimoji="0" lang="en-GB" sz="1600" b="0" i="0" u="none" strike="noStrike" cap="none" normalizeH="0" baseline="0" dirty="0" err="1" smtClean="0">
                          <a:ln>
                            <a:noFill/>
                          </a:ln>
                          <a:solidFill>
                            <a:schemeClr val="bg1"/>
                          </a:solidFill>
                          <a:effectLst/>
                          <a:latin typeface="+mn-lt"/>
                          <a:cs typeface="Arial" charset="0"/>
                        </a:rPr>
                        <a:t>determinadas</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por</a:t>
                      </a:r>
                      <a:r>
                        <a:rPr kumimoji="0" lang="en-GB" sz="1600" b="0" i="0" u="none" strike="noStrike" cap="none" normalizeH="0" baseline="0" dirty="0" smtClean="0">
                          <a:ln>
                            <a:noFill/>
                          </a:ln>
                          <a:solidFill>
                            <a:schemeClr val="bg1"/>
                          </a:solidFill>
                          <a:effectLst/>
                          <a:latin typeface="+mn-lt"/>
                          <a:cs typeface="Arial" charset="0"/>
                        </a:rPr>
                        <a:t> el </a:t>
                      </a:r>
                      <a:r>
                        <a:rPr kumimoji="0" lang="en-GB" sz="1600" b="0" i="0" u="none" strike="noStrike" cap="none" normalizeH="0" baseline="0" dirty="0" err="1" smtClean="0">
                          <a:ln>
                            <a:noFill/>
                          </a:ln>
                          <a:solidFill>
                            <a:schemeClr val="bg1"/>
                          </a:solidFill>
                          <a:effectLst/>
                          <a:latin typeface="+mn-lt"/>
                          <a:cs typeface="Arial" charset="0"/>
                        </a:rPr>
                        <a:t>tiempo</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disponible</a:t>
                      </a:r>
                      <a:r>
                        <a:rPr kumimoji="0" lang="en-GB" sz="1600" b="0" i="0" u="none" strike="noStrike" cap="none" normalizeH="0" baseline="0" dirty="0" smtClean="0">
                          <a:ln>
                            <a:noFill/>
                          </a:ln>
                          <a:solidFill>
                            <a:schemeClr val="bg1"/>
                          </a:solidFill>
                          <a:effectLst/>
                          <a:latin typeface="+mn-lt"/>
                          <a:cs typeface="Arial" charset="0"/>
                        </a:rPr>
                        <a:t> y </a:t>
                      </a:r>
                      <a:r>
                        <a:rPr kumimoji="0" lang="en-GB" sz="1600" b="0" i="0" u="none" strike="noStrike" cap="none" normalizeH="0" baseline="0" dirty="0" err="1" smtClean="0">
                          <a:ln>
                            <a:noFill/>
                          </a:ln>
                          <a:solidFill>
                            <a:schemeClr val="bg1"/>
                          </a:solidFill>
                          <a:effectLst/>
                          <a:latin typeface="+mn-lt"/>
                          <a:cs typeface="Arial" charset="0"/>
                        </a:rPr>
                        <a:t>su</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prioridad</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relativa</a:t>
                      </a:r>
                      <a:r>
                        <a:rPr kumimoji="0" lang="en-GB" sz="1600" b="0" i="0" u="none" strike="noStrike" cap="none" normalizeH="0" baseline="0" dirty="0" smtClean="0">
                          <a:ln>
                            <a:noFill/>
                          </a:ln>
                          <a:solidFill>
                            <a:schemeClr val="bg1"/>
                          </a:solidFill>
                          <a:effectLst/>
                          <a:latin typeface="+mn-lt"/>
                          <a:cs typeface="Arial" charset="0"/>
                        </a:rPr>
                        <a:t>. Los </a:t>
                      </a:r>
                      <a:r>
                        <a:rPr kumimoji="0" lang="en-GB" sz="1600" b="0" i="0" u="none" strike="noStrike" cap="none" normalizeH="0" baseline="0" dirty="0" err="1" smtClean="0">
                          <a:ln>
                            <a:noFill/>
                          </a:ln>
                          <a:solidFill>
                            <a:schemeClr val="bg1"/>
                          </a:solidFill>
                          <a:effectLst/>
                          <a:latin typeface="+mn-lt"/>
                          <a:cs typeface="Arial" charset="0"/>
                        </a:rPr>
                        <a:t>desarrolladores</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desglosan</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estas</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historias</a:t>
                      </a:r>
                      <a:r>
                        <a:rPr kumimoji="0" lang="en-GB" sz="1600" b="0" i="0" u="none" strike="noStrike" cap="none" normalizeH="0" baseline="0" dirty="0" smtClean="0">
                          <a:ln>
                            <a:noFill/>
                          </a:ln>
                          <a:solidFill>
                            <a:schemeClr val="bg1"/>
                          </a:solidFill>
                          <a:effectLst/>
                          <a:latin typeface="+mn-lt"/>
                          <a:cs typeface="Arial" charset="0"/>
                        </a:rPr>
                        <a:t> en </a:t>
                      </a:r>
                      <a:r>
                        <a:rPr kumimoji="0" lang="en-GB" sz="1600" b="0" i="0" u="none" strike="noStrike" cap="none" normalizeH="0" baseline="0" dirty="0" err="1" smtClean="0">
                          <a:ln>
                            <a:noFill/>
                          </a:ln>
                          <a:solidFill>
                            <a:schemeClr val="bg1"/>
                          </a:solidFill>
                          <a:effectLst/>
                          <a:latin typeface="+mn-lt"/>
                          <a:cs typeface="Arial" charset="0"/>
                        </a:rPr>
                        <a:t>Tareas</a:t>
                      </a:r>
                      <a:r>
                        <a:rPr kumimoji="0" lang="en-GB" sz="1600" b="0" i="0" u="none" strike="noStrike" cap="none" normalizeH="0" baseline="0" dirty="0" smtClean="0">
                          <a:ln>
                            <a:noFill/>
                          </a:ln>
                          <a:solidFill>
                            <a:schemeClr val="bg1"/>
                          </a:solidFill>
                          <a:effectLst/>
                          <a:latin typeface="+mn-lt"/>
                          <a:cs typeface="Arial" charset="0"/>
                        </a:rPr>
                        <a:t> de </a:t>
                      </a:r>
                      <a:r>
                        <a:rPr kumimoji="0" lang="en-GB" sz="1600" b="0" i="0" u="none" strike="noStrike" cap="none" normalizeH="0" baseline="0" dirty="0" err="1" smtClean="0">
                          <a:ln>
                            <a:noFill/>
                          </a:ln>
                          <a:solidFill>
                            <a:schemeClr val="bg1"/>
                          </a:solidFill>
                          <a:effectLst/>
                          <a:latin typeface="+mn-lt"/>
                          <a:cs typeface="Arial" charset="0"/>
                        </a:rPr>
                        <a:t>desarrollo</a:t>
                      </a:r>
                      <a:r>
                        <a:rPr kumimoji="0" lang="en-GB" sz="1600" b="0" i="0" u="none" strike="noStrike" cap="none" normalizeH="0" baseline="0" dirty="0" smtClean="0">
                          <a:ln>
                            <a:noFill/>
                          </a:ln>
                          <a:solidFill>
                            <a:schemeClr val="bg1"/>
                          </a:solidFill>
                          <a:effectLst/>
                          <a:latin typeface="+mn-lt"/>
                          <a:cs typeface="Arial" charset="0"/>
                        </a:rPr>
                        <a:t> </a:t>
                      </a:r>
                      <a:endParaRPr kumimoji="0" lang="en-GB" sz="3600" b="0" i="0" u="none" strike="noStrike" cap="none" normalizeH="0" baseline="0" dirty="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63613">
                <a:tc>
                  <a:txBody>
                    <a:bodyPr/>
                    <a:lstStyle/>
                    <a:p>
                      <a:pPr marL="342900" marR="0" lvl="0" indent="-342900" algn="just" defTabSz="914400" rtl="0" eaLnBrk="1" fontAlgn="t"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chemeClr val="bg1"/>
                          </a:solidFill>
                          <a:effectLst/>
                          <a:latin typeface="+mn-lt"/>
                          <a:cs typeface="Arial" charset="0"/>
                        </a:rPr>
                        <a:t>Entregas pequeñas</a:t>
                      </a:r>
                      <a:endParaRPr kumimoji="0" lang="en-GB" sz="3600" b="1"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pPr>
                      <a:r>
                        <a:rPr kumimoji="0" lang="en-GB" sz="1600" b="0" i="0" u="none" strike="noStrike" cap="none" normalizeH="0" baseline="0" smtClean="0">
                          <a:ln>
                            <a:noFill/>
                          </a:ln>
                          <a:solidFill>
                            <a:schemeClr val="bg1"/>
                          </a:solidFill>
                          <a:effectLst/>
                          <a:latin typeface="+mn-lt"/>
                          <a:cs typeface="Arial" charset="0"/>
                        </a:rPr>
                        <a:t>El mínimo grupo de funcionalidades útiles que proveen valor al negocio son las que se desarrollan primero. Las versiones del sistema son frecuentes e incrementalmente adicionan funcionalidad a la primera versión</a:t>
                      </a:r>
                      <a:endParaRPr kumimoji="0" lang="en-GB" sz="3600" b="0"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7675">
                <a:tc>
                  <a:txBody>
                    <a:bodyPr/>
                    <a:lstStyle/>
                    <a:p>
                      <a:pPr marL="342900" marR="0" lvl="0" indent="-342900" algn="just" defTabSz="914400" rtl="0" eaLnBrk="1" fontAlgn="t"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chemeClr val="bg1"/>
                          </a:solidFill>
                          <a:effectLst/>
                          <a:latin typeface="+mn-lt"/>
                          <a:cs typeface="Arial" charset="0"/>
                        </a:rPr>
                        <a:t>Diseño simple</a:t>
                      </a:r>
                      <a:endParaRPr kumimoji="0" lang="en-GB" sz="3600" b="1"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chemeClr val="bg1"/>
                          </a:solidFill>
                          <a:effectLst/>
                          <a:latin typeface="+mn-lt"/>
                          <a:cs typeface="Arial" charset="0"/>
                        </a:rPr>
                        <a:t>Solo el </a:t>
                      </a:r>
                      <a:r>
                        <a:rPr kumimoji="0" lang="en-GB" sz="1600" b="0" i="0" u="none" strike="noStrike" cap="none" normalizeH="0" baseline="0" dirty="0" err="1" smtClean="0">
                          <a:ln>
                            <a:noFill/>
                          </a:ln>
                          <a:solidFill>
                            <a:schemeClr val="bg1"/>
                          </a:solidFill>
                          <a:effectLst/>
                          <a:latin typeface="+mn-lt"/>
                          <a:cs typeface="Arial" charset="0"/>
                        </a:rPr>
                        <a:t>diseño</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necesario</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es</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llevado</a:t>
                      </a:r>
                      <a:r>
                        <a:rPr kumimoji="0" lang="en-GB" sz="1600" b="0" i="0" u="none" strike="noStrike" cap="none" normalizeH="0" baseline="0" dirty="0" smtClean="0">
                          <a:ln>
                            <a:noFill/>
                          </a:ln>
                          <a:solidFill>
                            <a:schemeClr val="bg1"/>
                          </a:solidFill>
                          <a:effectLst/>
                          <a:latin typeface="+mn-lt"/>
                          <a:cs typeface="Arial" charset="0"/>
                        </a:rPr>
                        <a:t> a </a:t>
                      </a:r>
                      <a:r>
                        <a:rPr kumimoji="0" lang="en-GB" sz="1600" b="0" i="0" u="none" strike="noStrike" cap="none" normalizeH="0" baseline="0" dirty="0" err="1" smtClean="0">
                          <a:ln>
                            <a:noFill/>
                          </a:ln>
                          <a:solidFill>
                            <a:schemeClr val="bg1"/>
                          </a:solidFill>
                          <a:effectLst/>
                          <a:latin typeface="+mn-lt"/>
                          <a:cs typeface="Arial" charset="0"/>
                        </a:rPr>
                        <a:t>cabo</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para</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cubrir</a:t>
                      </a:r>
                      <a:r>
                        <a:rPr kumimoji="0" lang="en-GB" sz="1600" b="0" i="0" u="none" strike="noStrike" cap="none" normalizeH="0" baseline="0" dirty="0" smtClean="0">
                          <a:ln>
                            <a:noFill/>
                          </a:ln>
                          <a:solidFill>
                            <a:schemeClr val="bg1"/>
                          </a:solidFill>
                          <a:effectLst/>
                          <a:latin typeface="+mn-lt"/>
                          <a:cs typeface="Arial" charset="0"/>
                        </a:rPr>
                        <a:t> los </a:t>
                      </a:r>
                      <a:r>
                        <a:rPr kumimoji="0" lang="en-GB" sz="1600" b="0" i="0" u="none" strike="noStrike" cap="none" normalizeH="0" baseline="0" dirty="0" err="1" smtClean="0">
                          <a:ln>
                            <a:noFill/>
                          </a:ln>
                          <a:solidFill>
                            <a:schemeClr val="bg1"/>
                          </a:solidFill>
                          <a:effectLst/>
                          <a:latin typeface="+mn-lt"/>
                          <a:cs typeface="Arial" charset="0"/>
                        </a:rPr>
                        <a:t>requerimientos</a:t>
                      </a:r>
                      <a:r>
                        <a:rPr kumimoji="0" lang="en-GB" sz="1600" b="0" i="0" u="none" strike="noStrike" cap="none" normalizeH="0" baseline="0" dirty="0" smtClean="0">
                          <a:ln>
                            <a:noFill/>
                          </a:ln>
                          <a:solidFill>
                            <a:schemeClr val="bg1"/>
                          </a:solidFill>
                          <a:effectLst/>
                          <a:latin typeface="+mn-lt"/>
                          <a:cs typeface="Arial" charset="0"/>
                        </a:rPr>
                        <a:t>.</a:t>
                      </a:r>
                      <a:endParaRPr kumimoji="0" lang="en-GB" sz="3600" b="0" i="0" u="none" strike="noStrike" cap="none" normalizeH="0" baseline="0" dirty="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90575">
                <a:tc>
                  <a:txBody>
                    <a:bodyPr/>
                    <a:lstStyle/>
                    <a:p>
                      <a:pPr marL="342900" marR="0" lvl="0" indent="-342900" algn="just" defTabSz="914400" rtl="0" eaLnBrk="1" fontAlgn="t"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chemeClr val="bg1"/>
                          </a:solidFill>
                          <a:effectLst/>
                          <a:latin typeface="+mn-lt"/>
                          <a:cs typeface="Arial" charset="0"/>
                        </a:rPr>
                        <a:t>Desarrollo previamente probado</a:t>
                      </a:r>
                      <a:endParaRPr kumimoji="0" lang="en-GB" sz="3600" b="1"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pPr>
                      <a:r>
                        <a:rPr kumimoji="0" lang="en-GB" sz="1600" b="0" i="0" u="none" strike="noStrike" cap="none" normalizeH="0" baseline="0" smtClean="0">
                          <a:ln>
                            <a:noFill/>
                          </a:ln>
                          <a:solidFill>
                            <a:schemeClr val="bg1"/>
                          </a:solidFill>
                          <a:effectLst/>
                          <a:latin typeface="+mn-lt"/>
                          <a:cs typeface="Arial" charset="0"/>
                        </a:rPr>
                        <a:t>Un plan de trabajo de unidades de pruebas automatizadas es utilizado para escribir pruebas para una nueva pieza de funcionaIIdad antes de que la misma sea implementada</a:t>
                      </a:r>
                      <a:endParaRPr kumimoji="0" lang="en-GB" sz="3600" b="0"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92163">
                <a:tc>
                  <a:txBody>
                    <a:bodyPr/>
                    <a:lstStyle/>
                    <a:p>
                      <a:pPr marL="342900" marR="0" lvl="0" indent="-342900" algn="just" defTabSz="914400" rtl="0" eaLnBrk="1" fontAlgn="t"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chemeClr val="bg1"/>
                          </a:solidFill>
                          <a:effectLst/>
                          <a:latin typeface="+mn-lt"/>
                          <a:cs typeface="Arial" charset="0"/>
                        </a:rPr>
                        <a:t>Refactorización</a:t>
                      </a:r>
                      <a:endParaRPr kumimoji="0" lang="en-GB" sz="3600" b="1"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chemeClr val="bg1"/>
                          </a:solidFill>
                          <a:effectLst/>
                          <a:latin typeface="+mn-lt"/>
                          <a:cs typeface="Arial" charset="0"/>
                        </a:rPr>
                        <a:t>Se </a:t>
                      </a:r>
                      <a:r>
                        <a:rPr kumimoji="0" lang="en-GB" sz="1600" b="0" i="0" u="none" strike="noStrike" cap="none" normalizeH="0" baseline="0" dirty="0" err="1" smtClean="0">
                          <a:ln>
                            <a:noFill/>
                          </a:ln>
                          <a:solidFill>
                            <a:schemeClr val="bg1"/>
                          </a:solidFill>
                          <a:effectLst/>
                          <a:latin typeface="+mn-lt"/>
                          <a:cs typeface="Arial" charset="0"/>
                        </a:rPr>
                        <a:t>espera</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que</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todos</a:t>
                      </a:r>
                      <a:r>
                        <a:rPr kumimoji="0" lang="en-GB" sz="1600" b="0" i="0" u="none" strike="noStrike" cap="none" normalizeH="0" baseline="0" dirty="0" smtClean="0">
                          <a:ln>
                            <a:noFill/>
                          </a:ln>
                          <a:solidFill>
                            <a:schemeClr val="bg1"/>
                          </a:solidFill>
                          <a:effectLst/>
                          <a:latin typeface="+mn-lt"/>
                          <a:cs typeface="Arial" charset="0"/>
                        </a:rPr>
                        <a:t> los </a:t>
                      </a:r>
                      <a:r>
                        <a:rPr kumimoji="0" lang="en-GB" sz="1600" b="0" i="0" u="none" strike="noStrike" cap="none" normalizeH="0" baseline="0" dirty="0" err="1" smtClean="0">
                          <a:ln>
                            <a:noFill/>
                          </a:ln>
                          <a:solidFill>
                            <a:schemeClr val="bg1"/>
                          </a:solidFill>
                          <a:effectLst/>
                          <a:latin typeface="+mn-lt"/>
                          <a:cs typeface="Arial" charset="0"/>
                        </a:rPr>
                        <a:t>desarrolladores</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reinspeccionen</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continuamente</a:t>
                      </a:r>
                      <a:r>
                        <a:rPr kumimoji="0" lang="en-GB" sz="1600" b="0" i="0" u="none" strike="noStrike" cap="none" normalizeH="0" baseline="0" dirty="0" smtClean="0">
                          <a:ln>
                            <a:noFill/>
                          </a:ln>
                          <a:solidFill>
                            <a:schemeClr val="bg1"/>
                          </a:solidFill>
                          <a:effectLst/>
                          <a:latin typeface="+mn-lt"/>
                          <a:cs typeface="Arial" charset="0"/>
                        </a:rPr>
                        <a:t> tan pronto </a:t>
                      </a:r>
                      <a:r>
                        <a:rPr kumimoji="0" lang="en-GB" sz="1600" b="0" i="0" u="none" strike="noStrike" cap="none" normalizeH="0" baseline="0" dirty="0" err="1" smtClean="0">
                          <a:ln>
                            <a:noFill/>
                          </a:ln>
                          <a:solidFill>
                            <a:schemeClr val="bg1"/>
                          </a:solidFill>
                          <a:effectLst/>
                          <a:latin typeface="+mn-lt"/>
                          <a:cs typeface="Arial" charset="0"/>
                        </a:rPr>
                        <a:t>como</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mejoras</a:t>
                      </a:r>
                      <a:r>
                        <a:rPr kumimoji="0" lang="en-GB" sz="1600" b="0" i="0" u="none" strike="noStrike" cap="none" normalizeH="0" baseline="0" dirty="0" smtClean="0">
                          <a:ln>
                            <a:noFill/>
                          </a:ln>
                          <a:solidFill>
                            <a:schemeClr val="bg1"/>
                          </a:solidFill>
                          <a:effectLst/>
                          <a:latin typeface="+mn-lt"/>
                          <a:cs typeface="Arial" charset="0"/>
                        </a:rPr>
                        <a:t> al </a:t>
                      </a:r>
                      <a:r>
                        <a:rPr kumimoji="0" lang="en-GB" sz="1600" b="0" i="0" u="none" strike="noStrike" cap="none" normalizeH="0" baseline="0" dirty="0" err="1" smtClean="0">
                          <a:ln>
                            <a:noFill/>
                          </a:ln>
                          <a:solidFill>
                            <a:schemeClr val="bg1"/>
                          </a:solidFill>
                          <a:effectLst/>
                          <a:latin typeface="+mn-lt"/>
                          <a:cs typeface="Arial" charset="0"/>
                        </a:rPr>
                        <a:t>código</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sean</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identificadas</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Esto</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mantiene</a:t>
                      </a:r>
                      <a:r>
                        <a:rPr kumimoji="0" lang="en-GB" sz="1600" b="0" i="0" u="none" strike="noStrike" cap="none" normalizeH="0" baseline="0" dirty="0" smtClean="0">
                          <a:ln>
                            <a:noFill/>
                          </a:ln>
                          <a:solidFill>
                            <a:schemeClr val="bg1"/>
                          </a:solidFill>
                          <a:effectLst/>
                          <a:latin typeface="+mn-lt"/>
                          <a:cs typeface="Arial" charset="0"/>
                        </a:rPr>
                        <a:t> el </a:t>
                      </a:r>
                      <a:r>
                        <a:rPr kumimoji="0" lang="en-GB" sz="1600" b="0" i="0" u="none" strike="noStrike" cap="none" normalizeH="0" baseline="0" dirty="0" err="1" smtClean="0">
                          <a:ln>
                            <a:noFill/>
                          </a:ln>
                          <a:solidFill>
                            <a:schemeClr val="bg1"/>
                          </a:solidFill>
                          <a:effectLst/>
                          <a:latin typeface="+mn-lt"/>
                          <a:cs typeface="Arial" charset="0"/>
                        </a:rPr>
                        <a:t>código</a:t>
                      </a:r>
                      <a:r>
                        <a:rPr kumimoji="0" lang="en-GB" sz="1600" b="0" i="0" u="none" strike="noStrike" cap="none" normalizeH="0" baseline="0" dirty="0" smtClean="0">
                          <a:ln>
                            <a:noFill/>
                          </a:ln>
                          <a:solidFill>
                            <a:schemeClr val="bg1"/>
                          </a:solidFill>
                          <a:effectLst/>
                          <a:latin typeface="+mn-lt"/>
                          <a:cs typeface="Arial" charset="0"/>
                        </a:rPr>
                        <a:t> simple y </a:t>
                      </a:r>
                      <a:r>
                        <a:rPr kumimoji="0" lang="en-GB" sz="1600" b="0" i="0" u="none" strike="noStrike" cap="none" normalizeH="0" baseline="0" dirty="0" err="1" smtClean="0">
                          <a:ln>
                            <a:noFill/>
                          </a:ln>
                          <a:solidFill>
                            <a:schemeClr val="bg1"/>
                          </a:solidFill>
                          <a:effectLst/>
                          <a:latin typeface="+mn-lt"/>
                          <a:cs typeface="Arial" charset="0"/>
                        </a:rPr>
                        <a:t>mantenible</a:t>
                      </a:r>
                      <a:endParaRPr kumimoji="0" lang="en-GB" sz="3600" b="0" i="0" u="none" strike="noStrike" cap="none" normalizeH="0" baseline="0" dirty="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_tradnl" altLang="es-MX" dirty="0" smtClean="0"/>
              <a:t>Prácticas de Programación Extrema</a:t>
            </a:r>
          </a:p>
        </p:txBody>
      </p:sp>
      <p:graphicFrame>
        <p:nvGraphicFramePr>
          <p:cNvPr id="4" name="Group 2"/>
          <p:cNvGraphicFramePr>
            <a:graphicFrameLocks/>
          </p:cNvGraphicFramePr>
          <p:nvPr/>
        </p:nvGraphicFramePr>
        <p:xfrm>
          <a:off x="611188" y="1906815"/>
          <a:ext cx="10812874" cy="4509770"/>
        </p:xfrm>
        <a:graphic>
          <a:graphicData uri="http://schemas.openxmlformats.org/drawingml/2006/table">
            <a:tbl>
              <a:tblPr/>
              <a:tblGrid>
                <a:gridCol w="3192171"/>
                <a:gridCol w="7620703"/>
              </a:tblGrid>
              <a:tr h="730250">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GB" sz="1600" b="1" i="0" u="none" strike="noStrike" cap="none" normalizeH="0" baseline="0" dirty="0" err="1" smtClean="0">
                          <a:ln>
                            <a:noFill/>
                          </a:ln>
                          <a:solidFill>
                            <a:schemeClr val="bg1"/>
                          </a:solidFill>
                          <a:effectLst/>
                          <a:latin typeface="+mn-lt"/>
                          <a:cs typeface="Arial" charset="0"/>
                        </a:rPr>
                        <a:t>Programación</a:t>
                      </a:r>
                      <a:r>
                        <a:rPr kumimoji="0" lang="en-GB" sz="1600" b="1" i="0" u="none" strike="noStrike" cap="none" normalizeH="0" baseline="0" dirty="0" smtClean="0">
                          <a:ln>
                            <a:noFill/>
                          </a:ln>
                          <a:solidFill>
                            <a:schemeClr val="bg1"/>
                          </a:solidFill>
                          <a:effectLst/>
                          <a:latin typeface="+mn-lt"/>
                          <a:cs typeface="Arial" charset="0"/>
                        </a:rPr>
                        <a:t> en pares</a:t>
                      </a:r>
                      <a:endParaRPr kumimoji="0" lang="en-GB" sz="3600" b="1" i="0" u="none" strike="noStrike" cap="none" normalizeH="0" baseline="0" dirty="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pPr>
                      <a:r>
                        <a:rPr kumimoji="0" lang="en-GB" sz="1600" b="0" i="0" u="none" strike="noStrike" cap="none" normalizeH="0" baseline="0" smtClean="0">
                          <a:ln>
                            <a:noFill/>
                          </a:ln>
                          <a:solidFill>
                            <a:schemeClr val="bg1"/>
                          </a:solidFill>
                          <a:effectLst/>
                          <a:latin typeface="+mn-lt"/>
                          <a:cs typeface="Arial" charset="0"/>
                        </a:rPr>
                        <a:t>Los desarrolladores trabajan en pares chequeando el trabajo del otro y proveyendo soporte para que el trabajo sea siempre de buena calidad</a:t>
                      </a:r>
                      <a:endParaRPr kumimoji="0" lang="en-GB" sz="3600" b="0"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90588">
                <a:tc>
                  <a:txBody>
                    <a:bodyPr/>
                    <a:lstStyle/>
                    <a:p>
                      <a:pPr marL="342900" marR="0" lvl="0" indent="-342900" algn="just" defTabSz="914400" rtl="0" eaLnBrk="1" fontAlgn="t" latinLnBrk="0" hangingPunct="1">
                        <a:lnSpc>
                          <a:spcPct val="100000"/>
                        </a:lnSpc>
                        <a:spcBef>
                          <a:spcPct val="0"/>
                        </a:spcBef>
                        <a:spcAft>
                          <a:spcPct val="0"/>
                        </a:spcAft>
                        <a:buClrTx/>
                        <a:buSzTx/>
                        <a:buFontTx/>
                        <a:buNone/>
                        <a:tabLst/>
                      </a:pPr>
                      <a:r>
                        <a:rPr kumimoji="0" lang="en-GB" sz="1600" b="1" i="0" u="none" strike="noStrike" cap="none" normalizeH="0" baseline="0" dirty="0" err="1" smtClean="0">
                          <a:ln>
                            <a:noFill/>
                          </a:ln>
                          <a:solidFill>
                            <a:schemeClr val="bg1"/>
                          </a:solidFill>
                          <a:effectLst/>
                          <a:latin typeface="+mn-lt"/>
                          <a:cs typeface="Arial" charset="0"/>
                        </a:rPr>
                        <a:t>Propiedad</a:t>
                      </a:r>
                      <a:r>
                        <a:rPr kumimoji="0" lang="en-GB" sz="1600" b="1" i="0" u="none" strike="noStrike" cap="none" normalizeH="0" baseline="0" dirty="0" smtClean="0">
                          <a:ln>
                            <a:noFill/>
                          </a:ln>
                          <a:solidFill>
                            <a:schemeClr val="bg1"/>
                          </a:solidFill>
                          <a:effectLst/>
                          <a:latin typeface="+mn-lt"/>
                          <a:cs typeface="Arial" charset="0"/>
                        </a:rPr>
                        <a:t> </a:t>
                      </a:r>
                      <a:r>
                        <a:rPr kumimoji="0" lang="en-GB" sz="1600" b="1" i="0" u="none" strike="noStrike" cap="none" normalizeH="0" baseline="0" dirty="0" err="1" smtClean="0">
                          <a:ln>
                            <a:noFill/>
                          </a:ln>
                          <a:solidFill>
                            <a:schemeClr val="bg1"/>
                          </a:solidFill>
                          <a:effectLst/>
                          <a:latin typeface="+mn-lt"/>
                          <a:cs typeface="Arial" charset="0"/>
                        </a:rPr>
                        <a:t>colectiva</a:t>
                      </a:r>
                      <a:endParaRPr kumimoji="0" lang="en-GB" sz="3600" b="1" i="0" u="none" strike="noStrike" cap="none" normalizeH="0" baseline="0" dirty="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pPr>
                      <a:r>
                        <a:rPr kumimoji="0" lang="en-GB" sz="1600" b="0" i="0" u="none" strike="noStrike" cap="none" normalizeH="0" baseline="0" smtClean="0">
                          <a:ln>
                            <a:noFill/>
                          </a:ln>
                          <a:solidFill>
                            <a:schemeClr val="bg1"/>
                          </a:solidFill>
                          <a:effectLst/>
                          <a:latin typeface="+mn-lt"/>
                          <a:cs typeface="Arial" charset="0"/>
                        </a:rPr>
                        <a:t>Los pares de desarrolladores trabajan en todas las áreas del sistema, de manera que no existan expertos en determinadas áreas. Todos son propietarios de todo el código y cualquiera puede cambiar cualquier cosa</a:t>
                      </a:r>
                      <a:endParaRPr kumimoji="0" lang="en-GB" sz="3600" b="0"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30250">
                <a:tc>
                  <a:txBody>
                    <a:bodyPr/>
                    <a:lstStyle/>
                    <a:p>
                      <a:pPr marL="342900" marR="0" lvl="0" indent="-342900" algn="just" defTabSz="914400" rtl="0" eaLnBrk="1" fontAlgn="t"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chemeClr val="bg1"/>
                          </a:solidFill>
                          <a:effectLst/>
                          <a:latin typeface="+mn-lt"/>
                          <a:cs typeface="Arial" charset="0"/>
                        </a:rPr>
                        <a:t>Integración contínua</a:t>
                      </a:r>
                      <a:endParaRPr kumimoji="0" lang="en-GB" sz="3600" b="1"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pPr>
                      <a:r>
                        <a:rPr kumimoji="0" lang="en-GB" sz="1600" b="0" i="0" u="none" strike="noStrike" cap="none" normalizeH="0" baseline="0" smtClean="0">
                          <a:ln>
                            <a:noFill/>
                          </a:ln>
                          <a:solidFill>
                            <a:schemeClr val="bg1"/>
                          </a:solidFill>
                          <a:effectLst/>
                          <a:latin typeface="+mn-lt"/>
                          <a:cs typeface="Arial" charset="0"/>
                        </a:rPr>
                        <a:t>Tan pronto como el trabajo de una tarea se completa, es integrado dentro del sistema. Luego de cualquier integración, se prueban todas las unidades  en el sistema</a:t>
                      </a:r>
                      <a:endParaRPr kumimoji="0" lang="en-GB" sz="3600" b="0"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30250">
                <a:tc>
                  <a:txBody>
                    <a:bodyPr/>
                    <a:lstStyle/>
                    <a:p>
                      <a:pPr marL="342900" marR="0" lvl="0" indent="-342900" algn="just" defTabSz="914400" rtl="0" eaLnBrk="1" fontAlgn="t"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chemeClr val="bg1"/>
                          </a:solidFill>
                          <a:effectLst/>
                          <a:latin typeface="+mn-lt"/>
                          <a:cs typeface="Arial" charset="0"/>
                        </a:rPr>
                        <a:t>Ritmo  sostenible</a:t>
                      </a:r>
                      <a:endParaRPr kumimoji="0" lang="en-GB" sz="3600" b="1"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pPr>
                      <a:r>
                        <a:rPr kumimoji="0" lang="en-GB" sz="1600" b="0" i="0" u="none" strike="noStrike" cap="none" normalizeH="0" baseline="0" smtClean="0">
                          <a:ln>
                            <a:noFill/>
                          </a:ln>
                          <a:solidFill>
                            <a:schemeClr val="bg1"/>
                          </a:solidFill>
                          <a:effectLst/>
                          <a:latin typeface="+mn-lt"/>
                          <a:cs typeface="Arial" charset="0"/>
                        </a:rPr>
                        <a:t>Grandes cantidades de horas extras no son aceptables ya que el efecto red a menudo reduce la calidad del código y el tiempo medio de productividad</a:t>
                      </a:r>
                      <a:endParaRPr kumimoji="0" lang="en-GB" sz="3600" b="0"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49338">
                <a:tc>
                  <a:txBody>
                    <a:bodyPr/>
                    <a:lstStyle/>
                    <a:p>
                      <a:pPr marL="342900" marR="0" lvl="0" indent="-342900" algn="just" defTabSz="914400" rtl="0" eaLnBrk="1" fontAlgn="t"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chemeClr val="bg1"/>
                          </a:solidFill>
                          <a:effectLst/>
                          <a:latin typeface="+mn-lt"/>
                          <a:cs typeface="Arial" charset="0"/>
                        </a:rPr>
                        <a:t>Cliente presente</a:t>
                      </a:r>
                      <a:endParaRPr kumimoji="0" lang="en-GB" sz="3600" b="1" i="0" u="none" strike="noStrike" cap="none" normalizeH="0" baseline="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chemeClr val="bg1"/>
                          </a:solidFill>
                          <a:effectLst/>
                          <a:latin typeface="+mn-lt"/>
                          <a:cs typeface="Arial" charset="0"/>
                        </a:rPr>
                        <a:t>Un </a:t>
                      </a:r>
                      <a:r>
                        <a:rPr kumimoji="0" lang="en-GB" sz="1600" b="0" i="0" u="none" strike="noStrike" cap="none" normalizeH="0" baseline="0" dirty="0" err="1" smtClean="0">
                          <a:ln>
                            <a:noFill/>
                          </a:ln>
                          <a:solidFill>
                            <a:schemeClr val="bg1"/>
                          </a:solidFill>
                          <a:effectLst/>
                          <a:latin typeface="+mn-lt"/>
                          <a:cs typeface="Arial" charset="0"/>
                        </a:rPr>
                        <a:t>representante</a:t>
                      </a:r>
                      <a:r>
                        <a:rPr kumimoji="0" lang="en-GB" sz="1600" b="0" i="0" u="none" strike="noStrike" cap="none" normalizeH="0" baseline="0" dirty="0" smtClean="0">
                          <a:ln>
                            <a:noFill/>
                          </a:ln>
                          <a:solidFill>
                            <a:schemeClr val="bg1"/>
                          </a:solidFill>
                          <a:effectLst/>
                          <a:latin typeface="+mn-lt"/>
                          <a:cs typeface="Arial" charset="0"/>
                        </a:rPr>
                        <a:t> del </a:t>
                      </a:r>
                      <a:r>
                        <a:rPr kumimoji="0" lang="en-GB" sz="1600" b="0" i="0" u="none" strike="noStrike" cap="none" normalizeH="0" baseline="0" dirty="0" err="1" smtClean="0">
                          <a:ln>
                            <a:noFill/>
                          </a:ln>
                          <a:solidFill>
                            <a:schemeClr val="bg1"/>
                          </a:solidFill>
                          <a:effectLst/>
                          <a:latin typeface="+mn-lt"/>
                          <a:cs typeface="Arial" charset="0"/>
                        </a:rPr>
                        <a:t>usuario</a:t>
                      </a:r>
                      <a:r>
                        <a:rPr kumimoji="0" lang="en-GB" sz="1600" b="0" i="0" u="none" strike="noStrike" cap="none" normalizeH="0" baseline="0" dirty="0" smtClean="0">
                          <a:ln>
                            <a:noFill/>
                          </a:ln>
                          <a:solidFill>
                            <a:schemeClr val="bg1"/>
                          </a:solidFill>
                          <a:effectLst/>
                          <a:latin typeface="+mn-lt"/>
                          <a:cs typeface="Arial" charset="0"/>
                        </a:rPr>
                        <a:t> final del </a:t>
                      </a:r>
                      <a:r>
                        <a:rPr kumimoji="0" lang="en-GB" sz="1600" b="0" i="0" u="none" strike="noStrike" cap="none" normalizeH="0" baseline="0" dirty="0" err="1" smtClean="0">
                          <a:ln>
                            <a:noFill/>
                          </a:ln>
                          <a:solidFill>
                            <a:schemeClr val="bg1"/>
                          </a:solidFill>
                          <a:effectLst/>
                          <a:latin typeface="+mn-lt"/>
                          <a:cs typeface="Arial" charset="0"/>
                        </a:rPr>
                        <a:t>sistema</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cliente</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debería</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estar</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disponible</a:t>
                      </a:r>
                      <a:r>
                        <a:rPr kumimoji="0" lang="en-GB" sz="1600" b="0" i="0" u="none" strike="noStrike" cap="none" normalizeH="0" baseline="0" dirty="0" smtClean="0">
                          <a:ln>
                            <a:noFill/>
                          </a:ln>
                          <a:solidFill>
                            <a:schemeClr val="bg1"/>
                          </a:solidFill>
                          <a:effectLst/>
                          <a:latin typeface="+mn-lt"/>
                          <a:cs typeface="Arial" charset="0"/>
                        </a:rPr>
                        <a:t> a </a:t>
                      </a:r>
                      <a:r>
                        <a:rPr kumimoji="0" lang="en-GB" sz="1600" b="0" i="0" u="none" strike="noStrike" cap="none" normalizeH="0" baseline="0" dirty="0" err="1" smtClean="0">
                          <a:ln>
                            <a:noFill/>
                          </a:ln>
                          <a:solidFill>
                            <a:schemeClr val="bg1"/>
                          </a:solidFill>
                          <a:effectLst/>
                          <a:latin typeface="+mn-lt"/>
                          <a:cs typeface="Arial" charset="0"/>
                        </a:rPr>
                        <a:t>tiempo</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completo</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para</a:t>
                      </a:r>
                      <a:r>
                        <a:rPr kumimoji="0" lang="en-GB" sz="1600" b="0" i="0" u="none" strike="noStrike" cap="none" normalizeH="0" baseline="0" dirty="0" smtClean="0">
                          <a:ln>
                            <a:noFill/>
                          </a:ln>
                          <a:solidFill>
                            <a:schemeClr val="bg1"/>
                          </a:solidFill>
                          <a:effectLst/>
                          <a:latin typeface="+mn-lt"/>
                          <a:cs typeface="Arial" charset="0"/>
                        </a:rPr>
                        <a:t> el </a:t>
                      </a:r>
                      <a:r>
                        <a:rPr kumimoji="0" lang="en-GB" sz="1600" b="0" i="0" u="none" strike="noStrike" cap="none" normalizeH="0" baseline="0" dirty="0" err="1" smtClean="0">
                          <a:ln>
                            <a:noFill/>
                          </a:ln>
                          <a:solidFill>
                            <a:schemeClr val="bg1"/>
                          </a:solidFill>
                          <a:effectLst/>
                          <a:latin typeface="+mn-lt"/>
                          <a:cs typeface="Arial" charset="0"/>
                        </a:rPr>
                        <a:t>equipo</a:t>
                      </a:r>
                      <a:r>
                        <a:rPr kumimoji="0" lang="en-GB" sz="1600" b="0" i="0" u="none" strike="noStrike" cap="none" normalizeH="0" baseline="0" dirty="0" smtClean="0">
                          <a:ln>
                            <a:noFill/>
                          </a:ln>
                          <a:solidFill>
                            <a:schemeClr val="bg1"/>
                          </a:solidFill>
                          <a:effectLst/>
                          <a:latin typeface="+mn-lt"/>
                          <a:cs typeface="Arial" charset="0"/>
                        </a:rPr>
                        <a:t> de XP. En un </a:t>
                      </a:r>
                      <a:r>
                        <a:rPr kumimoji="0" lang="en-GB" sz="1600" b="0" i="0" u="none" strike="noStrike" cap="none" normalizeH="0" baseline="0" dirty="0" err="1" smtClean="0">
                          <a:ln>
                            <a:noFill/>
                          </a:ln>
                          <a:solidFill>
                            <a:schemeClr val="bg1"/>
                          </a:solidFill>
                          <a:effectLst/>
                          <a:latin typeface="+mn-lt"/>
                          <a:cs typeface="Arial" charset="0"/>
                        </a:rPr>
                        <a:t>proceso</a:t>
                      </a:r>
                      <a:r>
                        <a:rPr kumimoji="0" lang="en-GB" sz="1600" b="0" i="0" u="none" strike="noStrike" cap="none" normalizeH="0" baseline="0" dirty="0" smtClean="0">
                          <a:ln>
                            <a:noFill/>
                          </a:ln>
                          <a:solidFill>
                            <a:schemeClr val="bg1"/>
                          </a:solidFill>
                          <a:effectLst/>
                          <a:latin typeface="+mn-lt"/>
                          <a:cs typeface="Arial" charset="0"/>
                        </a:rPr>
                        <a:t> de XP, el </a:t>
                      </a:r>
                      <a:r>
                        <a:rPr kumimoji="0" lang="en-GB" sz="1600" b="0" i="0" u="none" strike="noStrike" cap="none" normalizeH="0" baseline="0" dirty="0" err="1" smtClean="0">
                          <a:ln>
                            <a:noFill/>
                          </a:ln>
                          <a:solidFill>
                            <a:schemeClr val="bg1"/>
                          </a:solidFill>
                          <a:effectLst/>
                          <a:latin typeface="+mn-lt"/>
                          <a:cs typeface="Arial" charset="0"/>
                        </a:rPr>
                        <a:t>cliente</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es</a:t>
                      </a:r>
                      <a:r>
                        <a:rPr kumimoji="0" lang="en-GB" sz="1600" b="0" i="0" u="none" strike="noStrike" cap="none" normalizeH="0" baseline="0" dirty="0" smtClean="0">
                          <a:ln>
                            <a:noFill/>
                          </a:ln>
                          <a:solidFill>
                            <a:schemeClr val="bg1"/>
                          </a:solidFill>
                          <a:effectLst/>
                          <a:latin typeface="+mn-lt"/>
                          <a:cs typeface="Arial" charset="0"/>
                        </a:rPr>
                        <a:t> un </a:t>
                      </a:r>
                      <a:r>
                        <a:rPr kumimoji="0" lang="en-GB" sz="1600" b="0" i="0" u="none" strike="noStrike" cap="none" normalizeH="0" baseline="0" dirty="0" err="1" smtClean="0">
                          <a:ln>
                            <a:noFill/>
                          </a:ln>
                          <a:solidFill>
                            <a:schemeClr val="bg1"/>
                          </a:solidFill>
                          <a:effectLst/>
                          <a:latin typeface="+mn-lt"/>
                          <a:cs typeface="Arial" charset="0"/>
                        </a:rPr>
                        <a:t>miembro</a:t>
                      </a:r>
                      <a:r>
                        <a:rPr kumimoji="0" lang="en-GB" sz="1600" b="0" i="0" u="none" strike="noStrike" cap="none" normalizeH="0" baseline="0" dirty="0" smtClean="0">
                          <a:ln>
                            <a:noFill/>
                          </a:ln>
                          <a:solidFill>
                            <a:schemeClr val="bg1"/>
                          </a:solidFill>
                          <a:effectLst/>
                          <a:latin typeface="+mn-lt"/>
                          <a:cs typeface="Arial" charset="0"/>
                        </a:rPr>
                        <a:t> del </a:t>
                      </a:r>
                      <a:r>
                        <a:rPr kumimoji="0" lang="en-GB" sz="1600" b="0" i="0" u="none" strike="noStrike" cap="none" normalizeH="0" baseline="0" dirty="0" err="1" smtClean="0">
                          <a:ln>
                            <a:noFill/>
                          </a:ln>
                          <a:solidFill>
                            <a:schemeClr val="bg1"/>
                          </a:solidFill>
                          <a:effectLst/>
                          <a:latin typeface="+mn-lt"/>
                          <a:cs typeface="Arial" charset="0"/>
                        </a:rPr>
                        <a:t>equipo</a:t>
                      </a:r>
                      <a:r>
                        <a:rPr kumimoji="0" lang="en-GB" sz="1600" b="0" i="0" u="none" strike="noStrike" cap="none" normalizeH="0" baseline="0" dirty="0" smtClean="0">
                          <a:ln>
                            <a:noFill/>
                          </a:ln>
                          <a:solidFill>
                            <a:schemeClr val="bg1"/>
                          </a:solidFill>
                          <a:effectLst/>
                          <a:latin typeface="+mn-lt"/>
                          <a:cs typeface="Arial" charset="0"/>
                        </a:rPr>
                        <a:t> de </a:t>
                      </a:r>
                      <a:r>
                        <a:rPr kumimoji="0" lang="en-GB" sz="1600" b="0" i="0" u="none" strike="noStrike" cap="none" normalizeH="0" baseline="0" dirty="0" err="1" smtClean="0">
                          <a:ln>
                            <a:noFill/>
                          </a:ln>
                          <a:solidFill>
                            <a:schemeClr val="bg1"/>
                          </a:solidFill>
                          <a:effectLst/>
                          <a:latin typeface="+mn-lt"/>
                          <a:cs typeface="Arial" charset="0"/>
                        </a:rPr>
                        <a:t>desarrollo</a:t>
                      </a:r>
                      <a:r>
                        <a:rPr kumimoji="0" lang="en-GB" sz="1600" b="0" i="0" u="none" strike="noStrike" cap="none" normalizeH="0" baseline="0" dirty="0" smtClean="0">
                          <a:ln>
                            <a:noFill/>
                          </a:ln>
                          <a:solidFill>
                            <a:schemeClr val="bg1"/>
                          </a:solidFill>
                          <a:effectLst/>
                          <a:latin typeface="+mn-lt"/>
                          <a:cs typeface="Arial" charset="0"/>
                        </a:rPr>
                        <a:t>, y </a:t>
                      </a:r>
                      <a:r>
                        <a:rPr kumimoji="0" lang="en-GB" sz="1600" b="0" i="0" u="none" strike="noStrike" cap="none" normalizeH="0" baseline="0" dirty="0" err="1" smtClean="0">
                          <a:ln>
                            <a:noFill/>
                          </a:ln>
                          <a:solidFill>
                            <a:schemeClr val="bg1"/>
                          </a:solidFill>
                          <a:effectLst/>
                          <a:latin typeface="+mn-lt"/>
                          <a:cs typeface="Arial" charset="0"/>
                        </a:rPr>
                        <a:t>es</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responsable</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por</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hacer</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llegar</a:t>
                      </a:r>
                      <a:r>
                        <a:rPr kumimoji="0" lang="en-GB" sz="1600" b="0" i="0" u="none" strike="noStrike" cap="none" normalizeH="0" baseline="0" dirty="0" smtClean="0">
                          <a:ln>
                            <a:noFill/>
                          </a:ln>
                          <a:solidFill>
                            <a:schemeClr val="bg1"/>
                          </a:solidFill>
                          <a:effectLst/>
                          <a:latin typeface="+mn-lt"/>
                          <a:cs typeface="Arial" charset="0"/>
                        </a:rPr>
                        <a:t> los </a:t>
                      </a:r>
                      <a:r>
                        <a:rPr kumimoji="0" lang="en-GB" sz="1600" b="0" i="0" u="none" strike="noStrike" cap="none" normalizeH="0" baseline="0" dirty="0" err="1" smtClean="0">
                          <a:ln>
                            <a:noFill/>
                          </a:ln>
                          <a:solidFill>
                            <a:schemeClr val="bg1"/>
                          </a:solidFill>
                          <a:effectLst/>
                          <a:latin typeface="+mn-lt"/>
                          <a:cs typeface="Arial" charset="0"/>
                        </a:rPr>
                        <a:t>requerimientos</a:t>
                      </a:r>
                      <a:r>
                        <a:rPr kumimoji="0" lang="en-GB" sz="1600" b="0" i="0" u="none" strike="noStrike" cap="none" normalizeH="0" baseline="0" dirty="0" smtClean="0">
                          <a:ln>
                            <a:noFill/>
                          </a:ln>
                          <a:solidFill>
                            <a:schemeClr val="bg1"/>
                          </a:solidFill>
                          <a:effectLst/>
                          <a:latin typeface="+mn-lt"/>
                          <a:cs typeface="Arial" charset="0"/>
                        </a:rPr>
                        <a:t> al </a:t>
                      </a:r>
                      <a:r>
                        <a:rPr kumimoji="0" lang="en-GB" sz="1600" b="0" i="0" u="none" strike="noStrike" cap="none" normalizeH="0" baseline="0" dirty="0" err="1" smtClean="0">
                          <a:ln>
                            <a:noFill/>
                          </a:ln>
                          <a:solidFill>
                            <a:schemeClr val="bg1"/>
                          </a:solidFill>
                          <a:effectLst/>
                          <a:latin typeface="+mn-lt"/>
                          <a:cs typeface="Arial" charset="0"/>
                        </a:rPr>
                        <a:t>equipo</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para</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su</a:t>
                      </a:r>
                      <a:r>
                        <a:rPr kumimoji="0" lang="en-GB" sz="1600" b="0" i="0" u="none" strike="noStrike" cap="none" normalizeH="0" baseline="0" dirty="0" smtClean="0">
                          <a:ln>
                            <a:noFill/>
                          </a:ln>
                          <a:solidFill>
                            <a:schemeClr val="bg1"/>
                          </a:solidFill>
                          <a:effectLst/>
                          <a:latin typeface="+mn-lt"/>
                          <a:cs typeface="Arial" charset="0"/>
                        </a:rPr>
                        <a:t> </a:t>
                      </a:r>
                      <a:r>
                        <a:rPr kumimoji="0" lang="en-GB" sz="1600" b="0" i="0" u="none" strike="noStrike" cap="none" normalizeH="0" baseline="0" dirty="0" err="1" smtClean="0">
                          <a:ln>
                            <a:noFill/>
                          </a:ln>
                          <a:solidFill>
                            <a:schemeClr val="bg1"/>
                          </a:solidFill>
                          <a:effectLst/>
                          <a:latin typeface="+mn-lt"/>
                          <a:cs typeface="Arial" charset="0"/>
                        </a:rPr>
                        <a:t>implementación</a:t>
                      </a:r>
                      <a:endParaRPr kumimoji="0" lang="en-GB" sz="3600" b="0" i="0" u="none" strike="noStrike" cap="none" normalizeH="0" baseline="0" dirty="0" smtClean="0">
                        <a:ln>
                          <a:noFill/>
                        </a:ln>
                        <a:solidFill>
                          <a:schemeClr val="bg1"/>
                        </a:solidFill>
                        <a:effectLst/>
                        <a:latin typeface="+mn-l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Uso actual de XP</a:t>
            </a:r>
            <a:endParaRPr lang="en-US" dirty="0"/>
          </a:p>
        </p:txBody>
      </p:sp>
      <p:sp>
        <p:nvSpPr>
          <p:cNvPr id="32" name="31 CuadroTexto"/>
          <p:cNvSpPr txBox="1"/>
          <p:nvPr/>
        </p:nvSpPr>
        <p:spPr>
          <a:xfrm>
            <a:off x="443308" y="1872517"/>
            <a:ext cx="10903566" cy="1701684"/>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El 38% del mercado “ágil” utiliza XP. Esto es gracias a que tiene bien definidas sus prácticas a lo largo de todo el proceso de desarrollo.</a:t>
            </a:r>
          </a:p>
          <a:p>
            <a:pPr marL="273050" indent="-273050">
              <a:lnSpc>
                <a:spcPct val="150000"/>
              </a:lnSpc>
              <a:buFont typeface="Wingdings" pitchFamily="2" charset="2"/>
              <a:buChar char="q"/>
            </a:pPr>
            <a:r>
              <a:rPr lang="es-ES" altLang="es-ES" dirty="0" smtClean="0">
                <a:solidFill>
                  <a:srgbClr val="002060"/>
                </a:solidFill>
              </a:rPr>
              <a:t>En la Agile Alliance se puede apreciar en el grupo de usuarios de </a:t>
            </a:r>
            <a:r>
              <a:rPr lang="es-ES" altLang="es-ES" dirty="0" err="1" smtClean="0">
                <a:solidFill>
                  <a:srgbClr val="002060"/>
                </a:solidFill>
              </a:rPr>
              <a:t>MAs</a:t>
            </a:r>
            <a:r>
              <a:rPr lang="es-ES" altLang="es-ES" dirty="0" smtClean="0">
                <a:solidFill>
                  <a:srgbClr val="002060"/>
                </a:solidFill>
              </a:rPr>
              <a:t> que existe una amplia mayoría de usuarios de XP.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SCRUM</a:t>
            </a:r>
            <a:endParaRPr lang="en-US" dirty="0"/>
          </a:p>
        </p:txBody>
      </p:sp>
      <p:sp>
        <p:nvSpPr>
          <p:cNvPr id="32" name="31 CuadroTexto"/>
          <p:cNvSpPr txBox="1"/>
          <p:nvPr/>
        </p:nvSpPr>
        <p:spPr>
          <a:xfrm>
            <a:off x="443308" y="1872517"/>
            <a:ext cx="10903566" cy="2585323"/>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La metodología SCRUM es la más utilizada por los equipos que apuestan por las metodologías </a:t>
            </a:r>
            <a:r>
              <a:rPr lang="es-ES" altLang="es-ES" dirty="0" smtClean="0">
                <a:solidFill>
                  <a:srgbClr val="002060"/>
                </a:solidFill>
              </a:rPr>
              <a:t>ágiles</a:t>
            </a:r>
          </a:p>
          <a:p>
            <a:pPr marL="273050" indent="-273050">
              <a:lnSpc>
                <a:spcPct val="150000"/>
              </a:lnSpc>
              <a:buFont typeface="Wingdings" pitchFamily="2" charset="2"/>
              <a:buChar char="q"/>
            </a:pPr>
            <a:r>
              <a:rPr lang="es-ES" altLang="es-ES" dirty="0" err="1" smtClean="0">
                <a:solidFill>
                  <a:srgbClr val="002060"/>
                </a:solidFill>
              </a:rPr>
              <a:t>Scrum</a:t>
            </a:r>
            <a:r>
              <a:rPr lang="es-ES" altLang="es-ES" dirty="0" smtClean="0">
                <a:solidFill>
                  <a:srgbClr val="002060"/>
                </a:solidFill>
              </a:rPr>
              <a:t> es una manera de trabajar en equipo donde el resultado se produce de forma incremental, este resultado es un </a:t>
            </a:r>
            <a:r>
              <a:rPr lang="es-ES" altLang="es-ES" dirty="0" smtClean="0">
                <a:solidFill>
                  <a:srgbClr val="002060"/>
                </a:solidFill>
              </a:rPr>
              <a:t>entregable</a:t>
            </a:r>
          </a:p>
          <a:p>
            <a:pPr marL="273050" indent="-273050">
              <a:lnSpc>
                <a:spcPct val="150000"/>
              </a:lnSpc>
              <a:buFont typeface="Wingdings" pitchFamily="2" charset="2"/>
              <a:buChar char="q"/>
            </a:pPr>
            <a:r>
              <a:rPr lang="es-ES" altLang="es-ES" dirty="0" smtClean="0">
                <a:solidFill>
                  <a:srgbClr val="002060"/>
                </a:solidFill>
              </a:rPr>
              <a:t>Se establecen periodos cortos de trabajo en los que se sigue un mismo patrón, estos periodos se denominan </a:t>
            </a:r>
            <a:r>
              <a:rPr lang="es-ES" altLang="es-ES" dirty="0" err="1" smtClean="0">
                <a:solidFill>
                  <a:srgbClr val="002060"/>
                </a:solidFill>
              </a:rPr>
              <a:t>sprints</a:t>
            </a:r>
            <a:r>
              <a:rPr lang="es-ES" altLang="es-ES" dirty="0" smtClean="0">
                <a:solidFill>
                  <a:srgbClr val="002060"/>
                </a:solidFill>
              </a:rPr>
              <a:t> y son la base del método</a:t>
            </a:r>
            <a:endParaRPr lang="es-ES" altLang="es-ES" dirty="0" smtClean="0">
              <a:solidFill>
                <a:srgbClr val="002060"/>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SCRUM - ACTIVIDADES</a:t>
            </a:r>
            <a:endParaRPr lang="en-US" dirty="0"/>
          </a:p>
        </p:txBody>
      </p:sp>
      <p:sp>
        <p:nvSpPr>
          <p:cNvPr id="32" name="31 CuadroTexto"/>
          <p:cNvSpPr txBox="1"/>
          <p:nvPr/>
        </p:nvSpPr>
        <p:spPr>
          <a:xfrm>
            <a:off x="443308" y="1872517"/>
            <a:ext cx="10903566" cy="2169825"/>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Sprint</a:t>
            </a:r>
          </a:p>
          <a:p>
            <a:pPr marL="273050" indent="-273050">
              <a:lnSpc>
                <a:spcPct val="150000"/>
              </a:lnSpc>
              <a:buFont typeface="Wingdings" pitchFamily="2" charset="2"/>
              <a:buChar char="q"/>
            </a:pPr>
            <a:r>
              <a:rPr lang="es-ES" altLang="es-ES" dirty="0" smtClean="0">
                <a:solidFill>
                  <a:srgbClr val="002060"/>
                </a:solidFill>
              </a:rPr>
              <a:t>Sprint </a:t>
            </a:r>
            <a:r>
              <a:rPr lang="es-ES" altLang="es-ES" dirty="0" err="1" smtClean="0">
                <a:solidFill>
                  <a:srgbClr val="002060"/>
                </a:solidFill>
              </a:rPr>
              <a:t>planing</a:t>
            </a:r>
            <a:endParaRPr lang="es-ES" altLang="es-ES" dirty="0" smtClean="0">
              <a:solidFill>
                <a:srgbClr val="002060"/>
              </a:solidFill>
            </a:endParaRPr>
          </a:p>
          <a:p>
            <a:pPr marL="273050" indent="-273050">
              <a:lnSpc>
                <a:spcPct val="150000"/>
              </a:lnSpc>
              <a:buFont typeface="Wingdings" pitchFamily="2" charset="2"/>
              <a:buChar char="q"/>
            </a:pPr>
            <a:r>
              <a:rPr lang="es-ES" altLang="es-ES" dirty="0" err="1" smtClean="0">
                <a:solidFill>
                  <a:srgbClr val="002060"/>
                </a:solidFill>
              </a:rPr>
              <a:t>Daily</a:t>
            </a:r>
            <a:endParaRPr lang="es-ES" altLang="es-ES" dirty="0" smtClean="0">
              <a:solidFill>
                <a:srgbClr val="002060"/>
              </a:solidFill>
            </a:endParaRPr>
          </a:p>
          <a:p>
            <a:pPr marL="273050" indent="-273050">
              <a:lnSpc>
                <a:spcPct val="150000"/>
              </a:lnSpc>
              <a:buFont typeface="Wingdings" pitchFamily="2" charset="2"/>
              <a:buChar char="q"/>
            </a:pPr>
            <a:r>
              <a:rPr lang="es-ES" altLang="es-ES" dirty="0" smtClean="0">
                <a:solidFill>
                  <a:srgbClr val="002060"/>
                </a:solidFill>
              </a:rPr>
              <a:t>Sprint </a:t>
            </a:r>
            <a:r>
              <a:rPr lang="es-ES" altLang="es-ES" dirty="0" err="1" smtClean="0">
                <a:solidFill>
                  <a:srgbClr val="002060"/>
                </a:solidFill>
              </a:rPr>
              <a:t>Review</a:t>
            </a:r>
            <a:endParaRPr lang="es-ES" altLang="es-ES" dirty="0" smtClean="0">
              <a:solidFill>
                <a:srgbClr val="002060"/>
              </a:solidFill>
            </a:endParaRPr>
          </a:p>
          <a:p>
            <a:pPr marL="273050" indent="-273050">
              <a:lnSpc>
                <a:spcPct val="150000"/>
              </a:lnSpc>
              <a:buFont typeface="Wingdings" pitchFamily="2" charset="2"/>
              <a:buChar char="q"/>
            </a:pPr>
            <a:r>
              <a:rPr lang="es-ES" altLang="es-ES" dirty="0" smtClean="0">
                <a:solidFill>
                  <a:srgbClr val="002060"/>
                </a:solidFill>
              </a:rPr>
              <a:t>Sprint </a:t>
            </a:r>
            <a:r>
              <a:rPr lang="es-ES" altLang="es-ES" dirty="0" err="1" smtClean="0">
                <a:solidFill>
                  <a:srgbClr val="002060"/>
                </a:solidFill>
              </a:rPr>
              <a:t>Retrospective</a:t>
            </a:r>
            <a:endParaRPr lang="es-ES" altLang="es-ES" dirty="0" smtClean="0">
              <a:solidFill>
                <a:srgbClr val="002060"/>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SCRUM - HERRAMIENTAS</a:t>
            </a:r>
            <a:endParaRPr lang="en-US" dirty="0"/>
          </a:p>
        </p:txBody>
      </p:sp>
      <p:sp>
        <p:nvSpPr>
          <p:cNvPr id="32" name="31 CuadroTexto"/>
          <p:cNvSpPr txBox="1"/>
          <p:nvPr/>
        </p:nvSpPr>
        <p:spPr>
          <a:xfrm>
            <a:off x="443308" y="1872517"/>
            <a:ext cx="10903566" cy="1338828"/>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err="1" smtClean="0">
                <a:solidFill>
                  <a:srgbClr val="002060"/>
                </a:solidFill>
              </a:rPr>
              <a:t>Product</a:t>
            </a:r>
            <a:r>
              <a:rPr lang="es-ES" altLang="es-ES" dirty="0" smtClean="0">
                <a:solidFill>
                  <a:srgbClr val="002060"/>
                </a:solidFill>
              </a:rPr>
              <a:t> </a:t>
            </a:r>
            <a:r>
              <a:rPr lang="es-ES" altLang="es-ES" dirty="0" err="1" smtClean="0">
                <a:solidFill>
                  <a:srgbClr val="002060"/>
                </a:solidFill>
              </a:rPr>
              <a:t>Backlog</a:t>
            </a:r>
            <a:endParaRPr lang="es-ES" altLang="es-ES" dirty="0" smtClean="0">
              <a:solidFill>
                <a:srgbClr val="002060"/>
              </a:solidFill>
            </a:endParaRPr>
          </a:p>
          <a:p>
            <a:pPr marL="273050" indent="-273050">
              <a:lnSpc>
                <a:spcPct val="150000"/>
              </a:lnSpc>
              <a:buFont typeface="Wingdings" pitchFamily="2" charset="2"/>
              <a:buChar char="q"/>
            </a:pPr>
            <a:r>
              <a:rPr lang="es-ES" altLang="es-ES" dirty="0" smtClean="0">
                <a:solidFill>
                  <a:srgbClr val="002060"/>
                </a:solidFill>
              </a:rPr>
              <a:t>Sprint </a:t>
            </a:r>
            <a:r>
              <a:rPr lang="es-ES" altLang="es-ES" dirty="0" err="1" smtClean="0">
                <a:solidFill>
                  <a:srgbClr val="002060"/>
                </a:solidFill>
              </a:rPr>
              <a:t>Backlog</a:t>
            </a:r>
            <a:endParaRPr lang="es-ES" altLang="es-ES" dirty="0" smtClean="0">
              <a:solidFill>
                <a:srgbClr val="002060"/>
              </a:solidFill>
            </a:endParaRPr>
          </a:p>
          <a:p>
            <a:pPr marL="273050" indent="-273050">
              <a:lnSpc>
                <a:spcPct val="150000"/>
              </a:lnSpc>
              <a:buFont typeface="Wingdings" pitchFamily="2" charset="2"/>
              <a:buChar char="q"/>
            </a:pPr>
            <a:r>
              <a:rPr lang="es-ES" altLang="es-ES" dirty="0" err="1" smtClean="0">
                <a:solidFill>
                  <a:srgbClr val="002060"/>
                </a:solidFill>
              </a:rPr>
              <a:t>Burn</a:t>
            </a:r>
            <a:r>
              <a:rPr lang="es-ES" altLang="es-ES" dirty="0" smtClean="0">
                <a:solidFill>
                  <a:srgbClr val="002060"/>
                </a:solidFill>
              </a:rPr>
              <a:t> Down</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SCRUM - ROLES</a:t>
            </a:r>
            <a:endParaRPr lang="en-US" dirty="0"/>
          </a:p>
        </p:txBody>
      </p:sp>
      <p:sp>
        <p:nvSpPr>
          <p:cNvPr id="32" name="31 CuadroTexto"/>
          <p:cNvSpPr txBox="1"/>
          <p:nvPr/>
        </p:nvSpPr>
        <p:spPr>
          <a:xfrm>
            <a:off x="443308" y="1872517"/>
            <a:ext cx="10903566" cy="1338828"/>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err="1" smtClean="0">
                <a:solidFill>
                  <a:srgbClr val="002060"/>
                </a:solidFill>
              </a:rPr>
              <a:t>Product</a:t>
            </a:r>
            <a:r>
              <a:rPr lang="es-ES" altLang="es-ES" dirty="0" smtClean="0">
                <a:solidFill>
                  <a:srgbClr val="002060"/>
                </a:solidFill>
              </a:rPr>
              <a:t> </a:t>
            </a:r>
            <a:r>
              <a:rPr lang="es-ES" altLang="es-ES" dirty="0" err="1" smtClean="0">
                <a:solidFill>
                  <a:srgbClr val="002060"/>
                </a:solidFill>
              </a:rPr>
              <a:t>Owner</a:t>
            </a:r>
            <a:endParaRPr lang="es-ES" altLang="es-ES" dirty="0" smtClean="0">
              <a:solidFill>
                <a:srgbClr val="002060"/>
              </a:solidFill>
            </a:endParaRPr>
          </a:p>
          <a:p>
            <a:pPr marL="273050" indent="-273050">
              <a:lnSpc>
                <a:spcPct val="150000"/>
              </a:lnSpc>
              <a:buFont typeface="Wingdings" pitchFamily="2" charset="2"/>
              <a:buChar char="q"/>
            </a:pPr>
            <a:r>
              <a:rPr lang="es-ES" altLang="es-ES" dirty="0" err="1" smtClean="0">
                <a:solidFill>
                  <a:srgbClr val="002060"/>
                </a:solidFill>
              </a:rPr>
              <a:t>Scrum</a:t>
            </a:r>
            <a:r>
              <a:rPr lang="es-ES" altLang="es-ES" dirty="0" smtClean="0">
                <a:solidFill>
                  <a:srgbClr val="002060"/>
                </a:solidFill>
              </a:rPr>
              <a:t> </a:t>
            </a:r>
            <a:r>
              <a:rPr lang="es-ES" altLang="es-ES" dirty="0" err="1" smtClean="0">
                <a:solidFill>
                  <a:srgbClr val="002060"/>
                </a:solidFill>
              </a:rPr>
              <a:t>Master</a:t>
            </a:r>
            <a:endParaRPr lang="es-ES" altLang="es-ES" dirty="0" smtClean="0">
              <a:solidFill>
                <a:srgbClr val="002060"/>
              </a:solidFill>
            </a:endParaRPr>
          </a:p>
          <a:p>
            <a:pPr marL="273050" indent="-273050">
              <a:lnSpc>
                <a:spcPct val="150000"/>
              </a:lnSpc>
              <a:buFont typeface="Wingdings" pitchFamily="2" charset="2"/>
              <a:buChar char="q"/>
            </a:pPr>
            <a:r>
              <a:rPr lang="es-ES" altLang="es-ES" dirty="0" err="1" smtClean="0">
                <a:solidFill>
                  <a:srgbClr val="002060"/>
                </a:solidFill>
              </a:rPr>
              <a:t>Team</a:t>
            </a:r>
            <a:r>
              <a:rPr lang="es-ES" altLang="es-ES" dirty="0" smtClean="0">
                <a:solidFill>
                  <a:srgbClr val="002060"/>
                </a:solidFill>
              </a:rPr>
              <a:t> (equipo de desarrollo)</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dia.licdn.com/dms/image/C4D12AQEidKS_k3ciAw/article-cover_image-shrink_600_2000/0/1574254306206?e=2147483647&amp;v=beta&amp;t=UX3DOpQNgZU0Er2JQlcvBV_3K54x5Ttju3xR9hEoAfk"/>
          <p:cNvPicPr>
            <a:picLocks noChangeAspect="1" noChangeArrowheads="1"/>
          </p:cNvPicPr>
          <p:nvPr/>
        </p:nvPicPr>
        <p:blipFill>
          <a:blip r:embed="rId2"/>
          <a:srcRect/>
          <a:stretch>
            <a:fillRect/>
          </a:stretch>
        </p:blipFill>
        <p:spPr bwMode="auto">
          <a:xfrm>
            <a:off x="1721981" y="1481552"/>
            <a:ext cx="8924815" cy="4819401"/>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Uso actual de SCRUM</a:t>
            </a:r>
            <a:endParaRPr lang="en-US" dirty="0"/>
          </a:p>
        </p:txBody>
      </p:sp>
      <p:sp>
        <p:nvSpPr>
          <p:cNvPr id="32" name="31 CuadroTexto"/>
          <p:cNvSpPr txBox="1"/>
          <p:nvPr/>
        </p:nvSpPr>
        <p:spPr>
          <a:xfrm>
            <a:off x="443308" y="1872517"/>
            <a:ext cx="10903566" cy="1701684"/>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Después de XP, </a:t>
            </a:r>
            <a:r>
              <a:rPr lang="es-ES" altLang="es-ES" dirty="0" err="1" smtClean="0">
                <a:solidFill>
                  <a:srgbClr val="002060"/>
                </a:solidFill>
              </a:rPr>
              <a:t>Scrum</a:t>
            </a:r>
            <a:r>
              <a:rPr lang="es-ES" altLang="es-ES" dirty="0" smtClean="0">
                <a:solidFill>
                  <a:srgbClr val="002060"/>
                </a:solidFill>
              </a:rPr>
              <a:t> es uno de los enfoques ágiles más utilizados, pero aún lejos de XP.</a:t>
            </a:r>
          </a:p>
          <a:p>
            <a:pPr marL="273050" indent="-273050">
              <a:lnSpc>
                <a:spcPct val="150000"/>
              </a:lnSpc>
              <a:buFont typeface="Wingdings" pitchFamily="2" charset="2"/>
              <a:buChar char="q"/>
            </a:pPr>
            <a:r>
              <a:rPr lang="es-ES" altLang="es-ES" dirty="0" smtClean="0">
                <a:solidFill>
                  <a:srgbClr val="002060"/>
                </a:solidFill>
              </a:rPr>
              <a:t>A nivel de investigación, se están realizando esfuerzos para integrar XP y </a:t>
            </a:r>
            <a:r>
              <a:rPr lang="es-ES" altLang="es-ES" dirty="0" err="1" smtClean="0">
                <a:solidFill>
                  <a:srgbClr val="002060"/>
                </a:solidFill>
              </a:rPr>
              <a:t>Scrum</a:t>
            </a:r>
            <a:r>
              <a:rPr lang="es-ES" altLang="es-ES" dirty="0" smtClean="0">
                <a:solidFill>
                  <a:srgbClr val="002060"/>
                </a:solidFill>
              </a:rPr>
              <a:t>, argumentando que </a:t>
            </a:r>
            <a:r>
              <a:rPr lang="es-ES" altLang="es-ES" dirty="0" err="1" smtClean="0">
                <a:solidFill>
                  <a:srgbClr val="002060"/>
                </a:solidFill>
              </a:rPr>
              <a:t>Scrum</a:t>
            </a:r>
            <a:r>
              <a:rPr lang="es-ES" altLang="es-ES" dirty="0" smtClean="0">
                <a:solidFill>
                  <a:srgbClr val="002060"/>
                </a:solidFill>
              </a:rPr>
              <a:t> provee un marco de gestión del proyecto sobre las prácticas bien definidas de XP.</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Ventajas de las </a:t>
            </a:r>
            <a:r>
              <a:rPr lang="es-ES" dirty="0" err="1" smtClean="0"/>
              <a:t>MAs</a:t>
            </a:r>
            <a:endParaRPr lang="en-US" dirty="0"/>
          </a:p>
        </p:txBody>
      </p:sp>
      <p:sp>
        <p:nvSpPr>
          <p:cNvPr id="32" name="31 CuadroTexto"/>
          <p:cNvSpPr txBox="1"/>
          <p:nvPr/>
        </p:nvSpPr>
        <p:spPr>
          <a:xfrm>
            <a:off x="443308" y="1872517"/>
            <a:ext cx="10903566" cy="2117183"/>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Iteraciones en ciclos cortos que permiten correcciones y verificaciones más rápidamente.</a:t>
            </a:r>
          </a:p>
          <a:p>
            <a:pPr marL="273050" indent="-273050">
              <a:lnSpc>
                <a:spcPct val="150000"/>
              </a:lnSpc>
              <a:buFont typeface="Wingdings" pitchFamily="2" charset="2"/>
              <a:buChar char="q"/>
            </a:pPr>
            <a:r>
              <a:rPr lang="es-ES" altLang="es-ES" dirty="0" smtClean="0">
                <a:solidFill>
                  <a:srgbClr val="002060"/>
                </a:solidFill>
              </a:rPr>
              <a:t>Límites de tiempo para cada ciclo de dos a ocho semanas.</a:t>
            </a:r>
          </a:p>
          <a:p>
            <a:pPr marL="273050" indent="-273050">
              <a:lnSpc>
                <a:spcPct val="150000"/>
              </a:lnSpc>
              <a:buFont typeface="Wingdings" pitchFamily="2" charset="2"/>
              <a:buChar char="q"/>
            </a:pPr>
            <a:r>
              <a:rPr lang="es-ES" altLang="es-ES" dirty="0" smtClean="0">
                <a:solidFill>
                  <a:srgbClr val="002060"/>
                </a:solidFill>
              </a:rPr>
              <a:t>Adaptable al surgimiento de nuevos riesgos.</a:t>
            </a:r>
          </a:p>
          <a:p>
            <a:pPr marL="273050" indent="-273050">
              <a:lnSpc>
                <a:spcPct val="150000"/>
              </a:lnSpc>
              <a:buFont typeface="Wingdings" pitchFamily="2" charset="2"/>
              <a:buChar char="q"/>
            </a:pPr>
            <a:r>
              <a:rPr lang="es-ES" altLang="es-ES" dirty="0" smtClean="0">
                <a:solidFill>
                  <a:srgbClr val="002060"/>
                </a:solidFill>
              </a:rPr>
              <a:t>Orientación hacia las personas.</a:t>
            </a:r>
          </a:p>
          <a:p>
            <a:pPr marL="273050" indent="-273050">
              <a:lnSpc>
                <a:spcPct val="150000"/>
              </a:lnSpc>
              <a:buFont typeface="Wingdings" pitchFamily="2" charset="2"/>
              <a:buChar char="q"/>
            </a:pPr>
            <a:r>
              <a:rPr lang="es-ES" altLang="es-ES" dirty="0" smtClean="0">
                <a:solidFill>
                  <a:srgbClr val="002060"/>
                </a:solidFill>
              </a:rPr>
              <a:t>Estilo de trabajo en equipo.</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Desventajas de las </a:t>
            </a:r>
            <a:r>
              <a:rPr lang="es-ES" dirty="0" err="1" smtClean="0"/>
              <a:t>MAs</a:t>
            </a:r>
            <a:endParaRPr lang="en-US" dirty="0"/>
          </a:p>
        </p:txBody>
      </p:sp>
      <p:sp>
        <p:nvSpPr>
          <p:cNvPr id="32" name="31 CuadroTexto"/>
          <p:cNvSpPr txBox="1"/>
          <p:nvPr/>
        </p:nvSpPr>
        <p:spPr>
          <a:xfrm>
            <a:off x="443308" y="1872517"/>
            <a:ext cx="10903566" cy="2948179"/>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Su filosofía de poder adaptarse al cambio en vez de seguir estrictamente un plan, puede llevar al caos en el proceso de desarrollo.</a:t>
            </a:r>
          </a:p>
          <a:p>
            <a:pPr marL="273050" indent="-273050">
              <a:lnSpc>
                <a:spcPct val="150000"/>
              </a:lnSpc>
              <a:buFont typeface="Wingdings" pitchFamily="2" charset="2"/>
              <a:buChar char="q"/>
            </a:pPr>
            <a:r>
              <a:rPr lang="es-ES" altLang="es-ES" dirty="0" smtClean="0">
                <a:solidFill>
                  <a:srgbClr val="002060"/>
                </a:solidFill>
              </a:rPr>
              <a:t>Difícil de mantener el interés de los clientes que participan en el proceso de desarrollo.</a:t>
            </a:r>
          </a:p>
          <a:p>
            <a:pPr marL="273050" indent="-273050">
              <a:lnSpc>
                <a:spcPct val="150000"/>
              </a:lnSpc>
              <a:buFont typeface="Wingdings" pitchFamily="2" charset="2"/>
              <a:buChar char="q"/>
            </a:pPr>
            <a:r>
              <a:rPr lang="es-ES" altLang="es-ES" dirty="0" smtClean="0">
                <a:solidFill>
                  <a:srgbClr val="002060"/>
                </a:solidFill>
              </a:rPr>
              <a:t>Definir las prioridades de los cambios pueden ser difíciles de establecer cuando existen múltiples personas o empresas involucradas en el proyecto.</a:t>
            </a:r>
          </a:p>
          <a:p>
            <a:pPr marL="273050" indent="-273050">
              <a:lnSpc>
                <a:spcPct val="150000"/>
              </a:lnSpc>
              <a:buFont typeface="Wingdings" pitchFamily="2" charset="2"/>
              <a:buChar char="q"/>
            </a:pPr>
            <a:r>
              <a:rPr lang="es-ES" altLang="es-ES" dirty="0" smtClean="0">
                <a:solidFill>
                  <a:srgbClr val="002060"/>
                </a:solidFill>
              </a:rPr>
              <a:t>El hecho de mantener la simplicidad significa un trabajo extra.</a:t>
            </a:r>
          </a:p>
          <a:p>
            <a:pPr marL="273050" indent="-273050">
              <a:lnSpc>
                <a:spcPct val="150000"/>
              </a:lnSpc>
              <a:buFont typeface="Wingdings" pitchFamily="2" charset="2"/>
              <a:buChar char="q"/>
            </a:pPr>
            <a:r>
              <a:rPr lang="es-ES" altLang="es-ES" dirty="0" smtClean="0">
                <a:solidFill>
                  <a:srgbClr val="002060"/>
                </a:solidFill>
              </a:rPr>
              <a:t>La definición de los contratos puede ser un problema.</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CL" dirty="0" smtClean="0"/>
              <a:t>Métodos Ágiles</a:t>
            </a:r>
            <a:endParaRPr lang="en-US" dirty="0"/>
          </a:p>
        </p:txBody>
      </p:sp>
      <p:graphicFrame>
        <p:nvGraphicFramePr>
          <p:cNvPr id="6" name="Group 3"/>
          <p:cNvGraphicFramePr>
            <a:graphicFrameLocks noGrp="1"/>
          </p:cNvGraphicFramePr>
          <p:nvPr/>
        </p:nvGraphicFramePr>
        <p:xfrm>
          <a:off x="1508167" y="1848988"/>
          <a:ext cx="8645236" cy="4709160"/>
        </p:xfrm>
        <a:graphic>
          <a:graphicData uri="http://schemas.openxmlformats.org/drawingml/2006/table">
            <a:tbl>
              <a:tblPr/>
              <a:tblGrid>
                <a:gridCol w="4322619"/>
                <a:gridCol w="4322617"/>
              </a:tblGrid>
              <a:tr h="31495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sz="1500" b="1" i="0" u="none" strike="noStrike" cap="none" normalizeH="0" baseline="0" dirty="0" smtClean="0">
                          <a:ln>
                            <a:noFill/>
                          </a:ln>
                          <a:solidFill>
                            <a:schemeClr val="bg1"/>
                          </a:solidFill>
                          <a:effectLst/>
                          <a:latin typeface="+mn-lt"/>
                          <a:ea typeface="Times New Roman" pitchFamily="18" charset="0"/>
                          <a:cs typeface="Arial" charset="0"/>
                        </a:rPr>
                        <a:t>Metodologías  Ágiles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_tradnl" sz="1500" b="1" i="0" u="none" strike="noStrike" cap="none" normalizeH="0" baseline="0" smtClean="0">
                          <a:ln>
                            <a:noFill/>
                          </a:ln>
                          <a:solidFill>
                            <a:schemeClr val="bg1"/>
                          </a:solidFill>
                          <a:effectLst/>
                          <a:latin typeface="+mn-lt"/>
                          <a:ea typeface="Times New Roman" pitchFamily="18" charset="0"/>
                          <a:cs typeface="Arial" charset="0"/>
                        </a:rPr>
                        <a:t>Metodologías Tradicionales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64892">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dirty="0" smtClean="0">
                          <a:ln>
                            <a:noFill/>
                          </a:ln>
                          <a:solidFill>
                            <a:schemeClr val="bg1"/>
                          </a:solidFill>
                          <a:effectLst/>
                          <a:latin typeface="+mn-lt"/>
                          <a:ea typeface="Times New Roman" pitchFamily="18" charset="0"/>
                          <a:cs typeface="Arial" charset="0"/>
                        </a:rPr>
                        <a:t>Basadas en heurísticas provenientes  de producción de código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Basadas en normas provenientes de estándares seguidos por el entorno de desarrollo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9924">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Especialmente preparados para cambios durante el proyecto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Cierta resistencia a los cambios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495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Impuestas internamente (por el equipo)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Impuestas externamente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9924">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Proceso menos controlado, con pocos principios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Proceso mucho más controlado, con numerosas normas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9924">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Generalmente no existe un contrato tradicional, o al menos es bastante flexible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Existe un contrato prefijado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9924">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El cliente es parte del equipo de desarrollo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El cliente interactúa con el equipo de desarrollo mediante reuniones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9924">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Grupos pequeños (&lt; 10 integrantes) y trabajando en el mismo sitio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Grupos grandes y posiblemente distribuidos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9924">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smtClean="0">
                          <a:ln>
                            <a:noFill/>
                          </a:ln>
                          <a:solidFill>
                            <a:schemeClr val="bg1"/>
                          </a:solidFill>
                          <a:effectLst/>
                          <a:latin typeface="+mn-lt"/>
                          <a:ea typeface="Times New Roman" pitchFamily="18" charset="0"/>
                          <a:cs typeface="Arial" charset="0"/>
                        </a:rPr>
                        <a:t>Menos énfasis  en la arquitectura del software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ES_tradnl" sz="1500" b="0" i="0" u="none" strike="noStrike" cap="none" normalizeH="0" baseline="0" dirty="0" smtClean="0">
                          <a:ln>
                            <a:noFill/>
                          </a:ln>
                          <a:solidFill>
                            <a:schemeClr val="bg1"/>
                          </a:solidFill>
                          <a:effectLst/>
                          <a:latin typeface="+mn-lt"/>
                          <a:ea typeface="Times New Roman" pitchFamily="18" charset="0"/>
                          <a:cs typeface="Arial" charset="0"/>
                        </a:rPr>
                        <a:t>La arquitectura del software es esencial y se expresa mediante modelos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4"/>
          <p:cNvSpPr>
            <a:spLocks noGrp="1"/>
          </p:cNvSpPr>
          <p:nvPr>
            <p:ph type="subTitle" idx="1"/>
          </p:nvPr>
        </p:nvSpPr>
        <p:spPr>
          <a:xfrm>
            <a:off x="323982" y="1296539"/>
            <a:ext cx="6400800" cy="767679"/>
          </a:xfrm>
        </p:spPr>
        <p:txBody>
          <a:bodyPr>
            <a:normAutofit/>
          </a:bodyPr>
          <a:lstStyle/>
          <a:p>
            <a:r>
              <a:rPr lang="es-ES" dirty="0" smtClean="0"/>
              <a:t>Conclusiones</a:t>
            </a:r>
            <a:endParaRPr lang="en-US" dirty="0"/>
          </a:p>
        </p:txBody>
      </p:sp>
      <p:sp>
        <p:nvSpPr>
          <p:cNvPr id="32" name="31 CuadroTexto"/>
          <p:cNvSpPr txBox="1"/>
          <p:nvPr/>
        </p:nvSpPr>
        <p:spPr>
          <a:xfrm>
            <a:off x="443308" y="1872517"/>
            <a:ext cx="10903566" cy="2117183"/>
          </a:xfrm>
          <a:prstGeom prst="rect">
            <a:avLst/>
          </a:prstGeom>
          <a:noFill/>
        </p:spPr>
        <p:txBody>
          <a:bodyPr wrap="square" rtlCol="0">
            <a:spAutoFit/>
          </a:bodyPr>
          <a:lstStyle/>
          <a:p>
            <a:pPr marL="273050" indent="-273050">
              <a:lnSpc>
                <a:spcPct val="150000"/>
              </a:lnSpc>
              <a:buFont typeface="Wingdings" pitchFamily="2" charset="2"/>
              <a:buChar char="q"/>
            </a:pPr>
            <a:r>
              <a:rPr lang="es-ES" altLang="es-ES" dirty="0" smtClean="0">
                <a:solidFill>
                  <a:srgbClr val="002060"/>
                </a:solidFill>
              </a:rPr>
              <a:t>Las ventajas de las </a:t>
            </a:r>
            <a:r>
              <a:rPr lang="es-ES" altLang="es-ES" dirty="0" err="1" smtClean="0">
                <a:solidFill>
                  <a:srgbClr val="002060"/>
                </a:solidFill>
              </a:rPr>
              <a:t>MAs</a:t>
            </a:r>
            <a:r>
              <a:rPr lang="es-ES" altLang="es-ES" dirty="0" smtClean="0">
                <a:solidFill>
                  <a:srgbClr val="002060"/>
                </a:solidFill>
              </a:rPr>
              <a:t> proveen un marco de trabajo aplicable a entornos de desarrollo de software que no tienen definidos sus procesos (o lo tienen vagamente), en el área de desarrollo mismo como en el área de aseguramiento de la calidad del producto.</a:t>
            </a:r>
          </a:p>
          <a:p>
            <a:pPr marL="273050" indent="-273050">
              <a:lnSpc>
                <a:spcPct val="150000"/>
              </a:lnSpc>
              <a:buFont typeface="Wingdings" pitchFamily="2" charset="2"/>
              <a:buChar char="q"/>
            </a:pPr>
            <a:r>
              <a:rPr lang="es-ES" altLang="es-ES" dirty="0" smtClean="0">
                <a:solidFill>
                  <a:srgbClr val="002060"/>
                </a:solidFill>
              </a:rPr>
              <a:t>Como las </a:t>
            </a:r>
            <a:r>
              <a:rPr lang="es-ES" altLang="es-ES" dirty="0" err="1" smtClean="0">
                <a:solidFill>
                  <a:srgbClr val="002060"/>
                </a:solidFill>
              </a:rPr>
              <a:t>MAs</a:t>
            </a:r>
            <a:r>
              <a:rPr lang="es-ES" altLang="es-ES" dirty="0" smtClean="0">
                <a:solidFill>
                  <a:srgbClr val="002060"/>
                </a:solidFill>
              </a:rPr>
              <a:t> se ajustan a sistemas de pequeño y mediano porte, o productos PC, las mismas se adecuan al tipo de proyectos que se desarrollan habitualmente en la región.</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dirty="0" smtClean="0"/>
              <a:t>Muchas gracias</a:t>
            </a:r>
            <a:endParaRPr lang="es-E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isenho_fpuna">
  <a:themeElements>
    <a:clrScheme name="Escala de grise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ector">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o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 xmlns:thm15="http://schemas.microsoft.com/office/thememl/2012/main" name="Slice" id="{0507925B-6AC9-4358-8E18-C330545D08F8}" vid="{13FEC7C6-62A9-40C4-99D2-581AACACAA2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disenho_fpuna</Template>
  <TotalTime>5750</TotalTime>
  <Words>2331</Words>
  <Application>Microsoft Office PowerPoint</Application>
  <PresentationFormat>Personalizado</PresentationFormat>
  <Paragraphs>316</Paragraphs>
  <Slides>48</Slides>
  <Notes>0</Notes>
  <HiddenSlides>1</HiddenSlides>
  <MMClips>0</MMClips>
  <ScaleCrop>false</ScaleCrop>
  <HeadingPairs>
    <vt:vector size="4" baseType="variant">
      <vt:variant>
        <vt:lpstr>Tema</vt:lpstr>
      </vt:variant>
      <vt:variant>
        <vt:i4>1</vt:i4>
      </vt:variant>
      <vt:variant>
        <vt:lpstr>Títulos de diapositiva</vt:lpstr>
      </vt:variant>
      <vt:variant>
        <vt:i4>48</vt:i4>
      </vt:variant>
    </vt:vector>
  </HeadingPairs>
  <TitlesOfParts>
    <vt:vector size="49" baseType="lpstr">
      <vt:lpstr>disenho_fpuna</vt:lpstr>
      <vt:lpstr>INGENIERÍA DE SOFTWARE I</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lpstr>Diapositiva 44</vt:lpstr>
      <vt:lpstr>Diapositiva 45</vt:lpstr>
      <vt:lpstr>Diapositiva 46</vt:lpstr>
      <vt:lpstr>Diapositiva 47</vt:lpstr>
      <vt:lpstr>Muchas gracias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INGENIERÍA DE SOFTWARE III</dc:title>
  <dc:creator>Julia Talavera</dc:creator>
  <cp:lastModifiedBy>JULIA TALAVERA</cp:lastModifiedBy>
  <cp:revision>37</cp:revision>
  <dcterms:created xsi:type="dcterms:W3CDTF">2020-05-30T00:54:25Z</dcterms:created>
  <dcterms:modified xsi:type="dcterms:W3CDTF">2024-02-24T18:44:23Z</dcterms:modified>
</cp:coreProperties>
</file>